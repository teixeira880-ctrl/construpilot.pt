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2" name="Rectangle 1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6858000"/>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Oval 2"/>
          <p:cNvSpPr/>
          <p:nvPr/>
        </p:nvSpPr>
        <p:spPr>
          <a:xfrm>
            <a:off x="7985455" y="-1371600"/>
            <a:ext cx="5486400" cy="5486400"/>
          </a:xfrm>
          <a:prstGeom prst="ellipse">
            <a:avLst/>
          </a:prstGeom>
          <a:solidFill>
            <a:srgbClr val="243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Rectangle 3"/>
          <p:cNvSpPr/>
          <p:nvPr/>
        </p:nvSpPr>
        <p:spPr>
          <a:xfrm>
            <a:off x="0" y="3703320"/>
            <a:ext cx="12191695" cy="45720"/>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3" name="Rectangle 12"/>
          <p:cNvSpPr/>
          <p:nvPr/>
        </p:nvSpPr>
        <p:spPr>
          <a:xfrm>
            <a:off x="0" y="0"/>
            <a:ext cx="4251960" cy="6858000"/>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0"/>
            <a:ext cx="100584" cy="6858000"/>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jpg"/>
          <p:cNvPicPr>
            <a:picLocks noChangeAspect="1"/>
          </p:cNvPicPr>
          <p:nvPr/>
        </p:nvPicPr>
        <p:blipFill>
          <a:blip r:embed="rId2"/>
          <a:stretch>
            <a:fillRect/>
          </a:stretch>
        </p:blipFill>
        <p:spPr>
          <a:xfrm>
            <a:off x="594360" y="530352"/>
            <a:ext cx="2240280" cy="1502973"/>
          </a:xfrm>
          <a:prstGeom prst="rect">
            <a:avLst/>
          </a:prstGeom>
        </p:spPr>
      </p:pic>
      <p:sp>
        <p:nvSpPr>
          <p:cNvPr id="16" name="TextBox 15"/>
          <p:cNvSpPr txBox="1"/>
          <p:nvPr/>
        </p:nvSpPr>
        <p:spPr>
          <a:xfrm>
            <a:off x="4709160" y="960120"/>
            <a:ext cx="6217920" cy="411480"/>
          </a:xfrm>
          <a:prstGeom prst="rect">
            <a:avLst/>
          </a:prstGeom>
          <a:noFill/>
        </p:spPr>
        <p:txBody>
          <a:bodyPr wrap="square">
            <a:spAutoFit/>
          </a:bodyPr>
          <a:lstStyle/>
          <a:p>
            <a:pPr algn="l"/>
            <a:r>
              <a:rPr sz="1600" b="1">
                <a:solidFill>
                  <a:srgbClr val="FFFFFF"/>
                </a:solidFill>
                <a:latin typeface="Aptos"/>
              </a:rPr>
              <a:t>ConstruPilot</a:t>
            </a:r>
          </a:p>
        </p:txBody>
      </p:sp>
      <p:sp>
        <p:nvSpPr>
          <p:cNvPr id="17" name="TextBox 16"/>
          <p:cNvSpPr txBox="1"/>
          <p:nvPr/>
        </p:nvSpPr>
        <p:spPr>
          <a:xfrm>
            <a:off x="4681728" y="1463040"/>
            <a:ext cx="6309360" cy="1188720"/>
          </a:xfrm>
          <a:prstGeom prst="rect">
            <a:avLst/>
          </a:prstGeom>
          <a:noFill/>
        </p:spPr>
        <p:txBody>
          <a:bodyPr wrap="square">
            <a:spAutoFit/>
          </a:bodyPr>
          <a:lstStyle/>
          <a:p>
            <a:pPr algn="l"/>
            <a:r>
              <a:rPr sz="3400" b="1">
                <a:solidFill>
                  <a:srgbClr val="FFFFFF"/>
                </a:solidFill>
                <a:latin typeface="Aptos"/>
              </a:rPr>
              <a:t>Estimez. Comparez.
Construisez.</a:t>
            </a:r>
          </a:p>
        </p:txBody>
      </p:sp>
      <p:sp>
        <p:nvSpPr>
          <p:cNvPr id="18" name="TextBox 17"/>
          <p:cNvSpPr txBox="1"/>
          <p:nvPr/>
        </p:nvSpPr>
        <p:spPr>
          <a:xfrm>
            <a:off x="4709160" y="2880360"/>
            <a:ext cx="5852160" cy="365760"/>
          </a:xfrm>
          <a:prstGeom prst="rect">
            <a:avLst/>
          </a:prstGeom>
          <a:noFill/>
        </p:spPr>
        <p:txBody>
          <a:bodyPr wrap="square">
            <a:spAutoFit/>
          </a:bodyPr>
          <a:lstStyle/>
          <a:p>
            <a:pPr algn="l"/>
            <a:r>
              <a:rPr sz="1600" b="1">
                <a:solidFill>
                  <a:srgbClr val="FFFFFF"/>
                </a:solidFill>
                <a:latin typeface="Aptos"/>
              </a:rPr>
              <a:t>La plateforme SaaS BTP tout-en-un</a:t>
            </a:r>
          </a:p>
        </p:txBody>
      </p:sp>
      <p:sp>
        <p:nvSpPr>
          <p:cNvPr id="19" name="TextBox 18"/>
          <p:cNvSpPr txBox="1"/>
          <p:nvPr/>
        </p:nvSpPr>
        <p:spPr>
          <a:xfrm>
            <a:off x="4709160" y="3429000"/>
            <a:ext cx="6035040" cy="594360"/>
          </a:xfrm>
          <a:prstGeom prst="rect">
            <a:avLst/>
          </a:prstGeom>
          <a:noFill/>
        </p:spPr>
        <p:txBody>
          <a:bodyPr wrap="square">
            <a:spAutoFit/>
          </a:bodyPr>
          <a:lstStyle/>
          <a:p>
            <a:pPr algn="l"/>
            <a:r>
              <a:rPr sz="1300" b="0">
                <a:solidFill>
                  <a:srgbClr val="FFFFFF"/>
                </a:solidFill>
                <a:latin typeface="Aptos"/>
              </a:rPr>
              <a:t>IA · plans &amp; métrés · devis · marges · achats · prospection · chantier</a:t>
            </a:r>
          </a:p>
        </p:txBody>
      </p:sp>
      <p:sp>
        <p:nvSpPr>
          <p:cNvPr id="20" name="Rectangle 19"/>
          <p:cNvSpPr/>
          <p:nvPr/>
        </p:nvSpPr>
        <p:spPr>
          <a:xfrm>
            <a:off x="4709160" y="4343400"/>
            <a:ext cx="1965960" cy="420624"/>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09160" y="4471416"/>
            <a:ext cx="1965960" cy="146304"/>
          </a:xfrm>
          <a:prstGeom prst="rect">
            <a:avLst/>
          </a:prstGeom>
          <a:noFill/>
        </p:spPr>
        <p:txBody>
          <a:bodyPr wrap="square">
            <a:spAutoFit/>
          </a:bodyPr>
          <a:lstStyle/>
          <a:p>
            <a:pPr algn="ctr"/>
            <a:r>
              <a:rPr sz="900" b="1">
                <a:solidFill>
                  <a:srgbClr val="FFFFFF"/>
                </a:solidFill>
                <a:latin typeface="Aptos"/>
              </a:rPr>
              <a:t>FRANCE</a:t>
            </a:r>
          </a:p>
        </p:txBody>
      </p:sp>
      <p:sp>
        <p:nvSpPr>
          <p:cNvPr id="22" name="Rectangle 21"/>
          <p:cNvSpPr/>
          <p:nvPr/>
        </p:nvSpPr>
        <p:spPr>
          <a:xfrm>
            <a:off x="6784848" y="4343400"/>
            <a:ext cx="1965960" cy="420624"/>
          </a:xfrm>
          <a:prstGeom prst="rect">
            <a:avLst/>
          </a:prstGeom>
          <a:solidFill>
            <a:srgbClr val="E8F7EF"/>
          </a:solidFill>
          <a:ln w="10160">
            <a:solidFill>
              <a:srgbClr val="19A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84848" y="4471416"/>
            <a:ext cx="1965960" cy="146304"/>
          </a:xfrm>
          <a:prstGeom prst="rect">
            <a:avLst/>
          </a:prstGeom>
          <a:noFill/>
        </p:spPr>
        <p:txBody>
          <a:bodyPr wrap="square">
            <a:spAutoFit/>
          </a:bodyPr>
          <a:lstStyle/>
          <a:p>
            <a:pPr algn="ctr"/>
            <a:r>
              <a:rPr sz="900" b="1">
                <a:solidFill>
                  <a:srgbClr val="FFFFFF"/>
                </a:solidFill>
                <a:latin typeface="Aptos"/>
              </a:rPr>
              <a:t>PORTUGAL</a:t>
            </a:r>
          </a:p>
        </p:txBody>
      </p:sp>
      <p:sp>
        <p:nvSpPr>
          <p:cNvPr id="24" name="TextBox 23"/>
          <p:cNvSpPr txBox="1"/>
          <p:nvPr/>
        </p:nvSpPr>
        <p:spPr>
          <a:xfrm>
            <a:off x="4709160" y="5897880"/>
            <a:ext cx="2743200" cy="201168"/>
          </a:xfrm>
          <a:prstGeom prst="rect">
            <a:avLst/>
          </a:prstGeom>
          <a:noFill/>
        </p:spPr>
        <p:txBody>
          <a:bodyPr wrap="square">
            <a:spAutoFit/>
          </a:bodyPr>
          <a:lstStyle/>
          <a:p>
            <a:pPr algn="l"/>
            <a:r>
              <a:rPr sz="900" b="0">
                <a:solidFill>
                  <a:srgbClr val="FFFFFF"/>
                </a:solidFill>
                <a:latin typeface="Aptos"/>
              </a:rPr>
              <a:t>Brochure produit · 2026</a:t>
            </a:r>
          </a:p>
        </p:txBody>
      </p:sp>
      <p:sp>
        <p:nvSpPr>
          <p:cNvPr id="25" name="TextBox 24"/>
          <p:cNvSpPr txBox="1"/>
          <p:nvPr/>
        </p:nvSpPr>
        <p:spPr>
          <a:xfrm>
            <a:off x="8321040" y="5897880"/>
            <a:ext cx="3017520" cy="201168"/>
          </a:xfrm>
          <a:prstGeom prst="rect">
            <a:avLst/>
          </a:prstGeom>
          <a:noFill/>
        </p:spPr>
        <p:txBody>
          <a:bodyPr wrap="square">
            <a:spAutoFit/>
          </a:bodyPr>
          <a:lstStyle/>
          <a:p>
            <a:pPr algn="r"/>
            <a:r>
              <a:rPr sz="900" b="1">
                <a:solidFill>
                  <a:srgbClr val="FFFFFF"/>
                </a:solidFill>
                <a:latin typeface="Aptos"/>
              </a:rPr>
              <a:t>construpilot.fr  ·  construpilot.pt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35" name="Rectangle 34"/>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PRÉSENTATION</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r>
              <a:rPr sz="2300" b="1" i="0">
                <a:solidFill>
                  <a:srgbClr val="192A32"/>
                </a:solidFill>
                <a:latin typeface="Aptos"/>
              </a:rPr>
              <a:t>Pourquoi ConstruPilot ?</a:t>
            </a: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TextBox 7"/>
          <p:cNvSpPr txBox="1"/>
          <p:nvPr/>
        </p:nvSpPr>
        <p:spPr>
          <a:xfrm>
            <a:off x="457200" y="1280160"/>
            <a:ext cx="11247120" cy="1371600"/>
          </a:xfrm>
          <a:prstGeom prst="rect">
            <a:avLst/>
          </a:prstGeom>
          <a:noFill/>
        </p:spPr>
        <p:txBody>
          <a:bodyPr wrap="square" lIns="45720" tIns="18288" rIns="45720" bIns="18288" anchor="t">
            <a:spAutoFit/>
          </a:bodyPr>
          <a:lstStyle/>
          <a:p>
            <a:pPr algn="l">
              <a:spcAft>
                <a:spcPts val="300"/>
              </a:spcAft>
            </a:pPr>
            <a:r>
              <a:rPr sz="1400" b="0" i="0">
                <a:solidFill>
                  <a:srgbClr val="192A32"/>
                </a:solidFill>
                <a:latin typeface="Aptos"/>
              </a:rPr>
              <a:t>ConstruPilot est la plateforme SaaS BTP tout-en-un : estimation de travaux par IA, lecture de plans DWG/DXF/PDF, devis &amp; factures avec marges, approvisionnement, prospection de chantiers, blog SEO et bien plus. Une seule application pour les particuliers qui préparent leurs travaux et pour les artisans, PME et bureaux d'études qui chiffrent, vendent et pilotent leurs chantiers.</a:t>
            </a:r>
          </a:p>
        </p:txBody>
      </p:sp>
      <p:sp>
        <p:nvSpPr>
          <p:cNvPr id="9" name="Rounded Rectangle 8"/>
          <p:cNvSpPr/>
          <p:nvPr/>
        </p:nvSpPr>
        <p:spPr>
          <a:xfrm>
            <a:off x="457200"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0" name="Rectangle 9"/>
          <p:cNvSpPr/>
          <p:nvPr/>
        </p:nvSpPr>
        <p:spPr>
          <a:xfrm>
            <a:off x="457200"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1" name="TextBox 10"/>
          <p:cNvSpPr txBox="1"/>
          <p:nvPr/>
        </p:nvSpPr>
        <p:spPr>
          <a:xfrm>
            <a:off x="594360" y="3200400"/>
            <a:ext cx="1901952" cy="457200"/>
          </a:xfrm>
          <a:prstGeom prst="rect">
            <a:avLst/>
          </a:prstGeom>
          <a:noFill/>
        </p:spPr>
        <p:txBody>
          <a:bodyPr wrap="square" lIns="45720" tIns="18288" rIns="45720" bIns="18288" anchor="t">
            <a:spAutoFit/>
          </a:bodyPr>
          <a:lstStyle/>
          <a:p>
            <a:pPr algn="l">
              <a:spcAft>
                <a:spcPts val="300"/>
              </a:spcAft>
            </a:pPr>
            <a:r>
              <a:rPr sz="2300" b="1" i="0">
                <a:solidFill>
                  <a:srgbClr val="192A32"/>
                </a:solidFill>
                <a:latin typeface="Aptos"/>
              </a:rPr>
              <a:t>Particuliers</a:t>
            </a:r>
          </a:p>
        </p:txBody>
      </p:sp>
      <p:sp>
        <p:nvSpPr>
          <p:cNvPr id="12" name="TextBox 11"/>
          <p:cNvSpPr txBox="1"/>
          <p:nvPr/>
        </p:nvSpPr>
        <p:spPr>
          <a:xfrm>
            <a:off x="594360" y="3657600"/>
            <a:ext cx="1901952" cy="457200"/>
          </a:xfrm>
          <a:prstGeom prst="rect">
            <a:avLst/>
          </a:prstGeom>
          <a:noFill/>
        </p:spPr>
        <p:txBody>
          <a:bodyPr wrap="square" lIns="45720" tIns="18288" rIns="45720" bIns="18288" anchor="t">
            <a:spAutoFit/>
          </a:bodyPr>
          <a:lstStyle/>
          <a:p>
            <a:pPr algn="l">
              <a:spcAft>
                <a:spcPts val="300"/>
              </a:spcAft>
            </a:pPr>
            <a:r>
              <a:rPr sz="1400" b="1" i="0">
                <a:solidFill>
                  <a:srgbClr val="192A32"/>
                </a:solidFill>
                <a:latin typeface="Aptos"/>
              </a:rPr>
              <a:t>Gratuit</a:t>
            </a:r>
          </a:p>
        </p:txBody>
      </p:sp>
      <p:sp>
        <p:nvSpPr>
          <p:cNvPr id="13" name="TextBox 12"/>
          <p:cNvSpPr txBox="1"/>
          <p:nvPr/>
        </p:nvSpPr>
        <p:spPr>
          <a:xfrm>
            <a:off x="594360" y="4160520"/>
            <a:ext cx="1901952" cy="1737360"/>
          </a:xfrm>
          <a:prstGeom prst="rect">
            <a:avLst/>
          </a:prstGeom>
          <a:noFill/>
        </p:spPr>
        <p:txBody>
          <a:bodyPr wrap="square" lIns="45720" tIns="18288" rIns="45720" bIns="18288" anchor="t">
            <a:spAutoFit/>
          </a:bodyPr>
          <a:lstStyle/>
          <a:p>
            <a:pPr algn="l">
              <a:spcAft>
                <a:spcPts val="300"/>
              </a:spcAft>
            </a:pPr>
            <a:r>
              <a:rPr sz="1050" b="0" i="0">
                <a:solidFill>
                  <a:srgbClr val="192A32"/>
                </a:solidFill>
                <a:latin typeface="Aptos"/>
              </a:rPr>
              <a:t>Propriétaires, futurs acquéreurs, bricoleurs
Tout pour préparer un projet de travaux : estimer, comparer, comprendre — en 30 secondes.</a:t>
            </a:r>
          </a:p>
        </p:txBody>
      </p:sp>
      <p:sp>
        <p:nvSpPr>
          <p:cNvPr id="14" name="Rounded Rectangle 13"/>
          <p:cNvSpPr/>
          <p:nvPr/>
        </p:nvSpPr>
        <p:spPr>
          <a:xfrm>
            <a:off x="2724912"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5" name="Rectangle 14"/>
          <p:cNvSpPr/>
          <p:nvPr/>
        </p:nvSpPr>
        <p:spPr>
          <a:xfrm>
            <a:off x="2724912"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6" name="TextBox 15"/>
          <p:cNvSpPr txBox="1"/>
          <p:nvPr/>
        </p:nvSpPr>
        <p:spPr>
          <a:xfrm>
            <a:off x="2862072" y="3200400"/>
            <a:ext cx="1901952" cy="457200"/>
          </a:xfrm>
          <a:prstGeom prst="rect">
            <a:avLst/>
          </a:prstGeom>
          <a:noFill/>
        </p:spPr>
        <p:txBody>
          <a:bodyPr wrap="square" lIns="45720" tIns="18288" rIns="45720" bIns="18288" anchor="t">
            <a:spAutoFit/>
          </a:bodyPr>
          <a:lstStyle/>
          <a:p>
            <a:pPr algn="l">
              <a:spcAft>
                <a:spcPts val="300"/>
              </a:spcAft>
            </a:pPr>
            <a:r>
              <a:rPr sz="2300" b="1" i="0">
                <a:solidFill>
                  <a:srgbClr val="192A32"/>
                </a:solidFill>
                <a:latin typeface="Aptos"/>
              </a:rPr>
              <a:t>Project Pass</a:t>
            </a:r>
          </a:p>
        </p:txBody>
      </p:sp>
      <p:sp>
        <p:nvSpPr>
          <p:cNvPr id="17" name="TextBox 16"/>
          <p:cNvSpPr txBox="1"/>
          <p:nvPr/>
        </p:nvSpPr>
        <p:spPr>
          <a:xfrm>
            <a:off x="2862072" y="3657600"/>
            <a:ext cx="1901952" cy="457200"/>
          </a:xfrm>
          <a:prstGeom prst="rect">
            <a:avLst/>
          </a:prstGeom>
          <a:noFill/>
        </p:spPr>
        <p:txBody>
          <a:bodyPr wrap="square" lIns="45720" tIns="18288" rIns="45720" bIns="18288" anchor="t">
            <a:spAutoFit/>
          </a:bodyPr>
          <a:lstStyle/>
          <a:p>
            <a:pPr algn="l">
              <a:spcAft>
                <a:spcPts val="300"/>
              </a:spcAft>
            </a:pPr>
            <a:r>
              <a:rPr sz="1400" b="1" i="0">
                <a:solidFill>
                  <a:srgbClr val="192A32"/>
                </a:solidFill>
                <a:latin typeface="Aptos"/>
              </a:rPr>
              <a:t>50 € une fois</a:t>
            </a:r>
          </a:p>
        </p:txBody>
      </p:sp>
      <p:sp>
        <p:nvSpPr>
          <p:cNvPr id="18" name="TextBox 17"/>
          <p:cNvSpPr txBox="1"/>
          <p:nvPr/>
        </p:nvSpPr>
        <p:spPr>
          <a:xfrm>
            <a:off x="2862072" y="4160520"/>
            <a:ext cx="1901952" cy="1737360"/>
          </a:xfrm>
          <a:prstGeom prst="rect">
            <a:avLst/>
          </a:prstGeom>
          <a:noFill/>
        </p:spPr>
        <p:txBody>
          <a:bodyPr wrap="square" lIns="45720" tIns="18288" rIns="45720" bIns="18288" anchor="t">
            <a:spAutoFit/>
          </a:bodyPr>
          <a:lstStyle/>
          <a:p>
            <a:pPr algn="l">
              <a:spcAft>
                <a:spcPts val="300"/>
              </a:spcAft>
            </a:pPr>
            <a:r>
              <a:rPr sz="1050" b="0" i="0">
                <a:solidFill>
                  <a:srgbClr val="192A32"/>
                </a:solidFill>
                <a:latin typeface="Aptos"/>
              </a:rPr>
              <a:t>Une rénovation ponctuelle
Un projet complet, débloqué en une fois — idéal pour une rénovation ponctuelle.</a:t>
            </a:r>
          </a:p>
        </p:txBody>
      </p:sp>
      <p:sp>
        <p:nvSpPr>
          <p:cNvPr id="19" name="Rounded Rectangle 18"/>
          <p:cNvSpPr/>
          <p:nvPr/>
        </p:nvSpPr>
        <p:spPr>
          <a:xfrm>
            <a:off x="4992624"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0" name="Rectangle 19"/>
          <p:cNvSpPr/>
          <p:nvPr/>
        </p:nvSpPr>
        <p:spPr>
          <a:xfrm>
            <a:off x="4992624"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1" name="TextBox 20"/>
          <p:cNvSpPr txBox="1"/>
          <p:nvPr/>
        </p:nvSpPr>
        <p:spPr>
          <a:xfrm>
            <a:off x="5129784" y="3200400"/>
            <a:ext cx="1901952" cy="457200"/>
          </a:xfrm>
          <a:prstGeom prst="rect">
            <a:avLst/>
          </a:prstGeom>
          <a:noFill/>
        </p:spPr>
        <p:txBody>
          <a:bodyPr wrap="square" lIns="45720" tIns="18288" rIns="45720" bIns="18288" anchor="t">
            <a:spAutoFit/>
          </a:bodyPr>
          <a:lstStyle/>
          <a:p>
            <a:pPr algn="l">
              <a:spcAft>
                <a:spcPts val="300"/>
              </a:spcAft>
            </a:pPr>
            <a:r>
              <a:rPr sz="2300" b="1" i="0">
                <a:solidFill>
                  <a:srgbClr val="192A32"/>
                </a:solidFill>
                <a:latin typeface="Aptos"/>
              </a:rPr>
              <a:t>Premium</a:t>
            </a:r>
          </a:p>
        </p:txBody>
      </p:sp>
      <p:sp>
        <p:nvSpPr>
          <p:cNvPr id="22" name="TextBox 21"/>
          <p:cNvSpPr txBox="1"/>
          <p:nvPr/>
        </p:nvSpPr>
        <p:spPr>
          <a:xfrm>
            <a:off x="5129784" y="3657600"/>
            <a:ext cx="1901952" cy="457200"/>
          </a:xfrm>
          <a:prstGeom prst="rect">
            <a:avLst/>
          </a:prstGeom>
          <a:noFill/>
        </p:spPr>
        <p:txBody>
          <a:bodyPr wrap="square" lIns="45720" tIns="18288" rIns="45720" bIns="18288" anchor="t">
            <a:spAutoFit/>
          </a:bodyPr>
          <a:lstStyle/>
          <a:p>
            <a:pPr algn="l">
              <a:spcAft>
                <a:spcPts val="300"/>
              </a:spcAft>
            </a:pPr>
            <a:r>
              <a:rPr sz="1400" b="1" i="0">
                <a:solidFill>
                  <a:srgbClr val="192A32"/>
                </a:solidFill>
                <a:latin typeface="Aptos"/>
              </a:rPr>
              <a:t>19 € / mois</a:t>
            </a:r>
          </a:p>
        </p:txBody>
      </p:sp>
      <p:sp>
        <p:nvSpPr>
          <p:cNvPr id="23" name="TextBox 22"/>
          <p:cNvSpPr txBox="1"/>
          <p:nvPr/>
        </p:nvSpPr>
        <p:spPr>
          <a:xfrm>
            <a:off x="5129784" y="4160520"/>
            <a:ext cx="1901952" cy="1737360"/>
          </a:xfrm>
          <a:prstGeom prst="rect">
            <a:avLst/>
          </a:prstGeom>
          <a:noFill/>
        </p:spPr>
        <p:txBody>
          <a:bodyPr wrap="square" lIns="45720" tIns="18288" rIns="45720" bIns="18288" anchor="t">
            <a:spAutoFit/>
          </a:bodyPr>
          <a:lstStyle/>
          <a:p>
            <a:pPr algn="l">
              <a:spcAft>
                <a:spcPts val="300"/>
              </a:spcAft>
            </a:pPr>
            <a:r>
              <a:rPr sz="1050" b="0" i="0">
                <a:solidFill>
                  <a:srgbClr val="192A32"/>
                </a:solidFill>
                <a:latin typeface="Aptos"/>
              </a:rPr>
              <a:t>Particuliers multi-projets, investisseurs, bailleurs
Le plus populaire : projets illimités, IA complète et comparaison avancée des prix.</a:t>
            </a:r>
          </a:p>
        </p:txBody>
      </p:sp>
      <p:sp>
        <p:nvSpPr>
          <p:cNvPr id="24" name="Rounded Rectangle 23"/>
          <p:cNvSpPr/>
          <p:nvPr/>
        </p:nvSpPr>
        <p:spPr>
          <a:xfrm>
            <a:off x="7260336"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5" name="Rectangle 24"/>
          <p:cNvSpPr/>
          <p:nvPr/>
        </p:nvSpPr>
        <p:spPr>
          <a:xfrm>
            <a:off x="7260336"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6" name="TextBox 25"/>
          <p:cNvSpPr txBox="1"/>
          <p:nvPr/>
        </p:nvSpPr>
        <p:spPr>
          <a:xfrm>
            <a:off x="7397496" y="3200400"/>
            <a:ext cx="1901952" cy="457200"/>
          </a:xfrm>
          <a:prstGeom prst="rect">
            <a:avLst/>
          </a:prstGeom>
          <a:noFill/>
        </p:spPr>
        <p:txBody>
          <a:bodyPr wrap="square" lIns="45720" tIns="18288" rIns="45720" bIns="18288" anchor="t">
            <a:spAutoFit/>
          </a:bodyPr>
          <a:lstStyle/>
          <a:p>
            <a:pPr algn="l">
              <a:spcAft>
                <a:spcPts val="300"/>
              </a:spcAft>
            </a:pPr>
            <a:r>
              <a:rPr sz="2300" b="1" i="0">
                <a:solidFill>
                  <a:srgbClr val="192A32"/>
                </a:solidFill>
                <a:latin typeface="Aptos"/>
              </a:rPr>
              <a:t>Pro</a:t>
            </a:r>
          </a:p>
        </p:txBody>
      </p:sp>
      <p:sp>
        <p:nvSpPr>
          <p:cNvPr id="27" name="TextBox 26"/>
          <p:cNvSpPr txBox="1"/>
          <p:nvPr/>
        </p:nvSpPr>
        <p:spPr>
          <a:xfrm>
            <a:off x="7397496" y="3657600"/>
            <a:ext cx="1901952" cy="457200"/>
          </a:xfrm>
          <a:prstGeom prst="rect">
            <a:avLst/>
          </a:prstGeom>
          <a:noFill/>
        </p:spPr>
        <p:txBody>
          <a:bodyPr wrap="square" lIns="45720" tIns="18288" rIns="45720" bIns="18288" anchor="t">
            <a:spAutoFit/>
          </a:bodyPr>
          <a:lstStyle/>
          <a:p>
            <a:pPr algn="l">
              <a:spcAft>
                <a:spcPts val="300"/>
              </a:spcAft>
            </a:pPr>
            <a:r>
              <a:rPr sz="1400" b="1" i="0">
                <a:solidFill>
                  <a:srgbClr val="192A32"/>
                </a:solidFill>
                <a:latin typeface="Aptos"/>
              </a:rPr>
              <a:t>149 € HT / mois</a:t>
            </a:r>
          </a:p>
        </p:txBody>
      </p:sp>
      <p:sp>
        <p:nvSpPr>
          <p:cNvPr id="28" name="TextBox 27"/>
          <p:cNvSpPr txBox="1"/>
          <p:nvPr/>
        </p:nvSpPr>
        <p:spPr>
          <a:xfrm>
            <a:off x="7397496" y="4160520"/>
            <a:ext cx="1901952" cy="1737360"/>
          </a:xfrm>
          <a:prstGeom prst="rect">
            <a:avLst/>
          </a:prstGeom>
          <a:noFill/>
        </p:spPr>
        <p:txBody>
          <a:bodyPr wrap="square" lIns="45720" tIns="18288" rIns="45720" bIns="18288" anchor="t">
            <a:spAutoFit/>
          </a:bodyPr>
          <a:lstStyle/>
          <a:p>
            <a:pPr algn="l">
              <a:spcAft>
                <a:spcPts val="300"/>
              </a:spcAft>
            </a:pPr>
            <a:r>
              <a:rPr sz="1050" b="0" i="0">
                <a:solidFill>
                  <a:srgbClr val="192A32"/>
                </a:solidFill>
                <a:latin typeface="Aptos"/>
              </a:rPr>
              <a:t>Artisans, indépendants, TPE du bâtiment
Chiffrez à partir d'un plan, d'un CCTP, d'une photo ou de la voix, vendez avec vos marges, faites signer en ligne.</a:t>
            </a:r>
          </a:p>
        </p:txBody>
      </p:sp>
      <p:sp>
        <p:nvSpPr>
          <p:cNvPr id="29" name="Rounded Rectangle 28"/>
          <p:cNvSpPr/>
          <p:nvPr/>
        </p:nvSpPr>
        <p:spPr>
          <a:xfrm>
            <a:off x="9528048" y="3017520"/>
            <a:ext cx="2176272" cy="292608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0" name="Rectangle 29"/>
          <p:cNvSpPr/>
          <p:nvPr/>
        </p:nvSpPr>
        <p:spPr>
          <a:xfrm>
            <a:off x="9528048" y="3017520"/>
            <a:ext cx="2176272" cy="73152"/>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1" name="TextBox 30"/>
          <p:cNvSpPr txBox="1"/>
          <p:nvPr/>
        </p:nvSpPr>
        <p:spPr>
          <a:xfrm>
            <a:off x="9665208" y="3200400"/>
            <a:ext cx="1901952" cy="457200"/>
          </a:xfrm>
          <a:prstGeom prst="rect">
            <a:avLst/>
          </a:prstGeom>
          <a:noFill/>
        </p:spPr>
        <p:txBody>
          <a:bodyPr wrap="square" lIns="45720" tIns="18288" rIns="45720" bIns="18288" anchor="t">
            <a:spAutoFit/>
          </a:bodyPr>
          <a:lstStyle/>
          <a:p>
            <a:pPr algn="l">
              <a:spcAft>
                <a:spcPts val="300"/>
              </a:spcAft>
            </a:pPr>
            <a:r>
              <a:rPr sz="2300" b="1" i="0">
                <a:solidFill>
                  <a:srgbClr val="192A32"/>
                </a:solidFill>
                <a:latin typeface="Aptos"/>
              </a:rPr>
              <a:t>Pro Business</a:t>
            </a:r>
          </a:p>
        </p:txBody>
      </p:sp>
      <p:sp>
        <p:nvSpPr>
          <p:cNvPr id="32" name="TextBox 31"/>
          <p:cNvSpPr txBox="1"/>
          <p:nvPr/>
        </p:nvSpPr>
        <p:spPr>
          <a:xfrm>
            <a:off x="9665208" y="3657600"/>
            <a:ext cx="1901952" cy="457200"/>
          </a:xfrm>
          <a:prstGeom prst="rect">
            <a:avLst/>
          </a:prstGeom>
          <a:noFill/>
        </p:spPr>
        <p:txBody>
          <a:bodyPr wrap="square" lIns="45720" tIns="18288" rIns="45720" bIns="18288" anchor="t">
            <a:spAutoFit/>
          </a:bodyPr>
          <a:lstStyle/>
          <a:p>
            <a:pPr algn="l">
              <a:spcAft>
                <a:spcPts val="300"/>
              </a:spcAft>
            </a:pPr>
            <a:r>
              <a:rPr sz="1400" b="1" i="0">
                <a:solidFill>
                  <a:srgbClr val="192A32"/>
                </a:solidFill>
                <a:latin typeface="Aptos"/>
              </a:rPr>
              <a:t>249 € HT / mois</a:t>
            </a:r>
          </a:p>
        </p:txBody>
      </p:sp>
      <p:sp>
        <p:nvSpPr>
          <p:cNvPr id="33" name="TextBox 32"/>
          <p:cNvSpPr txBox="1"/>
          <p:nvPr/>
        </p:nvSpPr>
        <p:spPr>
          <a:xfrm>
            <a:off x="9665208" y="4160520"/>
            <a:ext cx="1901952" cy="1737360"/>
          </a:xfrm>
          <a:prstGeom prst="rect">
            <a:avLst/>
          </a:prstGeom>
          <a:noFill/>
        </p:spPr>
        <p:txBody>
          <a:bodyPr wrap="square" lIns="45720" tIns="18288" rIns="45720" bIns="18288" anchor="t">
            <a:spAutoFit/>
          </a:bodyPr>
          <a:lstStyle/>
          <a:p>
            <a:pPr algn="l">
              <a:spcAft>
                <a:spcPts val="300"/>
              </a:spcAft>
            </a:pPr>
            <a:r>
              <a:rPr sz="1050" b="0" i="0">
                <a:solidFill>
                  <a:srgbClr val="192A32"/>
                </a:solidFill>
                <a:latin typeface="Aptos"/>
              </a:rPr>
              <a:t>PME du bâtiment, entreprises générales, bureaux d'études
Tout Pro + équipes, RH &amp; pointage, suivi de chantier avec coûts réels, reporting et automatisations.</a:t>
            </a:r>
          </a:p>
        </p:txBody>
      </p:sp>
      <p:sp>
        <p:nvSpPr>
          <p:cNvPr id="36" name="Rectangle 35"/>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02</a:t>
            </a:r>
          </a:p>
        </p:txBody>
      </p:sp>
      <p:sp>
        <p:nvSpPr>
          <p:cNvPr id="38" name="Rectangle 37"/>
          <p:cNvSpPr/>
          <p:nvPr/>
        </p:nvSpPr>
        <p:spPr>
          <a:xfrm>
            <a:off x="621792" y="5925312"/>
            <a:ext cx="1655064"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94944" y="6016752"/>
            <a:ext cx="1508760" cy="118872"/>
          </a:xfrm>
          <a:prstGeom prst="rect">
            <a:avLst/>
          </a:prstGeom>
          <a:noFill/>
        </p:spPr>
        <p:txBody>
          <a:bodyPr wrap="square">
            <a:spAutoFit/>
          </a:bodyPr>
          <a:lstStyle/>
          <a:p>
            <a:pPr algn="ctr"/>
            <a:r>
              <a:rPr sz="800" b="1">
                <a:solidFill>
                  <a:srgbClr val="19A460"/>
                </a:solidFill>
                <a:latin typeface="Aptos"/>
              </a:rPr>
              <a:t>PARTICULIERS</a:t>
            </a:r>
          </a:p>
        </p:txBody>
      </p:sp>
      <p:sp>
        <p:nvSpPr>
          <p:cNvPr id="40" name="Rectangle 39"/>
          <p:cNvSpPr/>
          <p:nvPr/>
        </p:nvSpPr>
        <p:spPr>
          <a:xfrm>
            <a:off x="2386584" y="5925312"/>
            <a:ext cx="105156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459736" y="6016752"/>
            <a:ext cx="905255" cy="118872"/>
          </a:xfrm>
          <a:prstGeom prst="rect">
            <a:avLst/>
          </a:prstGeom>
          <a:noFill/>
        </p:spPr>
        <p:txBody>
          <a:bodyPr wrap="square">
            <a:spAutoFit/>
          </a:bodyPr>
          <a:lstStyle/>
          <a:p>
            <a:pPr algn="ctr"/>
            <a:r>
              <a:rPr sz="800" b="1">
                <a:solidFill>
                  <a:srgbClr val="19A460"/>
                </a:solidFill>
                <a:latin typeface="Aptos"/>
              </a:rPr>
              <a:t>PRO</a:t>
            </a:r>
          </a:p>
        </p:txBody>
      </p:sp>
      <p:sp>
        <p:nvSpPr>
          <p:cNvPr id="42" name="Rectangle 41"/>
          <p:cNvSpPr/>
          <p:nvPr/>
        </p:nvSpPr>
        <p:spPr>
          <a:xfrm>
            <a:off x="3547872" y="5925312"/>
            <a:ext cx="146304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621024" y="6016752"/>
            <a:ext cx="1316736" cy="118872"/>
          </a:xfrm>
          <a:prstGeom prst="rect">
            <a:avLst/>
          </a:prstGeom>
          <a:noFill/>
        </p:spPr>
        <p:txBody>
          <a:bodyPr wrap="square">
            <a:spAutoFit/>
          </a:bodyPr>
          <a:lstStyle/>
          <a:p>
            <a:pPr algn="ctr"/>
            <a:r>
              <a:rPr sz="800" b="1">
                <a:solidFill>
                  <a:srgbClr val="19A460"/>
                </a:solidFill>
                <a:latin typeface="Aptos"/>
              </a:rPr>
              <a:t>ENTREPRISE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2" name="Rectangle 21"/>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OFFRE · PROPRIÉTAIRES, FUTURS ACQUÉREURS, BRICOLEURS</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Particuliers</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r>
              <a:rPr sz="2000" b="1" i="0">
                <a:solidFill>
                  <a:srgbClr val="FFFFFF"/>
                </a:solidFill>
                <a:latin typeface="Aptos"/>
              </a:rPr>
              <a:t>Gratuit</a:t>
            </a: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r>
              <a:rPr sz="1100" b="0" i="0">
                <a:solidFill>
                  <a:srgbClr val="FFFFFF"/>
                </a:solidFill>
                <a:latin typeface="Aptos"/>
              </a:rPr>
              <a:t>0 € — sans engagement · 2 projets actifs · 3 estimations détaillées / mois</a:t>
            </a: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Tout pour préparer un projet de travaux : estimer, comparer, comprendre — en 30 secondes.</a:t>
            </a:r>
          </a:p>
        </p:txBody>
      </p:sp>
      <p:sp>
        <p:nvSpPr>
          <p:cNvPr id="13" name="Rounded Rectangle 12"/>
          <p:cNvSpPr/>
          <p:nvPr/>
        </p:nvSpPr>
        <p:spPr>
          <a:xfrm>
            <a:off x="457200" y="1920240"/>
            <a:ext cx="6766560" cy="43891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4" name="TextBox 13"/>
          <p:cNvSpPr txBox="1"/>
          <p:nvPr/>
        </p:nvSpPr>
        <p:spPr>
          <a:xfrm>
            <a:off x="640080" y="2011680"/>
            <a:ext cx="4572000" cy="365760"/>
          </a:xfrm>
          <a:prstGeom prst="rect">
            <a:avLst/>
          </a:prstGeom>
          <a:noFill/>
        </p:spPr>
        <p:txBody>
          <a:bodyPr wrap="square" lIns="45720" tIns="18288" rIns="45720" bIns="18288" anchor="t">
            <a:spAutoFit/>
          </a:bodyPr>
          <a:lstStyle/>
          <a:p>
            <a:pPr algn="l">
              <a:spcAft>
                <a:spcPts val="300"/>
              </a:spcAft>
            </a:pPr>
            <a:r>
              <a:rPr sz="1600" b="1" i="0">
                <a:solidFill>
                  <a:srgbClr val="192A32"/>
                </a:solidFill>
                <a:latin typeface="Aptos"/>
              </a:rPr>
              <a:t>L'essentiel</a:t>
            </a:r>
          </a:p>
        </p:txBody>
      </p:sp>
      <p:sp>
        <p:nvSpPr>
          <p:cNvPr id="15" name="TextBox 14"/>
          <p:cNvSpPr txBox="1"/>
          <p:nvPr/>
        </p:nvSpPr>
        <p:spPr>
          <a:xfrm>
            <a:off x="640080" y="2468880"/>
            <a:ext cx="6400800" cy="3749039"/>
          </a:xfrm>
          <a:prstGeom prst="rect">
            <a:avLst/>
          </a:prstGeom>
          <a:noFill/>
        </p:spPr>
        <p:txBody>
          <a:bodyPr wrap="square" lIns="45720" rIns="45720">
            <a:normAutofit/>
          </a:bodyPr>
          <a:lstStyle/>
          <a:p>
            <a:pPr>
              <a:spcAft>
                <a:spcPts val="300"/>
              </a:spcAft>
            </a:pPr>
            <a:r>
              <a:rPr sz="1300">
                <a:solidFill>
                  <a:srgbClr val="192A32"/>
                </a:solidFill>
                <a:latin typeface="Aptos"/>
              </a:rPr>
              <a:t>•  Estimateur 3 gammes (éco / standard / premium) par type de projet et région</a:t>
            </a:r>
          </a:p>
          <a:p>
            <a:pPr>
              <a:spcAft>
                <a:spcPts val="300"/>
              </a:spcAft>
            </a:pPr>
            <a:r>
              <a:rPr sz="1300">
                <a:solidFill>
                  <a:srgbClr val="192A32"/>
                </a:solidFill>
                <a:latin typeface="Aptos"/>
              </a:rPr>
              <a:t>•  Smart Project : description ou dictée vocale → lots, matériaux, budget IA</a:t>
            </a:r>
          </a:p>
          <a:p>
            <a:pPr>
              <a:spcAft>
                <a:spcPts val="300"/>
              </a:spcAft>
            </a:pPr>
            <a:r>
              <a:rPr sz="1300">
                <a:solidFill>
                  <a:srgbClr val="192A32"/>
                </a:solidFill>
                <a:latin typeface="Aptos"/>
              </a:rPr>
              <a:t>•  Analyse photo IA, Coach IA travaux, DIY Advisor</a:t>
            </a:r>
          </a:p>
          <a:p>
            <a:pPr>
              <a:spcAft>
                <a:spcPts val="300"/>
              </a:spcAft>
            </a:pPr>
            <a:r>
              <a:rPr sz="1300">
                <a:solidFill>
                  <a:srgbClr val="192A32"/>
                </a:solidFill>
                <a:latin typeface="Aptos"/>
              </a:rPr>
              <a:t>•  Calculateurs matériaux (peinture, carrelage, béton, maçonnerie…)</a:t>
            </a:r>
          </a:p>
          <a:p>
            <a:pPr>
              <a:spcAft>
                <a:spcPts val="300"/>
              </a:spcAft>
            </a:pPr>
            <a:r>
              <a:rPr sz="1300">
                <a:solidFill>
                  <a:srgbClr val="192A32"/>
                </a:solidFill>
                <a:latin typeface="Aptos"/>
              </a:rPr>
              <a:t>•  Aperçu des prix : 322 ouvrages chiffrés bas / médian / haut</a:t>
            </a:r>
          </a:p>
          <a:p>
            <a:pPr>
              <a:spcAft>
                <a:spcPts val="300"/>
              </a:spcAft>
            </a:pPr>
            <a:r>
              <a:rPr sz="1300">
                <a:solidFill>
                  <a:srgbClr val="192A32"/>
                </a:solidFill>
                <a:latin typeface="Aptos"/>
              </a:rPr>
              <a:t>•  Demande de devis à des pros vérifiés, avis clients</a:t>
            </a:r>
          </a:p>
          <a:p>
            <a:pPr>
              <a:spcAft>
                <a:spcPts val="300"/>
              </a:spcAft>
            </a:pPr>
            <a:r>
              <a:rPr sz="1300">
                <a:solidFill>
                  <a:srgbClr val="192A32"/>
                </a:solidFill>
                <a:latin typeface="Aptos"/>
              </a:rPr>
              <a:t>•  Compte sécurisé (Google, 2FA), PWA mobile, FR / PT, blog &amp; newsletter</a:t>
            </a:r>
          </a:p>
        </p:txBody>
      </p:sp>
      <p:sp>
        <p:nvSpPr>
          <p:cNvPr id="16" name="Rounded Rectangle 15"/>
          <p:cNvSpPr/>
          <p:nvPr/>
        </p:nvSpPr>
        <p:spPr>
          <a:xfrm>
            <a:off x="7498079" y="1920240"/>
            <a:ext cx="4206240" cy="438912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7" name="TextBox 16"/>
          <p:cNvSpPr txBox="1"/>
          <p:nvPr/>
        </p:nvSpPr>
        <p:spPr>
          <a:xfrm>
            <a:off x="7726679" y="2103120"/>
            <a:ext cx="3749039" cy="457200"/>
          </a:xfrm>
          <a:prstGeom prst="rect">
            <a:avLst/>
          </a:prstGeom>
          <a:noFill/>
        </p:spPr>
        <p:txBody>
          <a:bodyPr wrap="square" lIns="45720" tIns="18288" rIns="45720" bIns="18288" anchor="t">
            <a:spAutoFit/>
          </a:bodyPr>
          <a:lstStyle/>
          <a:p>
            <a:pPr algn="l">
              <a:spcAft>
                <a:spcPts val="300"/>
              </a:spcAft>
            </a:pPr>
            <a:r>
              <a:rPr sz="1400" b="1" i="0">
                <a:solidFill>
                  <a:srgbClr val="FFFFFF"/>
                </a:solidFill>
                <a:latin typeface="Aptos"/>
              </a:rPr>
              <a:t>Pour qui ?</a:t>
            </a:r>
          </a:p>
        </p:txBody>
      </p:sp>
      <p:sp>
        <p:nvSpPr>
          <p:cNvPr id="18" name="TextBox 17"/>
          <p:cNvSpPr txBox="1"/>
          <p:nvPr/>
        </p:nvSpPr>
        <p:spPr>
          <a:xfrm>
            <a:off x="7726679" y="2560320"/>
            <a:ext cx="3749039" cy="1097280"/>
          </a:xfrm>
          <a:prstGeom prst="rect">
            <a:avLst/>
          </a:prstGeom>
          <a:noFill/>
        </p:spPr>
        <p:txBody>
          <a:bodyPr wrap="square" lIns="45720" tIns="18288" rIns="45720" bIns="18288" anchor="t">
            <a:spAutoFit/>
          </a:bodyPr>
          <a:lstStyle/>
          <a:p>
            <a:pPr algn="l">
              <a:spcAft>
                <a:spcPts val="300"/>
              </a:spcAft>
            </a:pPr>
            <a:r>
              <a:rPr sz="1300" b="0" i="0">
                <a:solidFill>
                  <a:srgbClr val="FFFFFF"/>
                </a:solidFill>
                <a:latin typeface="Aptos"/>
              </a:rPr>
              <a:t>Propriétaires, futurs acquéreurs, bricoleurs</a:t>
            </a:r>
          </a:p>
        </p:txBody>
      </p:sp>
      <p:sp>
        <p:nvSpPr>
          <p:cNvPr id="19" name="TextBox 18"/>
          <p:cNvSpPr txBox="1"/>
          <p:nvPr/>
        </p:nvSpPr>
        <p:spPr>
          <a:xfrm>
            <a:off x="7726679" y="3749039"/>
            <a:ext cx="3749039" cy="457200"/>
          </a:xfrm>
          <a:prstGeom prst="rect">
            <a:avLst/>
          </a:prstGeom>
          <a:noFill/>
        </p:spPr>
        <p:txBody>
          <a:bodyPr wrap="square" lIns="45720" tIns="18288" rIns="45720" bIns="18288" anchor="t">
            <a:spAutoFit/>
          </a:bodyPr>
          <a:lstStyle/>
          <a:p>
            <a:pPr algn="l">
              <a:spcAft>
                <a:spcPts val="300"/>
              </a:spcAft>
            </a:pPr>
            <a:r>
              <a:rPr sz="1400" b="1" i="0">
                <a:solidFill>
                  <a:srgbClr val="FFFFFF"/>
                </a:solidFill>
                <a:latin typeface="Aptos"/>
              </a:rPr>
              <a:t>Tarif</a:t>
            </a:r>
          </a:p>
        </p:txBody>
      </p:sp>
      <p:sp>
        <p:nvSpPr>
          <p:cNvPr id="20" name="TextBox 19"/>
          <p:cNvSpPr txBox="1"/>
          <p:nvPr/>
        </p:nvSpPr>
        <p:spPr>
          <a:xfrm>
            <a:off x="7726679" y="4206240"/>
            <a:ext cx="3749039" cy="1645920"/>
          </a:xfrm>
          <a:prstGeom prst="rect">
            <a:avLst/>
          </a:prstGeom>
          <a:noFill/>
        </p:spPr>
        <p:txBody>
          <a:bodyPr wrap="square" lIns="45720" tIns="18288" rIns="45720" bIns="18288" anchor="t">
            <a:spAutoFit/>
          </a:bodyPr>
          <a:lstStyle/>
          <a:p>
            <a:pPr algn="l">
              <a:spcAft>
                <a:spcPts val="300"/>
              </a:spcAft>
            </a:pPr>
            <a:r>
              <a:rPr sz="1200" b="0" i="0">
                <a:solidFill>
                  <a:srgbClr val="FFFFFF"/>
                </a:solidFill>
                <a:latin typeface="Aptos"/>
              </a:rPr>
              <a:t>Gratuit
0 € — sans engagement · 2 projets actifs · 3 estimations détaillées / mois</a:t>
            </a:r>
          </a:p>
        </p:txBody>
      </p:sp>
      <p:sp>
        <p:nvSpPr>
          <p:cNvPr id="23" name="Rectangle 22"/>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03</a:t>
            </a:r>
          </a:p>
        </p:txBody>
      </p:sp>
      <p:sp>
        <p:nvSpPr>
          <p:cNvPr id="25" name="Rectangle 24"/>
          <p:cNvSpPr/>
          <p:nvPr/>
        </p:nvSpPr>
        <p:spPr>
          <a:xfrm>
            <a:off x="621792" y="5925312"/>
            <a:ext cx="1175004"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6016752"/>
            <a:ext cx="1028700" cy="118872"/>
          </a:xfrm>
          <a:prstGeom prst="rect">
            <a:avLst/>
          </a:prstGeom>
          <a:noFill/>
        </p:spPr>
        <p:txBody>
          <a:bodyPr wrap="square">
            <a:spAutoFit/>
          </a:bodyPr>
          <a:lstStyle/>
          <a:p>
            <a:pPr algn="ctr"/>
            <a:r>
              <a:rPr sz="800" b="1">
                <a:solidFill>
                  <a:srgbClr val="19A460"/>
                </a:solidFill>
                <a:latin typeface="Aptos"/>
              </a:rPr>
              <a:t>ESTIMER</a:t>
            </a:r>
          </a:p>
        </p:txBody>
      </p:sp>
      <p:sp>
        <p:nvSpPr>
          <p:cNvPr id="27" name="Rectangle 26"/>
          <p:cNvSpPr/>
          <p:nvPr/>
        </p:nvSpPr>
        <p:spPr>
          <a:xfrm>
            <a:off x="1906524" y="5925312"/>
            <a:ext cx="1271016"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979676" y="6016752"/>
            <a:ext cx="1124712" cy="118872"/>
          </a:xfrm>
          <a:prstGeom prst="rect">
            <a:avLst/>
          </a:prstGeom>
          <a:noFill/>
        </p:spPr>
        <p:txBody>
          <a:bodyPr wrap="square">
            <a:spAutoFit/>
          </a:bodyPr>
          <a:lstStyle/>
          <a:p>
            <a:pPr algn="ctr"/>
            <a:r>
              <a:rPr sz="800" b="1">
                <a:solidFill>
                  <a:srgbClr val="19A460"/>
                </a:solidFill>
                <a:latin typeface="Aptos"/>
              </a:rPr>
              <a:t>COMPARER</a:t>
            </a:r>
          </a:p>
        </p:txBody>
      </p:sp>
      <p:sp>
        <p:nvSpPr>
          <p:cNvPr id="29" name="Rectangle 28"/>
          <p:cNvSpPr/>
          <p:nvPr/>
        </p:nvSpPr>
        <p:spPr>
          <a:xfrm>
            <a:off x="3287268" y="5925312"/>
            <a:ext cx="146304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360420" y="6016752"/>
            <a:ext cx="1316736" cy="118872"/>
          </a:xfrm>
          <a:prstGeom prst="rect">
            <a:avLst/>
          </a:prstGeom>
          <a:noFill/>
        </p:spPr>
        <p:txBody>
          <a:bodyPr wrap="square">
            <a:spAutoFit/>
          </a:bodyPr>
          <a:lstStyle/>
          <a:p>
            <a:pPr algn="ctr"/>
            <a:r>
              <a:rPr sz="800" b="1">
                <a:solidFill>
                  <a:srgbClr val="19A460"/>
                </a:solidFill>
                <a:latin typeface="Aptos"/>
              </a:rPr>
              <a:t>COMPRENDRE</a:t>
            </a:r>
          </a:p>
        </p:txBody>
      </p:sp>
      <p:sp>
        <p:nvSpPr>
          <p:cNvPr id="31" name="Rectangle 30"/>
          <p:cNvSpPr/>
          <p:nvPr/>
        </p:nvSpPr>
        <p:spPr>
          <a:xfrm>
            <a:off x="9555480" y="1353312"/>
            <a:ext cx="1874519" cy="841248"/>
          </a:xfrm>
          <a:prstGeom prst="rect">
            <a:avLst/>
          </a:prstGeom>
          <a:solidFill>
            <a:srgbClr val="E8F7EF"/>
          </a:solidFill>
          <a:ln w="10160">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74352" y="1527048"/>
            <a:ext cx="1645920" cy="256032"/>
          </a:xfrm>
          <a:prstGeom prst="rect">
            <a:avLst/>
          </a:prstGeom>
          <a:noFill/>
        </p:spPr>
        <p:txBody>
          <a:bodyPr wrap="square">
            <a:spAutoFit/>
          </a:bodyPr>
          <a:lstStyle/>
          <a:p>
            <a:pPr algn="ctr"/>
            <a:r>
              <a:rPr sz="1800" b="1">
                <a:solidFill>
                  <a:srgbClr val="FFFFFF"/>
                </a:solidFill>
                <a:latin typeface="Aptos"/>
              </a:rPr>
              <a:t>0 €</a:t>
            </a:r>
          </a:p>
        </p:txBody>
      </p:sp>
      <p:sp>
        <p:nvSpPr>
          <p:cNvPr id="33" name="TextBox 32"/>
          <p:cNvSpPr txBox="1"/>
          <p:nvPr/>
        </p:nvSpPr>
        <p:spPr>
          <a:xfrm>
            <a:off x="9674352" y="1856231"/>
            <a:ext cx="1645920" cy="146304"/>
          </a:xfrm>
          <a:prstGeom prst="rect">
            <a:avLst/>
          </a:prstGeom>
          <a:noFill/>
        </p:spPr>
        <p:txBody>
          <a:bodyPr wrap="square">
            <a:spAutoFit/>
          </a:bodyPr>
          <a:lstStyle/>
          <a:p>
            <a:pPr algn="ctr"/>
            <a:r>
              <a:rPr sz="800" b="0">
                <a:solidFill>
                  <a:srgbClr val="FFFFFF"/>
                </a:solidFill>
                <a:latin typeface="Aptos"/>
              </a:rPr>
              <a:t>Gratuit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6" name="Rectangle 15"/>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OFFRE · PROPRIÉTAIRES, FUTURS ACQUÉREURS, BRICOLEURS</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Particuliers — dans le détail</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r>
              <a:rPr sz="2000" b="1" i="0">
                <a:solidFill>
                  <a:srgbClr val="FFFFFF"/>
                </a:solidFill>
                <a:latin typeface="Aptos"/>
              </a:rPr>
              <a:t>Gratuit</a:t>
            </a: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endParaRP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Tout pour préparer un projet de travaux : estimer, comparer, comprendre — en 30 secondes.</a:t>
            </a:r>
          </a:p>
        </p:txBody>
      </p:sp>
      <p:sp>
        <p:nvSpPr>
          <p:cNvPr id="13" name="TextBox 12"/>
          <p:cNvSpPr txBox="1"/>
          <p:nvPr/>
        </p:nvSpPr>
        <p:spPr>
          <a:xfrm>
            <a:off x="457200" y="1920240"/>
            <a:ext cx="5547207" cy="4480560"/>
          </a:xfrm>
          <a:prstGeom prst="rect">
            <a:avLst/>
          </a:prstGeom>
          <a:noFill/>
        </p:spPr>
        <p:txBody>
          <a:bodyPr wrap="square" lIns="45720" rIns="45720">
            <a:normAutofit/>
          </a:bodyPr>
          <a:lstStyle/>
          <a:p>
            <a:pPr>
              <a:spcBef>
                <a:spcPts val="600"/>
              </a:spcBef>
              <a:spcAft>
                <a:spcPts val="300"/>
              </a:spcAft>
            </a:pPr>
            <a:r>
              <a:rPr sz="1300" b="1">
                <a:solidFill>
                  <a:srgbClr val="192A32"/>
                </a:solidFill>
                <a:latin typeface="Aptos"/>
              </a:rPr>
              <a:t>Estimation &amp; chiffrage</a:t>
            </a:r>
          </a:p>
          <a:p>
            <a:pPr>
              <a:spcAft>
                <a:spcPts val="300"/>
              </a:spcAft>
            </a:pPr>
            <a:r>
              <a:rPr sz="1100">
                <a:solidFill>
                  <a:srgbClr val="192A32"/>
                </a:solidFill>
                <a:latin typeface="Aptos"/>
              </a:rPr>
              <a:t>•  Estimateur de travaux : rénovation, construction maison, extension, piscine… par type de projet, état du bien et région (coefficients de marché 2026, 16 districts PT)</a:t>
            </a:r>
          </a:p>
          <a:p>
            <a:pPr>
              <a:spcAft>
                <a:spcPts val="300"/>
              </a:spcAft>
            </a:pPr>
            <a:r>
              <a:rPr sz="1100">
                <a:solidFill>
                  <a:srgbClr val="192A32"/>
                </a:solidFill>
                <a:latin typeface="Aptos"/>
              </a:rPr>
              <a:t>•  3 gammes de prix — Économique / Standard / Premium — matériaux + main-d'œuvre</a:t>
            </a:r>
          </a:p>
          <a:p>
            <a:pPr>
              <a:spcAft>
                <a:spcPts val="300"/>
              </a:spcAft>
            </a:pPr>
            <a:r>
              <a:rPr sz="1100">
                <a:solidFill>
                  <a:srgbClr val="192A32"/>
                </a:solidFill>
                <a:latin typeface="Aptos"/>
              </a:rPr>
              <a:t>•  Détail par corps de métier, planning des phases, export PDF (avec TVA 6 % / 23 % au Portugal)</a:t>
            </a:r>
          </a:p>
          <a:p>
            <a:pPr>
              <a:spcAft>
                <a:spcPts val="300"/>
              </a:spcAft>
            </a:pPr>
            <a:r>
              <a:rPr sz="1100">
                <a:solidFill>
                  <a:srgbClr val="192A32"/>
                </a:solidFill>
                <a:latin typeface="Aptos"/>
              </a:rPr>
              <a:t>•  Smart Project : décrivez « rénover salle de bain 8 m² » ou dictez à la voix → lots, matériaux et budget générés par l'IA</a:t>
            </a:r>
          </a:p>
          <a:p>
            <a:pPr>
              <a:spcAft>
                <a:spcPts val="300"/>
              </a:spcAft>
            </a:pPr>
            <a:r>
              <a:rPr sz="1100">
                <a:solidFill>
                  <a:srgbClr val="192A32"/>
                </a:solidFill>
                <a:latin typeface="Aptos"/>
              </a:rPr>
              <a:t>•  Panier d'achats matériaux optimisé (parpaing/brique, mortier, colle, enduit de façade…)</a:t>
            </a:r>
          </a:p>
          <a:p>
            <a:pPr>
              <a:spcAft>
                <a:spcPts val="300"/>
              </a:spcAft>
            </a:pPr>
            <a:r>
              <a:rPr sz="1100">
                <a:solidFill>
                  <a:srgbClr val="192A32"/>
                </a:solidFill>
                <a:latin typeface="Aptos"/>
              </a:rPr>
              <a:t>•  Comparatif des offres et des prix, ordres de grandeur €/m² par ville (pages locales « devis travaux »)</a:t>
            </a:r>
          </a:p>
          <a:p>
            <a:pPr>
              <a:spcBef>
                <a:spcPts val="600"/>
              </a:spcBef>
              <a:spcAft>
                <a:spcPts val="300"/>
              </a:spcAft>
            </a:pPr>
            <a:r>
              <a:rPr sz="1300" b="1">
                <a:solidFill>
                  <a:srgbClr val="192A32"/>
                </a:solidFill>
                <a:latin typeface="Aptos"/>
              </a:rPr>
              <a:t>Trouver un pro &amp; compte</a:t>
            </a:r>
          </a:p>
          <a:p>
            <a:pPr>
              <a:spcAft>
                <a:spcPts val="300"/>
              </a:spcAft>
            </a:pPr>
            <a:r>
              <a:rPr sz="1100">
                <a:solidFill>
                  <a:srgbClr val="192A32"/>
                </a:solidFill>
                <a:latin typeface="Aptos"/>
              </a:rPr>
              <a:t>•  Demande de devis auprès de pros vérifiés (K-bis, SIRET, décennale) — profil public « Pro vérifié » et avis clients</a:t>
            </a:r>
          </a:p>
          <a:p>
            <a:pPr>
              <a:spcAft>
                <a:spcPts val="300"/>
              </a:spcAft>
            </a:pPr>
            <a:r>
              <a:rPr sz="1100">
                <a:solidFill>
                  <a:srgbClr val="192A32"/>
                </a:solidFill>
                <a:latin typeface="Aptos"/>
              </a:rPr>
              <a:t>•  Compte sécurisé : e-mail ou Google Sign-In, double authentification par e-mail, appareils connectés, export de mes données</a:t>
            </a:r>
          </a:p>
          <a:p>
            <a:pPr>
              <a:spcAft>
                <a:spcPts val="300"/>
              </a:spcAft>
            </a:pPr>
            <a:r>
              <a:rPr sz="1100">
                <a:solidFill>
                  <a:srgbClr val="192A32"/>
                </a:solidFill>
                <a:latin typeface="Aptos"/>
              </a:rPr>
              <a:t>•  Parrainage avec récompenses, application mobile (PWA) installable</a:t>
            </a:r>
          </a:p>
          <a:p>
            <a:pPr>
              <a:spcAft>
                <a:spcPts val="300"/>
              </a:spcAft>
            </a:pPr>
            <a:r>
              <a:rPr sz="1100">
                <a:solidFill>
                  <a:srgbClr val="192A32"/>
                </a:solidFill>
                <a:latin typeface="Aptos"/>
              </a:rPr>
              <a:t>•  Interface FR / PT-PT, blog et newsletter conseils travaux</a:t>
            </a:r>
          </a:p>
        </p:txBody>
      </p:sp>
      <p:sp>
        <p:nvSpPr>
          <p:cNvPr id="14" name="TextBox 13"/>
          <p:cNvSpPr txBox="1"/>
          <p:nvPr/>
        </p:nvSpPr>
        <p:spPr>
          <a:xfrm>
            <a:off x="6187287" y="1920240"/>
            <a:ext cx="5547207" cy="4480560"/>
          </a:xfrm>
          <a:prstGeom prst="rect">
            <a:avLst/>
          </a:prstGeom>
          <a:noFill/>
        </p:spPr>
        <p:txBody>
          <a:bodyPr wrap="square" lIns="45720" rIns="45720">
            <a:normAutofit/>
          </a:bodyPr>
          <a:lstStyle/>
          <a:p>
            <a:pPr>
              <a:spcBef>
                <a:spcPts val="600"/>
              </a:spcBef>
              <a:spcAft>
                <a:spcPts val="300"/>
              </a:spcAft>
            </a:pPr>
            <a:r>
              <a:rPr sz="1300" b="1">
                <a:solidFill>
                  <a:srgbClr val="192A32"/>
                </a:solidFill>
                <a:latin typeface="Aptos"/>
              </a:rPr>
              <a:t>Outils IA</a:t>
            </a:r>
          </a:p>
          <a:p>
            <a:pPr>
              <a:spcAft>
                <a:spcPts val="300"/>
              </a:spcAft>
            </a:pPr>
            <a:r>
              <a:rPr sz="1100">
                <a:solidFill>
                  <a:srgbClr val="192A32"/>
                </a:solidFill>
                <a:latin typeface="Aptos"/>
              </a:rPr>
              <a:t>•  Analyse de photo : envoyez une photo d'une pièce ou d'un défaut, l'IA propose des pistes et des priorités</a:t>
            </a:r>
          </a:p>
          <a:p>
            <a:pPr>
              <a:spcAft>
                <a:spcPts val="300"/>
              </a:spcAft>
            </a:pPr>
            <a:r>
              <a:rPr sz="1100">
                <a:solidFill>
                  <a:srgbClr val="192A32"/>
                </a:solidFill>
                <a:latin typeface="Aptos"/>
              </a:rPr>
              <a:t>•  Coach IA travaux : un assistant qui répond à vos questions chantier en français (conseils limités en gratuit)</a:t>
            </a:r>
          </a:p>
          <a:p>
            <a:pPr>
              <a:spcAft>
                <a:spcPts val="300"/>
              </a:spcAft>
            </a:pPr>
            <a:r>
              <a:rPr sz="1100">
                <a:solidFill>
                  <a:srgbClr val="192A32"/>
                </a:solidFill>
                <a:latin typeface="Aptos"/>
              </a:rPr>
              <a:t>•  DIY Advisor : faisable soi-même ou par un pro ? Sécurité d'abord (gaz, électricité, murs porteurs → orientation vers un professionnel)</a:t>
            </a:r>
          </a:p>
          <a:p>
            <a:pPr>
              <a:spcBef>
                <a:spcPts val="600"/>
              </a:spcBef>
              <a:spcAft>
                <a:spcPts val="300"/>
              </a:spcAft>
            </a:pPr>
            <a:r>
              <a:rPr sz="1300" b="1">
                <a:solidFill>
                  <a:srgbClr val="192A32"/>
                </a:solidFill>
                <a:latin typeface="Aptos"/>
              </a:rPr>
              <a:t>Calculateurs &amp; prix</a:t>
            </a:r>
          </a:p>
          <a:p>
            <a:pPr>
              <a:spcAft>
                <a:spcPts val="300"/>
              </a:spcAft>
            </a:pPr>
            <a:r>
              <a:rPr sz="1100">
                <a:solidFill>
                  <a:srgbClr val="192A32"/>
                </a:solidFill>
                <a:latin typeface="Aptos"/>
              </a:rPr>
              <a:t>•  Calculateurs de matériaux : peinture, carrelage (colle, joint, croisillons, natte, profilés), béton, maçonnerie (parpaing/brique, mortier, colle, mousse PU, enduit), surfaces, volumes</a:t>
            </a:r>
          </a:p>
          <a:p>
            <a:pPr>
              <a:spcAft>
                <a:spcPts val="300"/>
              </a:spcAft>
            </a:pPr>
            <a:r>
              <a:rPr sz="1100">
                <a:solidFill>
                  <a:srgbClr val="192A32"/>
                </a:solidFill>
                <a:latin typeface="Aptos"/>
              </a:rPr>
              <a:t>•  Fiches de calcul partageables par lien</a:t>
            </a:r>
          </a:p>
          <a:p>
            <a:pPr>
              <a:spcAft>
                <a:spcPts val="300"/>
              </a:spcAft>
            </a:pPr>
            <a:r>
              <a:rPr sz="1100">
                <a:solidFill>
                  <a:srgbClr val="192A32"/>
                </a:solidFill>
                <a:latin typeface="Aptos"/>
              </a:rPr>
              <a:t>•  Recherche de prix : aperçu de la bibliothèque de 322 ouvrages chiffrés (prix bas, médian, haut)</a:t>
            </a:r>
          </a:p>
        </p:txBody>
      </p:sp>
      <p:sp>
        <p:nvSpPr>
          <p:cNvPr id="17" name="Rectangle 16"/>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2" name="Rectangle 21"/>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OFFRE · UNE RÉNOVATION PONCTUELLE</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Project Pass</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r>
              <a:rPr sz="2000" b="1" i="0">
                <a:solidFill>
                  <a:srgbClr val="FFFFFF"/>
                </a:solidFill>
                <a:latin typeface="Aptos"/>
              </a:rPr>
              <a:t>50 € une fois</a:t>
            </a: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r>
              <a:rPr sz="1100" b="0" i="0">
                <a:solidFill>
                  <a:srgbClr val="FFFFFF"/>
                </a:solidFill>
                <a:latin typeface="Aptos"/>
              </a:rPr>
              <a:t>Paiement unique · 1 projet complet · valable 90 jours · sans abonnement</a:t>
            </a: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Un projet complet, débloqué en une fois — idéal pour une rénovation ponctuelle.</a:t>
            </a:r>
          </a:p>
        </p:txBody>
      </p:sp>
      <p:sp>
        <p:nvSpPr>
          <p:cNvPr id="13" name="Rounded Rectangle 12"/>
          <p:cNvSpPr/>
          <p:nvPr/>
        </p:nvSpPr>
        <p:spPr>
          <a:xfrm>
            <a:off x="457200" y="1920240"/>
            <a:ext cx="6766560" cy="43891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4" name="TextBox 13"/>
          <p:cNvSpPr txBox="1"/>
          <p:nvPr/>
        </p:nvSpPr>
        <p:spPr>
          <a:xfrm>
            <a:off x="640080" y="2011680"/>
            <a:ext cx="4572000" cy="365760"/>
          </a:xfrm>
          <a:prstGeom prst="rect">
            <a:avLst/>
          </a:prstGeom>
          <a:noFill/>
        </p:spPr>
        <p:txBody>
          <a:bodyPr wrap="square" lIns="45720" tIns="18288" rIns="45720" bIns="18288" anchor="t">
            <a:spAutoFit/>
          </a:bodyPr>
          <a:lstStyle/>
          <a:p>
            <a:pPr algn="l">
              <a:spcAft>
                <a:spcPts val="300"/>
              </a:spcAft>
            </a:pPr>
            <a:r>
              <a:rPr sz="1600" b="1" i="0">
                <a:solidFill>
                  <a:srgbClr val="192A32"/>
                </a:solidFill>
                <a:latin typeface="Aptos"/>
              </a:rPr>
              <a:t>L'essentiel</a:t>
            </a:r>
          </a:p>
        </p:txBody>
      </p:sp>
      <p:sp>
        <p:nvSpPr>
          <p:cNvPr id="15" name="TextBox 14"/>
          <p:cNvSpPr txBox="1"/>
          <p:nvPr/>
        </p:nvSpPr>
        <p:spPr>
          <a:xfrm>
            <a:off x="640080" y="2468880"/>
            <a:ext cx="6400800" cy="3749039"/>
          </a:xfrm>
          <a:prstGeom prst="rect">
            <a:avLst/>
          </a:prstGeom>
          <a:noFill/>
        </p:spPr>
        <p:txBody>
          <a:bodyPr wrap="square" lIns="45720" rIns="45720">
            <a:normAutofit/>
          </a:bodyPr>
          <a:lstStyle/>
          <a:p>
            <a:pPr>
              <a:spcAft>
                <a:spcPts val="300"/>
              </a:spcAft>
            </a:pPr>
            <a:r>
              <a:rPr sz="1300">
                <a:solidFill>
                  <a:srgbClr val="192A32"/>
                </a:solidFill>
                <a:latin typeface="Aptos"/>
              </a:rPr>
              <a:t>•  Estimation complète, détail par corps de métier</a:t>
            </a:r>
          </a:p>
          <a:p>
            <a:pPr>
              <a:spcAft>
                <a:spcPts val="300"/>
              </a:spcAft>
            </a:pPr>
            <a:r>
              <a:rPr sz="1300">
                <a:solidFill>
                  <a:srgbClr val="192A32"/>
                </a:solidFill>
                <a:latin typeface="Aptos"/>
              </a:rPr>
              <a:t>•  Matériaux, quantités, prix et panier optimisé</a:t>
            </a:r>
          </a:p>
          <a:p>
            <a:pPr>
              <a:spcAft>
                <a:spcPts val="300"/>
              </a:spcAft>
            </a:pPr>
            <a:r>
              <a:rPr sz="1300">
                <a:solidFill>
                  <a:srgbClr val="192A32"/>
                </a:solidFill>
                <a:latin typeface="Aptos"/>
              </a:rPr>
              <a:t>•  Planning + budget, PDF professionnel</a:t>
            </a:r>
          </a:p>
          <a:p>
            <a:pPr>
              <a:spcAft>
                <a:spcPts val="300"/>
              </a:spcAft>
            </a:pPr>
            <a:r>
              <a:rPr sz="1300">
                <a:solidFill>
                  <a:srgbClr val="192A32"/>
                </a:solidFill>
                <a:latin typeface="Aptos"/>
              </a:rPr>
              <a:t>•  Analyse de 3 devis d'artisans par l'IA</a:t>
            </a:r>
          </a:p>
          <a:p>
            <a:pPr>
              <a:spcAft>
                <a:spcPts val="300"/>
              </a:spcAft>
            </a:pPr>
            <a:r>
              <a:rPr sz="1300">
                <a:solidFill>
                  <a:srgbClr val="192A32"/>
                </a:solidFill>
                <a:latin typeface="Aptos"/>
              </a:rPr>
              <a:t>•  Plan 2D + 3 rendus 3D offerts</a:t>
            </a:r>
          </a:p>
          <a:p>
            <a:pPr>
              <a:spcAft>
                <a:spcPts val="300"/>
              </a:spcAft>
            </a:pPr>
            <a:r>
              <a:rPr sz="1300">
                <a:solidFill>
                  <a:srgbClr val="192A32"/>
                </a:solidFill>
                <a:latin typeface="Aptos"/>
              </a:rPr>
              <a:t>•  Valable 90 jours, sans abonnement</a:t>
            </a:r>
          </a:p>
        </p:txBody>
      </p:sp>
      <p:sp>
        <p:nvSpPr>
          <p:cNvPr id="16" name="Rounded Rectangle 15"/>
          <p:cNvSpPr/>
          <p:nvPr/>
        </p:nvSpPr>
        <p:spPr>
          <a:xfrm>
            <a:off x="7498079" y="1920240"/>
            <a:ext cx="4206240" cy="438912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7" name="TextBox 16"/>
          <p:cNvSpPr txBox="1"/>
          <p:nvPr/>
        </p:nvSpPr>
        <p:spPr>
          <a:xfrm>
            <a:off x="7726679" y="2103120"/>
            <a:ext cx="3749039" cy="457200"/>
          </a:xfrm>
          <a:prstGeom prst="rect">
            <a:avLst/>
          </a:prstGeom>
          <a:noFill/>
        </p:spPr>
        <p:txBody>
          <a:bodyPr wrap="square" lIns="45720" tIns="18288" rIns="45720" bIns="18288" anchor="t">
            <a:spAutoFit/>
          </a:bodyPr>
          <a:lstStyle/>
          <a:p>
            <a:pPr algn="l">
              <a:spcAft>
                <a:spcPts val="300"/>
              </a:spcAft>
            </a:pPr>
            <a:r>
              <a:rPr sz="1400" b="1" i="0">
                <a:solidFill>
                  <a:srgbClr val="FFFFFF"/>
                </a:solidFill>
                <a:latin typeface="Aptos"/>
              </a:rPr>
              <a:t>Pour qui ?</a:t>
            </a:r>
          </a:p>
        </p:txBody>
      </p:sp>
      <p:sp>
        <p:nvSpPr>
          <p:cNvPr id="18" name="TextBox 17"/>
          <p:cNvSpPr txBox="1"/>
          <p:nvPr/>
        </p:nvSpPr>
        <p:spPr>
          <a:xfrm>
            <a:off x="7726679" y="2560320"/>
            <a:ext cx="3749039" cy="1097280"/>
          </a:xfrm>
          <a:prstGeom prst="rect">
            <a:avLst/>
          </a:prstGeom>
          <a:noFill/>
        </p:spPr>
        <p:txBody>
          <a:bodyPr wrap="square" lIns="45720" tIns="18288" rIns="45720" bIns="18288" anchor="t">
            <a:spAutoFit/>
          </a:bodyPr>
          <a:lstStyle/>
          <a:p>
            <a:pPr algn="l">
              <a:spcAft>
                <a:spcPts val="300"/>
              </a:spcAft>
            </a:pPr>
            <a:r>
              <a:rPr sz="1300" b="0" i="0">
                <a:solidFill>
                  <a:srgbClr val="FFFFFF"/>
                </a:solidFill>
                <a:latin typeface="Aptos"/>
              </a:rPr>
              <a:t>Une rénovation ponctuelle</a:t>
            </a:r>
          </a:p>
        </p:txBody>
      </p:sp>
      <p:sp>
        <p:nvSpPr>
          <p:cNvPr id="19" name="TextBox 18"/>
          <p:cNvSpPr txBox="1"/>
          <p:nvPr/>
        </p:nvSpPr>
        <p:spPr>
          <a:xfrm>
            <a:off x="7726679" y="3749039"/>
            <a:ext cx="3749039" cy="457200"/>
          </a:xfrm>
          <a:prstGeom prst="rect">
            <a:avLst/>
          </a:prstGeom>
          <a:noFill/>
        </p:spPr>
        <p:txBody>
          <a:bodyPr wrap="square" lIns="45720" tIns="18288" rIns="45720" bIns="18288" anchor="t">
            <a:spAutoFit/>
          </a:bodyPr>
          <a:lstStyle/>
          <a:p>
            <a:pPr algn="l">
              <a:spcAft>
                <a:spcPts val="300"/>
              </a:spcAft>
            </a:pPr>
            <a:r>
              <a:rPr sz="1400" b="1" i="0">
                <a:solidFill>
                  <a:srgbClr val="FFFFFF"/>
                </a:solidFill>
                <a:latin typeface="Aptos"/>
              </a:rPr>
              <a:t>Tarif</a:t>
            </a:r>
          </a:p>
        </p:txBody>
      </p:sp>
      <p:sp>
        <p:nvSpPr>
          <p:cNvPr id="20" name="TextBox 19"/>
          <p:cNvSpPr txBox="1"/>
          <p:nvPr/>
        </p:nvSpPr>
        <p:spPr>
          <a:xfrm>
            <a:off x="7726679" y="4206240"/>
            <a:ext cx="3749039" cy="1645920"/>
          </a:xfrm>
          <a:prstGeom prst="rect">
            <a:avLst/>
          </a:prstGeom>
          <a:noFill/>
        </p:spPr>
        <p:txBody>
          <a:bodyPr wrap="square" lIns="45720" tIns="18288" rIns="45720" bIns="18288" anchor="t">
            <a:spAutoFit/>
          </a:bodyPr>
          <a:lstStyle/>
          <a:p>
            <a:pPr algn="l">
              <a:spcAft>
                <a:spcPts val="300"/>
              </a:spcAft>
            </a:pPr>
            <a:r>
              <a:rPr sz="1200" b="0" i="0">
                <a:solidFill>
                  <a:srgbClr val="FFFFFF"/>
                </a:solidFill>
                <a:latin typeface="Aptos"/>
              </a:rPr>
              <a:t>50 € une fois
Paiement unique · 1 projet complet · valable 90 jours · sans abonnement</a:t>
            </a:r>
          </a:p>
        </p:txBody>
      </p:sp>
      <p:sp>
        <p:nvSpPr>
          <p:cNvPr id="23" name="Rectangle 22"/>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05</a:t>
            </a:r>
          </a:p>
        </p:txBody>
      </p:sp>
      <p:sp>
        <p:nvSpPr>
          <p:cNvPr id="25" name="Rectangle 24"/>
          <p:cNvSpPr/>
          <p:nvPr/>
        </p:nvSpPr>
        <p:spPr>
          <a:xfrm>
            <a:off x="621792" y="5925312"/>
            <a:ext cx="1271016"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6016752"/>
            <a:ext cx="1124712" cy="118872"/>
          </a:xfrm>
          <a:prstGeom prst="rect">
            <a:avLst/>
          </a:prstGeom>
          <a:noFill/>
        </p:spPr>
        <p:txBody>
          <a:bodyPr wrap="square">
            <a:spAutoFit/>
          </a:bodyPr>
          <a:lstStyle/>
          <a:p>
            <a:pPr algn="ctr"/>
            <a:r>
              <a:rPr sz="800" b="1">
                <a:solidFill>
                  <a:srgbClr val="19A460"/>
                </a:solidFill>
                <a:latin typeface="Aptos"/>
              </a:rPr>
              <a:t>1 PROJET</a:t>
            </a:r>
          </a:p>
        </p:txBody>
      </p:sp>
      <p:sp>
        <p:nvSpPr>
          <p:cNvPr id="27" name="Rectangle 26"/>
          <p:cNvSpPr/>
          <p:nvPr/>
        </p:nvSpPr>
        <p:spPr>
          <a:xfrm>
            <a:off x="2002536" y="5925312"/>
            <a:ext cx="1271016"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075688" y="6016752"/>
            <a:ext cx="1124712" cy="118872"/>
          </a:xfrm>
          <a:prstGeom prst="rect">
            <a:avLst/>
          </a:prstGeom>
          <a:noFill/>
        </p:spPr>
        <p:txBody>
          <a:bodyPr wrap="square">
            <a:spAutoFit/>
          </a:bodyPr>
          <a:lstStyle/>
          <a:p>
            <a:pPr algn="ctr"/>
            <a:r>
              <a:rPr sz="800" b="1">
                <a:solidFill>
                  <a:srgbClr val="19A460"/>
                </a:solidFill>
                <a:latin typeface="Aptos"/>
              </a:rPr>
              <a:t>90 JOURS</a:t>
            </a:r>
          </a:p>
        </p:txBody>
      </p:sp>
      <p:sp>
        <p:nvSpPr>
          <p:cNvPr id="29" name="Rectangle 28"/>
          <p:cNvSpPr/>
          <p:nvPr/>
        </p:nvSpPr>
        <p:spPr>
          <a:xfrm>
            <a:off x="3383280" y="5925312"/>
            <a:ext cx="194310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456432" y="6016752"/>
            <a:ext cx="1796796" cy="118872"/>
          </a:xfrm>
          <a:prstGeom prst="rect">
            <a:avLst/>
          </a:prstGeom>
          <a:noFill/>
        </p:spPr>
        <p:txBody>
          <a:bodyPr wrap="square">
            <a:spAutoFit/>
          </a:bodyPr>
          <a:lstStyle/>
          <a:p>
            <a:pPr algn="ctr"/>
            <a:r>
              <a:rPr sz="800" b="1">
                <a:solidFill>
                  <a:srgbClr val="19A460"/>
                </a:solidFill>
                <a:latin typeface="Aptos"/>
              </a:rPr>
              <a:t>SANS ABONNEMENT</a:t>
            </a:r>
          </a:p>
        </p:txBody>
      </p:sp>
      <p:sp>
        <p:nvSpPr>
          <p:cNvPr id="31" name="Rectangle 30"/>
          <p:cNvSpPr/>
          <p:nvPr/>
        </p:nvSpPr>
        <p:spPr>
          <a:xfrm>
            <a:off x="9555480" y="1353312"/>
            <a:ext cx="1874519" cy="841248"/>
          </a:xfrm>
          <a:prstGeom prst="rect">
            <a:avLst/>
          </a:prstGeom>
          <a:solidFill>
            <a:srgbClr val="E8F7EF"/>
          </a:solidFill>
          <a:ln w="10160">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74352" y="1527048"/>
            <a:ext cx="1645920" cy="256032"/>
          </a:xfrm>
          <a:prstGeom prst="rect">
            <a:avLst/>
          </a:prstGeom>
          <a:noFill/>
        </p:spPr>
        <p:txBody>
          <a:bodyPr wrap="square">
            <a:spAutoFit/>
          </a:bodyPr>
          <a:lstStyle/>
          <a:p>
            <a:pPr algn="ctr"/>
            <a:r>
              <a:rPr sz="1800" b="1">
                <a:solidFill>
                  <a:srgbClr val="FFFFFF"/>
                </a:solidFill>
                <a:latin typeface="Aptos"/>
              </a:rPr>
              <a:t>50 €</a:t>
            </a:r>
          </a:p>
        </p:txBody>
      </p:sp>
      <p:sp>
        <p:nvSpPr>
          <p:cNvPr id="33" name="TextBox 32"/>
          <p:cNvSpPr txBox="1"/>
          <p:nvPr/>
        </p:nvSpPr>
        <p:spPr>
          <a:xfrm>
            <a:off x="9674352" y="1856231"/>
            <a:ext cx="1645920" cy="146304"/>
          </a:xfrm>
          <a:prstGeom prst="rect">
            <a:avLst/>
          </a:prstGeom>
          <a:noFill/>
        </p:spPr>
        <p:txBody>
          <a:bodyPr wrap="square">
            <a:spAutoFit/>
          </a:bodyPr>
          <a:lstStyle/>
          <a:p>
            <a:pPr algn="ctr"/>
            <a:r>
              <a:rPr sz="800" b="0">
                <a:solidFill>
                  <a:srgbClr val="FFFFFF"/>
                </a:solidFill>
                <a:latin typeface="Aptos"/>
              </a:rPr>
              <a:t>une fois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6" name="Rectangle 15"/>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OFFRE · UNE RÉNOVATION PONCTUELLE</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Project Pass — dans le détail</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r>
              <a:rPr sz="2000" b="1" i="0">
                <a:solidFill>
                  <a:srgbClr val="FFFFFF"/>
                </a:solidFill>
                <a:latin typeface="Aptos"/>
              </a:rPr>
              <a:t>50 € une fois</a:t>
            </a: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endParaRP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Un projet complet, débloqué en une fois — idéal pour une rénovation ponctuelle.</a:t>
            </a:r>
          </a:p>
        </p:txBody>
      </p:sp>
      <p:sp>
        <p:nvSpPr>
          <p:cNvPr id="13" name="TextBox 12"/>
          <p:cNvSpPr txBox="1"/>
          <p:nvPr/>
        </p:nvSpPr>
        <p:spPr>
          <a:xfrm>
            <a:off x="457200" y="1920240"/>
            <a:ext cx="5547207" cy="4480560"/>
          </a:xfrm>
          <a:prstGeom prst="rect">
            <a:avLst/>
          </a:prstGeom>
          <a:noFill/>
        </p:spPr>
        <p:txBody>
          <a:bodyPr wrap="square" lIns="45720" rIns="45720">
            <a:normAutofit/>
          </a:bodyPr>
          <a:lstStyle/>
          <a:p>
            <a:pPr>
              <a:spcBef>
                <a:spcPts val="600"/>
              </a:spcBef>
              <a:spcAft>
                <a:spcPts val="300"/>
              </a:spcAft>
            </a:pPr>
            <a:r>
              <a:rPr sz="1300" b="1">
                <a:solidFill>
                  <a:srgbClr val="192A32"/>
                </a:solidFill>
                <a:latin typeface="Aptos"/>
              </a:rPr>
              <a:t>Inclus dans le Pass</a:t>
            </a:r>
          </a:p>
          <a:p>
            <a:pPr>
              <a:spcAft>
                <a:spcPts val="300"/>
              </a:spcAft>
            </a:pPr>
            <a:r>
              <a:rPr sz="1100">
                <a:solidFill>
                  <a:srgbClr val="192A32"/>
                </a:solidFill>
                <a:latin typeface="Aptos"/>
              </a:rPr>
              <a:t>•  Estimation complète avec détail par corps de métier</a:t>
            </a:r>
          </a:p>
          <a:p>
            <a:pPr>
              <a:spcAft>
                <a:spcPts val="300"/>
              </a:spcAft>
            </a:pPr>
            <a:r>
              <a:rPr sz="1100">
                <a:solidFill>
                  <a:srgbClr val="192A32"/>
                </a:solidFill>
                <a:latin typeface="Aptos"/>
              </a:rPr>
              <a:t>•  Matériaux, quantités et prix + panier optimisé</a:t>
            </a:r>
          </a:p>
          <a:p>
            <a:pPr>
              <a:spcAft>
                <a:spcPts val="300"/>
              </a:spcAft>
            </a:pPr>
            <a:r>
              <a:rPr sz="1100">
                <a:solidFill>
                  <a:srgbClr val="192A32"/>
                </a:solidFill>
                <a:latin typeface="Aptos"/>
              </a:rPr>
              <a:t>•  DIY Advisor et IA avancée dédiés à ce projet</a:t>
            </a:r>
          </a:p>
          <a:p>
            <a:pPr>
              <a:spcAft>
                <a:spcPts val="300"/>
              </a:spcAft>
            </a:pPr>
            <a:r>
              <a:rPr sz="1100">
                <a:solidFill>
                  <a:srgbClr val="192A32"/>
                </a:solidFill>
                <a:latin typeface="Aptos"/>
              </a:rPr>
              <a:t>•  Planning + budget, PDF professionnel</a:t>
            </a:r>
          </a:p>
          <a:p>
            <a:pPr>
              <a:spcAft>
                <a:spcPts val="300"/>
              </a:spcAft>
            </a:pPr>
            <a:r>
              <a:rPr sz="1100">
                <a:solidFill>
                  <a:srgbClr val="192A32"/>
                </a:solidFill>
                <a:latin typeface="Aptos"/>
              </a:rPr>
              <a:t>•  Analyse (scanner) de 3 devis d'artisans : explication, vérification des montants</a:t>
            </a:r>
          </a:p>
          <a:p>
            <a:pPr>
              <a:spcAft>
                <a:spcPts val="300"/>
              </a:spcAft>
            </a:pPr>
            <a:r>
              <a:rPr sz="1100">
                <a:solidFill>
                  <a:srgbClr val="192A32"/>
                </a:solidFill>
                <a:latin typeface="Aptos"/>
              </a:rPr>
              <a:t>•  Accès Plan 2D + 3 rendus 3D IA offerts</a:t>
            </a:r>
          </a:p>
        </p:txBody>
      </p:sp>
      <p:sp>
        <p:nvSpPr>
          <p:cNvPr id="14" name="TextBox 13"/>
          <p:cNvSpPr txBox="1"/>
          <p:nvPr/>
        </p:nvSpPr>
        <p:spPr>
          <a:xfrm>
            <a:off x="6187287" y="1920240"/>
            <a:ext cx="5547207" cy="4480560"/>
          </a:xfrm>
          <a:prstGeom prst="rect">
            <a:avLst/>
          </a:prstGeom>
          <a:noFill/>
        </p:spPr>
        <p:txBody>
          <a:bodyPr wrap="square" lIns="45720" rIns="45720">
            <a:normAutofit/>
          </a:bodyPr>
          <a:lstStyle/>
          <a:p>
            <a:pPr>
              <a:spcAft>
                <a:spcPts val="300"/>
              </a:spcAft>
            </a:pPr>
            <a:endParaRPr/>
          </a:p>
        </p:txBody>
      </p:sp>
      <p:sp>
        <p:nvSpPr>
          <p:cNvPr id="17" name="Rectangle 16"/>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2" name="Rectangle 21"/>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OFFRE · PARTICULIERS MULTI-PROJETS, INVESTISSEURS, BAILLEURS</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Premium</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r>
              <a:rPr sz="2000" b="1" i="0">
                <a:solidFill>
                  <a:srgbClr val="FFFFFF"/>
                </a:solidFill>
                <a:latin typeface="Aptos"/>
              </a:rPr>
              <a:t>19 € / mois</a:t>
            </a: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r>
              <a:rPr sz="1100" b="0" i="0">
                <a:solidFill>
                  <a:srgbClr val="FFFFFF"/>
                </a:solidFill>
                <a:latin typeface="Aptos"/>
              </a:rPr>
              <a:t>ou 190 € / an (−17 %) · 7 jours d'essai · projets et estimations illimités</a:t>
            </a: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Le plus populaire : projets illimités, IA complète et comparaison avancée des prix.</a:t>
            </a:r>
          </a:p>
        </p:txBody>
      </p:sp>
      <p:sp>
        <p:nvSpPr>
          <p:cNvPr id="13" name="Rounded Rectangle 12"/>
          <p:cNvSpPr/>
          <p:nvPr/>
        </p:nvSpPr>
        <p:spPr>
          <a:xfrm>
            <a:off x="457200" y="1920240"/>
            <a:ext cx="6766560" cy="43891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4" name="TextBox 13"/>
          <p:cNvSpPr txBox="1"/>
          <p:nvPr/>
        </p:nvSpPr>
        <p:spPr>
          <a:xfrm>
            <a:off x="640080" y="2011680"/>
            <a:ext cx="4572000" cy="365760"/>
          </a:xfrm>
          <a:prstGeom prst="rect">
            <a:avLst/>
          </a:prstGeom>
          <a:noFill/>
        </p:spPr>
        <p:txBody>
          <a:bodyPr wrap="square" lIns="45720" tIns="18288" rIns="45720" bIns="18288" anchor="t">
            <a:spAutoFit/>
          </a:bodyPr>
          <a:lstStyle/>
          <a:p>
            <a:pPr algn="l">
              <a:spcAft>
                <a:spcPts val="300"/>
              </a:spcAft>
            </a:pPr>
            <a:r>
              <a:rPr sz="1600" b="1" i="0">
                <a:solidFill>
                  <a:srgbClr val="192A32"/>
                </a:solidFill>
                <a:latin typeface="Aptos"/>
              </a:rPr>
              <a:t>L'essentiel</a:t>
            </a:r>
          </a:p>
        </p:txBody>
      </p:sp>
      <p:sp>
        <p:nvSpPr>
          <p:cNvPr id="15" name="TextBox 14"/>
          <p:cNvSpPr txBox="1"/>
          <p:nvPr/>
        </p:nvSpPr>
        <p:spPr>
          <a:xfrm>
            <a:off x="640080" y="2468880"/>
            <a:ext cx="6400800" cy="3749039"/>
          </a:xfrm>
          <a:prstGeom prst="rect">
            <a:avLst/>
          </a:prstGeom>
          <a:noFill/>
        </p:spPr>
        <p:txBody>
          <a:bodyPr wrap="square" lIns="45720" rIns="45720">
            <a:normAutofit/>
          </a:bodyPr>
          <a:lstStyle/>
          <a:p>
            <a:pPr>
              <a:spcAft>
                <a:spcPts val="300"/>
              </a:spcAft>
            </a:pPr>
            <a:r>
              <a:rPr sz="1300">
                <a:solidFill>
                  <a:srgbClr val="192A32"/>
                </a:solidFill>
                <a:latin typeface="Aptos"/>
              </a:rPr>
              <a:t>•  Projets et estimations illimités, AI Advisor complet</a:t>
            </a:r>
          </a:p>
          <a:p>
            <a:pPr>
              <a:spcAft>
                <a:spcPts val="300"/>
              </a:spcAft>
            </a:pPr>
            <a:r>
              <a:rPr sz="1300">
                <a:solidFill>
                  <a:srgbClr val="192A32"/>
                </a:solidFill>
                <a:latin typeface="Aptos"/>
              </a:rPr>
              <a:t>•  Scanner de devis illimité : l'IA explique et vérifie</a:t>
            </a:r>
          </a:p>
          <a:p>
            <a:pPr>
              <a:spcAft>
                <a:spcPts val="300"/>
              </a:spcAft>
            </a:pPr>
            <a:r>
              <a:rPr sz="1300">
                <a:solidFill>
                  <a:srgbClr val="192A32"/>
                </a:solidFill>
                <a:latin typeface="Aptos"/>
              </a:rPr>
              <a:t>•  Comparaison avancée, historique et alertes prix</a:t>
            </a:r>
          </a:p>
          <a:p>
            <a:pPr>
              <a:spcAft>
                <a:spcPts val="300"/>
              </a:spcAft>
            </a:pPr>
            <a:r>
              <a:rPr sz="1300">
                <a:solidFill>
                  <a:srgbClr val="192A32"/>
                </a:solidFill>
                <a:latin typeface="Aptos"/>
              </a:rPr>
              <a:t>•  Budget intelligent, planning, suivi des dépenses</a:t>
            </a:r>
          </a:p>
          <a:p>
            <a:pPr>
              <a:spcAft>
                <a:spcPts val="300"/>
              </a:spcAft>
            </a:pPr>
            <a:r>
              <a:rPr sz="1300">
                <a:solidFill>
                  <a:srgbClr val="192A32"/>
                </a:solidFill>
                <a:latin typeface="Aptos"/>
              </a:rPr>
              <a:t>•  Recommandations personnalisées, conseils DIY avancés</a:t>
            </a:r>
          </a:p>
          <a:p>
            <a:pPr>
              <a:spcAft>
                <a:spcPts val="300"/>
              </a:spcAft>
            </a:pPr>
            <a:r>
              <a:rPr sz="1300">
                <a:solidFill>
                  <a:srgbClr val="192A32"/>
                </a:solidFill>
                <a:latin typeface="Aptos"/>
              </a:rPr>
              <a:t>•  Rendus 3D, vidéo 3D et maquette interactive (crédits)</a:t>
            </a:r>
          </a:p>
        </p:txBody>
      </p:sp>
      <p:sp>
        <p:nvSpPr>
          <p:cNvPr id="16" name="Rounded Rectangle 15"/>
          <p:cNvSpPr/>
          <p:nvPr/>
        </p:nvSpPr>
        <p:spPr>
          <a:xfrm>
            <a:off x="7498079" y="1920240"/>
            <a:ext cx="4206240" cy="438912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7" name="TextBox 16"/>
          <p:cNvSpPr txBox="1"/>
          <p:nvPr/>
        </p:nvSpPr>
        <p:spPr>
          <a:xfrm>
            <a:off x="7726679" y="2103120"/>
            <a:ext cx="3749039" cy="457200"/>
          </a:xfrm>
          <a:prstGeom prst="rect">
            <a:avLst/>
          </a:prstGeom>
          <a:noFill/>
        </p:spPr>
        <p:txBody>
          <a:bodyPr wrap="square" lIns="45720" tIns="18288" rIns="45720" bIns="18288" anchor="t">
            <a:spAutoFit/>
          </a:bodyPr>
          <a:lstStyle/>
          <a:p>
            <a:pPr algn="l">
              <a:spcAft>
                <a:spcPts val="300"/>
              </a:spcAft>
            </a:pPr>
            <a:r>
              <a:rPr sz="1400" b="1" i="0">
                <a:solidFill>
                  <a:srgbClr val="FFFFFF"/>
                </a:solidFill>
                <a:latin typeface="Aptos"/>
              </a:rPr>
              <a:t>Pour qui ?</a:t>
            </a:r>
          </a:p>
        </p:txBody>
      </p:sp>
      <p:sp>
        <p:nvSpPr>
          <p:cNvPr id="18" name="TextBox 17"/>
          <p:cNvSpPr txBox="1"/>
          <p:nvPr/>
        </p:nvSpPr>
        <p:spPr>
          <a:xfrm>
            <a:off x="7726679" y="2560320"/>
            <a:ext cx="3749039" cy="1097280"/>
          </a:xfrm>
          <a:prstGeom prst="rect">
            <a:avLst/>
          </a:prstGeom>
          <a:noFill/>
        </p:spPr>
        <p:txBody>
          <a:bodyPr wrap="square" lIns="45720" tIns="18288" rIns="45720" bIns="18288" anchor="t">
            <a:spAutoFit/>
          </a:bodyPr>
          <a:lstStyle/>
          <a:p>
            <a:pPr algn="l">
              <a:spcAft>
                <a:spcPts val="300"/>
              </a:spcAft>
            </a:pPr>
            <a:r>
              <a:rPr sz="1300" b="0" i="0">
                <a:solidFill>
                  <a:srgbClr val="FFFFFF"/>
                </a:solidFill>
                <a:latin typeface="Aptos"/>
              </a:rPr>
              <a:t>Particuliers multi-projets, investisseurs, bailleurs</a:t>
            </a:r>
          </a:p>
        </p:txBody>
      </p:sp>
      <p:sp>
        <p:nvSpPr>
          <p:cNvPr id="19" name="TextBox 18"/>
          <p:cNvSpPr txBox="1"/>
          <p:nvPr/>
        </p:nvSpPr>
        <p:spPr>
          <a:xfrm>
            <a:off x="7726679" y="3749039"/>
            <a:ext cx="3749039" cy="457200"/>
          </a:xfrm>
          <a:prstGeom prst="rect">
            <a:avLst/>
          </a:prstGeom>
          <a:noFill/>
        </p:spPr>
        <p:txBody>
          <a:bodyPr wrap="square" lIns="45720" tIns="18288" rIns="45720" bIns="18288" anchor="t">
            <a:spAutoFit/>
          </a:bodyPr>
          <a:lstStyle/>
          <a:p>
            <a:pPr algn="l">
              <a:spcAft>
                <a:spcPts val="300"/>
              </a:spcAft>
            </a:pPr>
            <a:r>
              <a:rPr sz="1400" b="1" i="0">
                <a:solidFill>
                  <a:srgbClr val="FFFFFF"/>
                </a:solidFill>
                <a:latin typeface="Aptos"/>
              </a:rPr>
              <a:t>Tarif</a:t>
            </a:r>
          </a:p>
        </p:txBody>
      </p:sp>
      <p:sp>
        <p:nvSpPr>
          <p:cNvPr id="20" name="TextBox 19"/>
          <p:cNvSpPr txBox="1"/>
          <p:nvPr/>
        </p:nvSpPr>
        <p:spPr>
          <a:xfrm>
            <a:off x="7726679" y="4206240"/>
            <a:ext cx="3749039" cy="1645920"/>
          </a:xfrm>
          <a:prstGeom prst="rect">
            <a:avLst/>
          </a:prstGeom>
          <a:noFill/>
        </p:spPr>
        <p:txBody>
          <a:bodyPr wrap="square" lIns="45720" tIns="18288" rIns="45720" bIns="18288" anchor="t">
            <a:spAutoFit/>
          </a:bodyPr>
          <a:lstStyle/>
          <a:p>
            <a:pPr algn="l">
              <a:spcAft>
                <a:spcPts val="300"/>
              </a:spcAft>
            </a:pPr>
            <a:r>
              <a:rPr sz="1200" b="0" i="0">
                <a:solidFill>
                  <a:srgbClr val="FFFFFF"/>
                </a:solidFill>
                <a:latin typeface="Aptos"/>
              </a:rPr>
              <a:t>19 € / mois
ou 190 € / an (−17 %) · 7 jours d'essai · projets et estimations illimités</a:t>
            </a:r>
          </a:p>
        </p:txBody>
      </p:sp>
      <p:sp>
        <p:nvSpPr>
          <p:cNvPr id="23" name="Rectangle 22"/>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07</a:t>
            </a:r>
          </a:p>
        </p:txBody>
      </p:sp>
      <p:sp>
        <p:nvSpPr>
          <p:cNvPr id="25" name="Rectangle 24"/>
          <p:cNvSpPr/>
          <p:nvPr/>
        </p:nvSpPr>
        <p:spPr>
          <a:xfrm>
            <a:off x="621792" y="5925312"/>
            <a:ext cx="1271016"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6016752"/>
            <a:ext cx="1124712" cy="118872"/>
          </a:xfrm>
          <a:prstGeom prst="rect">
            <a:avLst/>
          </a:prstGeom>
          <a:noFill/>
        </p:spPr>
        <p:txBody>
          <a:bodyPr wrap="square">
            <a:spAutoFit/>
          </a:bodyPr>
          <a:lstStyle/>
          <a:p>
            <a:pPr algn="ctr"/>
            <a:r>
              <a:rPr sz="800" b="1">
                <a:solidFill>
                  <a:srgbClr val="19A460"/>
                </a:solidFill>
                <a:latin typeface="Aptos"/>
              </a:rPr>
              <a:t>ILLIMITÉ</a:t>
            </a:r>
          </a:p>
        </p:txBody>
      </p:sp>
      <p:sp>
        <p:nvSpPr>
          <p:cNvPr id="27" name="Rectangle 26"/>
          <p:cNvSpPr/>
          <p:nvPr/>
        </p:nvSpPr>
        <p:spPr>
          <a:xfrm>
            <a:off x="2002536" y="5925312"/>
            <a:ext cx="105156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075688" y="6016752"/>
            <a:ext cx="905255" cy="118872"/>
          </a:xfrm>
          <a:prstGeom prst="rect">
            <a:avLst/>
          </a:prstGeom>
          <a:noFill/>
        </p:spPr>
        <p:txBody>
          <a:bodyPr wrap="square">
            <a:spAutoFit/>
          </a:bodyPr>
          <a:lstStyle/>
          <a:p>
            <a:pPr algn="ctr"/>
            <a:r>
              <a:rPr sz="800" b="1">
                <a:solidFill>
                  <a:srgbClr val="19A460"/>
                </a:solidFill>
                <a:latin typeface="Aptos"/>
              </a:rPr>
              <a:t>IA</a:t>
            </a:r>
          </a:p>
        </p:txBody>
      </p:sp>
      <p:sp>
        <p:nvSpPr>
          <p:cNvPr id="29" name="Rectangle 28"/>
          <p:cNvSpPr/>
          <p:nvPr/>
        </p:nvSpPr>
        <p:spPr>
          <a:xfrm>
            <a:off x="3163824" y="5925312"/>
            <a:ext cx="105156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36976" y="6016752"/>
            <a:ext cx="905255" cy="118872"/>
          </a:xfrm>
          <a:prstGeom prst="rect">
            <a:avLst/>
          </a:prstGeom>
          <a:noFill/>
        </p:spPr>
        <p:txBody>
          <a:bodyPr wrap="square">
            <a:spAutoFit/>
          </a:bodyPr>
          <a:lstStyle/>
          <a:p>
            <a:pPr algn="ctr"/>
            <a:r>
              <a:rPr sz="800" b="1">
                <a:solidFill>
                  <a:srgbClr val="19A460"/>
                </a:solidFill>
                <a:latin typeface="Aptos"/>
              </a:rPr>
              <a:t>PRIX</a:t>
            </a:r>
          </a:p>
        </p:txBody>
      </p:sp>
      <p:sp>
        <p:nvSpPr>
          <p:cNvPr id="31" name="Rectangle 30"/>
          <p:cNvSpPr/>
          <p:nvPr/>
        </p:nvSpPr>
        <p:spPr>
          <a:xfrm>
            <a:off x="9555480" y="1353312"/>
            <a:ext cx="1874519" cy="841248"/>
          </a:xfrm>
          <a:prstGeom prst="rect">
            <a:avLst/>
          </a:prstGeom>
          <a:solidFill>
            <a:srgbClr val="E8F7EF"/>
          </a:solidFill>
          <a:ln w="10160">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74352" y="1527048"/>
            <a:ext cx="1645920" cy="256032"/>
          </a:xfrm>
          <a:prstGeom prst="rect">
            <a:avLst/>
          </a:prstGeom>
          <a:noFill/>
        </p:spPr>
        <p:txBody>
          <a:bodyPr wrap="square">
            <a:spAutoFit/>
          </a:bodyPr>
          <a:lstStyle/>
          <a:p>
            <a:pPr algn="ctr"/>
            <a:r>
              <a:rPr sz="1800" b="1">
                <a:solidFill>
                  <a:srgbClr val="FFFFFF"/>
                </a:solidFill>
                <a:latin typeface="Aptos"/>
              </a:rPr>
              <a:t>19 €</a:t>
            </a:r>
          </a:p>
        </p:txBody>
      </p:sp>
      <p:sp>
        <p:nvSpPr>
          <p:cNvPr id="33" name="TextBox 32"/>
          <p:cNvSpPr txBox="1"/>
          <p:nvPr/>
        </p:nvSpPr>
        <p:spPr>
          <a:xfrm>
            <a:off x="9674352" y="1856231"/>
            <a:ext cx="1645920" cy="146304"/>
          </a:xfrm>
          <a:prstGeom prst="rect">
            <a:avLst/>
          </a:prstGeom>
          <a:noFill/>
        </p:spPr>
        <p:txBody>
          <a:bodyPr wrap="square">
            <a:spAutoFit/>
          </a:bodyPr>
          <a:lstStyle/>
          <a:p>
            <a:pPr algn="ctr"/>
            <a:r>
              <a:rPr sz="800" b="0">
                <a:solidFill>
                  <a:srgbClr val="FFFFFF"/>
                </a:solidFill>
                <a:latin typeface="Aptos"/>
              </a:rPr>
              <a:t>/ mois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6" name="Rectangle 15"/>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OFFRE · PARTICULIERS MULTI-PROJETS, INVESTISSEURS, BAILLEURS</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Premium — dans le détail</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r>
              <a:rPr sz="2000" b="1" i="0">
                <a:solidFill>
                  <a:srgbClr val="FFFFFF"/>
                </a:solidFill>
                <a:latin typeface="Aptos"/>
              </a:rPr>
              <a:t>19 € / mois</a:t>
            </a: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endParaRP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Le plus populaire : projets illimités, IA complète et comparaison avancée des prix.</a:t>
            </a:r>
          </a:p>
        </p:txBody>
      </p:sp>
      <p:sp>
        <p:nvSpPr>
          <p:cNvPr id="13" name="TextBox 12"/>
          <p:cNvSpPr txBox="1"/>
          <p:nvPr/>
        </p:nvSpPr>
        <p:spPr>
          <a:xfrm>
            <a:off x="457200" y="1920240"/>
            <a:ext cx="5547207" cy="4480560"/>
          </a:xfrm>
          <a:prstGeom prst="rect">
            <a:avLst/>
          </a:prstGeom>
          <a:noFill/>
        </p:spPr>
        <p:txBody>
          <a:bodyPr wrap="square" lIns="45720" rIns="45720">
            <a:normAutofit/>
          </a:bodyPr>
          <a:lstStyle/>
          <a:p>
            <a:pPr>
              <a:spcBef>
                <a:spcPts val="600"/>
              </a:spcBef>
              <a:spcAft>
                <a:spcPts val="300"/>
              </a:spcAft>
            </a:pPr>
            <a:r>
              <a:rPr sz="1300" b="1">
                <a:solidFill>
                  <a:srgbClr val="192A32"/>
                </a:solidFill>
                <a:latin typeface="Aptos"/>
              </a:rPr>
              <a:t>Tout Particuliers, sans limite</a:t>
            </a:r>
          </a:p>
          <a:p>
            <a:pPr>
              <a:spcAft>
                <a:spcPts val="300"/>
              </a:spcAft>
            </a:pPr>
            <a:r>
              <a:rPr sz="1100">
                <a:solidFill>
                  <a:srgbClr val="192A32"/>
                </a:solidFill>
                <a:latin typeface="Aptos"/>
              </a:rPr>
              <a:t>•  Projets illimités, estimations détaillées illimitées</a:t>
            </a:r>
          </a:p>
          <a:p>
            <a:pPr>
              <a:spcAft>
                <a:spcPts val="300"/>
              </a:spcAft>
            </a:pPr>
            <a:r>
              <a:rPr sz="1100">
                <a:solidFill>
                  <a:srgbClr val="192A32"/>
                </a:solidFill>
                <a:latin typeface="Aptos"/>
              </a:rPr>
              <a:t>•  ConstruPilot AI Advisor complet (coach IA sans limite)</a:t>
            </a:r>
          </a:p>
          <a:p>
            <a:pPr>
              <a:spcAft>
                <a:spcPts val="300"/>
              </a:spcAft>
            </a:pPr>
            <a:r>
              <a:rPr sz="1100">
                <a:solidFill>
                  <a:srgbClr val="192A32"/>
                </a:solidFill>
                <a:latin typeface="Aptos"/>
              </a:rPr>
              <a:t>•  Analyse de devis illimitée (scanner de devis PDF : l'IA explique et vérifie les montants)</a:t>
            </a:r>
          </a:p>
          <a:p>
            <a:pPr>
              <a:spcBef>
                <a:spcPts val="600"/>
              </a:spcBef>
              <a:spcAft>
                <a:spcPts val="300"/>
              </a:spcAft>
            </a:pPr>
            <a:r>
              <a:rPr sz="1300" b="1">
                <a:solidFill>
                  <a:srgbClr val="192A32"/>
                </a:solidFill>
                <a:latin typeface="Aptos"/>
              </a:rPr>
              <a:t>3D &amp; visualisation (crédits)</a:t>
            </a:r>
          </a:p>
          <a:p>
            <a:pPr>
              <a:spcAft>
                <a:spcPts val="300"/>
              </a:spcAft>
            </a:pPr>
            <a:r>
              <a:rPr sz="1100">
                <a:solidFill>
                  <a:srgbClr val="192A32"/>
                </a:solidFill>
                <a:latin typeface="Aptos"/>
              </a:rPr>
              <a:t>•  Rendu 3D IA photoréaliste (5 €), vidéo 3D (10 €), maquette 3D interactive navigable (5 €), partage par lien</a:t>
            </a:r>
          </a:p>
        </p:txBody>
      </p:sp>
      <p:sp>
        <p:nvSpPr>
          <p:cNvPr id="14" name="TextBox 13"/>
          <p:cNvSpPr txBox="1"/>
          <p:nvPr/>
        </p:nvSpPr>
        <p:spPr>
          <a:xfrm>
            <a:off x="6187287" y="1920240"/>
            <a:ext cx="5547207" cy="4480560"/>
          </a:xfrm>
          <a:prstGeom prst="rect">
            <a:avLst/>
          </a:prstGeom>
          <a:noFill/>
        </p:spPr>
        <p:txBody>
          <a:bodyPr wrap="square" lIns="45720" rIns="45720">
            <a:normAutofit/>
          </a:bodyPr>
          <a:lstStyle/>
          <a:p>
            <a:pPr>
              <a:spcBef>
                <a:spcPts val="600"/>
              </a:spcBef>
              <a:spcAft>
                <a:spcPts val="300"/>
              </a:spcAft>
            </a:pPr>
            <a:r>
              <a:rPr sz="1300" b="1">
                <a:solidFill>
                  <a:srgbClr val="192A32"/>
                </a:solidFill>
                <a:latin typeface="Aptos"/>
              </a:rPr>
              <a:t>Prix &amp; budget</a:t>
            </a:r>
          </a:p>
          <a:p>
            <a:pPr>
              <a:spcAft>
                <a:spcPts val="300"/>
              </a:spcAft>
            </a:pPr>
            <a:r>
              <a:rPr sz="1100">
                <a:solidFill>
                  <a:srgbClr val="192A32"/>
                </a:solidFill>
                <a:latin typeface="Aptos"/>
              </a:rPr>
              <a:t>•  Comparaison avancée des prix et historique des prix</a:t>
            </a:r>
          </a:p>
          <a:p>
            <a:pPr>
              <a:spcAft>
                <a:spcPts val="300"/>
              </a:spcAft>
            </a:pPr>
            <a:r>
              <a:rPr sz="1100">
                <a:solidFill>
                  <a:srgbClr val="192A32"/>
                </a:solidFill>
                <a:latin typeface="Aptos"/>
              </a:rPr>
              <a:t>•  Alertes prix, optimisation du panier</a:t>
            </a:r>
          </a:p>
          <a:p>
            <a:pPr>
              <a:spcAft>
                <a:spcPts val="300"/>
              </a:spcAft>
            </a:pPr>
            <a:r>
              <a:rPr sz="1100">
                <a:solidFill>
                  <a:srgbClr val="192A32"/>
                </a:solidFill>
                <a:latin typeface="Aptos"/>
              </a:rPr>
              <a:t>•  Budget intelligent + planning, suivi des dépenses</a:t>
            </a:r>
          </a:p>
          <a:p>
            <a:pPr>
              <a:spcAft>
                <a:spcPts val="300"/>
              </a:spcAft>
            </a:pPr>
            <a:r>
              <a:rPr sz="1100">
                <a:solidFill>
                  <a:srgbClr val="192A32"/>
                </a:solidFill>
                <a:latin typeface="Aptos"/>
              </a:rPr>
              <a:t>•  Recommandations personnalisées, conseils DIY avancés</a:t>
            </a:r>
          </a:p>
          <a:p>
            <a:pPr>
              <a:spcAft>
                <a:spcPts val="300"/>
              </a:spcAft>
            </a:pPr>
            <a:r>
              <a:rPr sz="1100">
                <a:solidFill>
                  <a:srgbClr val="192A32"/>
                </a:solidFill>
                <a:latin typeface="Aptos"/>
              </a:rPr>
              <a:t>•  Export PDF de tous les documents</a:t>
            </a:r>
          </a:p>
        </p:txBody>
      </p:sp>
      <p:sp>
        <p:nvSpPr>
          <p:cNvPr id="17" name="Rectangle 16"/>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2" name="Rectangle 21"/>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OFFRE · ARTISANS, INDÉPENDANTS, TPE DU BÂTIMENT</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Pro</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r>
              <a:rPr sz="2000" b="1" i="0">
                <a:solidFill>
                  <a:srgbClr val="FFFFFF"/>
                </a:solidFill>
                <a:latin typeface="Aptos"/>
              </a:rPr>
              <a:t>149 € HT / mois</a:t>
            </a: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r>
              <a:rPr sz="1100" b="0" i="0">
                <a:solidFill>
                  <a:srgbClr val="FFFFFF"/>
                </a:solidFill>
                <a:latin typeface="Aptos"/>
              </a:rPr>
              <a:t>ou 1 570 € / an · 7 jours d'essai · 1 utilisateur · projets illimités</a:t>
            </a: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Chiffrez à partir d'un plan, d'un CCTP, d'une photo ou de la voix, vendez avec vos marges, faites signer en ligne.</a:t>
            </a:r>
          </a:p>
        </p:txBody>
      </p:sp>
      <p:sp>
        <p:nvSpPr>
          <p:cNvPr id="13" name="Rounded Rectangle 12"/>
          <p:cNvSpPr/>
          <p:nvPr/>
        </p:nvSpPr>
        <p:spPr>
          <a:xfrm>
            <a:off x="457200" y="1920240"/>
            <a:ext cx="6766560" cy="43891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4" name="TextBox 13"/>
          <p:cNvSpPr txBox="1"/>
          <p:nvPr/>
        </p:nvSpPr>
        <p:spPr>
          <a:xfrm>
            <a:off x="640080" y="2011680"/>
            <a:ext cx="4572000" cy="365760"/>
          </a:xfrm>
          <a:prstGeom prst="rect">
            <a:avLst/>
          </a:prstGeom>
          <a:noFill/>
        </p:spPr>
        <p:txBody>
          <a:bodyPr wrap="square" lIns="45720" tIns="18288" rIns="45720" bIns="18288" anchor="t">
            <a:spAutoFit/>
          </a:bodyPr>
          <a:lstStyle/>
          <a:p>
            <a:pPr algn="l">
              <a:spcAft>
                <a:spcPts val="300"/>
              </a:spcAft>
            </a:pPr>
            <a:r>
              <a:rPr sz="1600" b="1" i="0">
                <a:solidFill>
                  <a:srgbClr val="192A32"/>
                </a:solidFill>
                <a:latin typeface="Aptos"/>
              </a:rPr>
              <a:t>L'essentiel</a:t>
            </a:r>
          </a:p>
        </p:txBody>
      </p:sp>
      <p:sp>
        <p:nvSpPr>
          <p:cNvPr id="15" name="TextBox 14"/>
          <p:cNvSpPr txBox="1"/>
          <p:nvPr/>
        </p:nvSpPr>
        <p:spPr>
          <a:xfrm>
            <a:off x="640080" y="2468880"/>
            <a:ext cx="6400800" cy="3749039"/>
          </a:xfrm>
          <a:prstGeom prst="rect">
            <a:avLst/>
          </a:prstGeom>
          <a:noFill/>
        </p:spPr>
        <p:txBody>
          <a:bodyPr wrap="square" lIns="45720" rIns="45720">
            <a:normAutofit/>
          </a:bodyPr>
          <a:lstStyle/>
          <a:p>
            <a:pPr>
              <a:spcAft>
                <a:spcPts val="300"/>
              </a:spcAft>
            </a:pPr>
            <a:r>
              <a:rPr sz="1300">
                <a:solidFill>
                  <a:srgbClr val="192A32"/>
                </a:solidFill>
                <a:latin typeface="Aptos"/>
              </a:rPr>
              <a:t>•  Éditeur de devis + bibliothèque 322 ouvrages + votre bibliothèque</a:t>
            </a:r>
          </a:p>
          <a:p>
            <a:pPr>
              <a:spcAft>
                <a:spcPts val="300"/>
              </a:spcAft>
            </a:pPr>
            <a:r>
              <a:rPr sz="1300">
                <a:solidFill>
                  <a:srgbClr val="192A32"/>
                </a:solidFill>
                <a:latin typeface="Aptos"/>
              </a:rPr>
              <a:t>•  Devis depuis plan, CCTP (IA + OCR), photo, vidéo ou voix</a:t>
            </a:r>
          </a:p>
          <a:p>
            <a:pPr>
              <a:spcAft>
                <a:spcPts val="300"/>
              </a:spcAft>
            </a:pPr>
            <a:r>
              <a:rPr sz="1300">
                <a:solidFill>
                  <a:srgbClr val="192A32"/>
                </a:solidFill>
                <a:latin typeface="Aptos"/>
              </a:rPr>
              <a:t>•  Marges par ligne et par lot, marge cible, alerte marge faible, PDF interne</a:t>
            </a:r>
          </a:p>
          <a:p>
            <a:pPr>
              <a:spcAft>
                <a:spcPts val="300"/>
              </a:spcAft>
            </a:pPr>
            <a:r>
              <a:rPr sz="1300">
                <a:solidFill>
                  <a:srgbClr val="192A32"/>
                </a:solidFill>
                <a:latin typeface="Aptos"/>
              </a:rPr>
              <a:t>•  PDF à votre logo, envoi e-mail, signature en ligne, acompte Stripe</a:t>
            </a:r>
          </a:p>
          <a:p>
            <a:pPr>
              <a:spcAft>
                <a:spcPts val="300"/>
              </a:spcAft>
            </a:pPr>
            <a:r>
              <a:rPr sz="1300">
                <a:solidFill>
                  <a:srgbClr val="192A32"/>
                </a:solidFill>
                <a:latin typeface="Aptos"/>
              </a:rPr>
              <a:t>•  Plans DWG / DXF / PDF : métré béton, escaliers, planchers, étude Permis de Construire</a:t>
            </a:r>
          </a:p>
          <a:p>
            <a:pPr>
              <a:spcAft>
                <a:spcPts val="300"/>
              </a:spcAft>
            </a:pPr>
            <a:r>
              <a:rPr sz="1300">
                <a:solidFill>
                  <a:srgbClr val="192A32"/>
                </a:solidFill>
                <a:latin typeface="Aptos"/>
              </a:rPr>
              <a:t>•  Approvisionnement : acier, étanchéité, toiture, VRD, bons de commande</a:t>
            </a:r>
          </a:p>
          <a:p>
            <a:pPr>
              <a:spcAft>
                <a:spcPts val="300"/>
              </a:spcAft>
            </a:pPr>
            <a:r>
              <a:rPr sz="1300">
                <a:solidFill>
                  <a:srgbClr val="192A32"/>
                </a:solidFill>
                <a:latin typeface="Aptos"/>
              </a:rPr>
              <a:t>•  Radar Chantiers : permis de construire, courrier + QR, envoi postal</a:t>
            </a:r>
          </a:p>
          <a:p>
            <a:pPr>
              <a:spcAft>
                <a:spcPts val="300"/>
              </a:spcAft>
            </a:pPr>
            <a:r>
              <a:rPr sz="1300">
                <a:solidFill>
                  <a:srgbClr val="192A32"/>
                </a:solidFill>
                <a:latin typeface="Aptos"/>
              </a:rPr>
              <a:t>•  CRM clients, leads, avis, badge Pro vérifié</a:t>
            </a:r>
          </a:p>
        </p:txBody>
      </p:sp>
      <p:sp>
        <p:nvSpPr>
          <p:cNvPr id="16" name="Rounded Rectangle 15"/>
          <p:cNvSpPr/>
          <p:nvPr/>
        </p:nvSpPr>
        <p:spPr>
          <a:xfrm>
            <a:off x="7498079" y="1920240"/>
            <a:ext cx="4206240" cy="438912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7" name="TextBox 16"/>
          <p:cNvSpPr txBox="1"/>
          <p:nvPr/>
        </p:nvSpPr>
        <p:spPr>
          <a:xfrm>
            <a:off x="7726679" y="2103120"/>
            <a:ext cx="3749039" cy="457200"/>
          </a:xfrm>
          <a:prstGeom prst="rect">
            <a:avLst/>
          </a:prstGeom>
          <a:noFill/>
        </p:spPr>
        <p:txBody>
          <a:bodyPr wrap="square" lIns="45720" tIns="18288" rIns="45720" bIns="18288" anchor="t">
            <a:spAutoFit/>
          </a:bodyPr>
          <a:lstStyle/>
          <a:p>
            <a:pPr algn="l">
              <a:spcAft>
                <a:spcPts val="300"/>
              </a:spcAft>
            </a:pPr>
            <a:r>
              <a:rPr sz="1400" b="1" i="0">
                <a:solidFill>
                  <a:srgbClr val="FFFFFF"/>
                </a:solidFill>
                <a:latin typeface="Aptos"/>
              </a:rPr>
              <a:t>Pour qui ?</a:t>
            </a:r>
          </a:p>
        </p:txBody>
      </p:sp>
      <p:sp>
        <p:nvSpPr>
          <p:cNvPr id="18" name="TextBox 17"/>
          <p:cNvSpPr txBox="1"/>
          <p:nvPr/>
        </p:nvSpPr>
        <p:spPr>
          <a:xfrm>
            <a:off x="7726679" y="2560320"/>
            <a:ext cx="3749039" cy="1097280"/>
          </a:xfrm>
          <a:prstGeom prst="rect">
            <a:avLst/>
          </a:prstGeom>
          <a:noFill/>
        </p:spPr>
        <p:txBody>
          <a:bodyPr wrap="square" lIns="45720" tIns="18288" rIns="45720" bIns="18288" anchor="t">
            <a:spAutoFit/>
          </a:bodyPr>
          <a:lstStyle/>
          <a:p>
            <a:pPr algn="l">
              <a:spcAft>
                <a:spcPts val="300"/>
              </a:spcAft>
            </a:pPr>
            <a:r>
              <a:rPr sz="1300" b="0" i="0">
                <a:solidFill>
                  <a:srgbClr val="FFFFFF"/>
                </a:solidFill>
                <a:latin typeface="Aptos"/>
              </a:rPr>
              <a:t>Artisans, indépendants, TPE du bâtiment</a:t>
            </a:r>
          </a:p>
        </p:txBody>
      </p:sp>
      <p:sp>
        <p:nvSpPr>
          <p:cNvPr id="19" name="TextBox 18"/>
          <p:cNvSpPr txBox="1"/>
          <p:nvPr/>
        </p:nvSpPr>
        <p:spPr>
          <a:xfrm>
            <a:off x="7726679" y="3749039"/>
            <a:ext cx="3749039" cy="457200"/>
          </a:xfrm>
          <a:prstGeom prst="rect">
            <a:avLst/>
          </a:prstGeom>
          <a:noFill/>
        </p:spPr>
        <p:txBody>
          <a:bodyPr wrap="square" lIns="45720" tIns="18288" rIns="45720" bIns="18288" anchor="t">
            <a:spAutoFit/>
          </a:bodyPr>
          <a:lstStyle/>
          <a:p>
            <a:pPr algn="l">
              <a:spcAft>
                <a:spcPts val="300"/>
              </a:spcAft>
            </a:pPr>
            <a:r>
              <a:rPr sz="1400" b="1" i="0">
                <a:solidFill>
                  <a:srgbClr val="FFFFFF"/>
                </a:solidFill>
                <a:latin typeface="Aptos"/>
              </a:rPr>
              <a:t>Tarif</a:t>
            </a:r>
          </a:p>
        </p:txBody>
      </p:sp>
      <p:sp>
        <p:nvSpPr>
          <p:cNvPr id="20" name="TextBox 19"/>
          <p:cNvSpPr txBox="1"/>
          <p:nvPr/>
        </p:nvSpPr>
        <p:spPr>
          <a:xfrm>
            <a:off x="7726679" y="4206240"/>
            <a:ext cx="3749039" cy="1645920"/>
          </a:xfrm>
          <a:prstGeom prst="rect">
            <a:avLst/>
          </a:prstGeom>
          <a:noFill/>
        </p:spPr>
        <p:txBody>
          <a:bodyPr wrap="square" lIns="45720" tIns="18288" rIns="45720" bIns="18288" anchor="t">
            <a:spAutoFit/>
          </a:bodyPr>
          <a:lstStyle/>
          <a:p>
            <a:pPr algn="l">
              <a:spcAft>
                <a:spcPts val="300"/>
              </a:spcAft>
            </a:pPr>
            <a:r>
              <a:rPr sz="1200" b="0" i="0">
                <a:solidFill>
                  <a:srgbClr val="FFFFFF"/>
                </a:solidFill>
                <a:latin typeface="Aptos"/>
              </a:rPr>
              <a:t>149 € HT / mois
ou 1 570 € / an · 7 jours d'essai · 1 utilisateur · projets illimités</a:t>
            </a:r>
          </a:p>
        </p:txBody>
      </p:sp>
      <p:sp>
        <p:nvSpPr>
          <p:cNvPr id="23" name="Rectangle 22"/>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09</a:t>
            </a:r>
          </a:p>
        </p:txBody>
      </p:sp>
      <p:sp>
        <p:nvSpPr>
          <p:cNvPr id="25" name="Rectangle 24"/>
          <p:cNvSpPr/>
          <p:nvPr/>
        </p:nvSpPr>
        <p:spPr>
          <a:xfrm>
            <a:off x="621792" y="5925312"/>
            <a:ext cx="105156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6016752"/>
            <a:ext cx="905255" cy="118872"/>
          </a:xfrm>
          <a:prstGeom prst="rect">
            <a:avLst/>
          </a:prstGeom>
          <a:noFill/>
        </p:spPr>
        <p:txBody>
          <a:bodyPr wrap="square">
            <a:spAutoFit/>
          </a:bodyPr>
          <a:lstStyle/>
          <a:p>
            <a:pPr algn="ctr"/>
            <a:r>
              <a:rPr sz="800" b="1">
                <a:solidFill>
                  <a:srgbClr val="19A460"/>
                </a:solidFill>
                <a:latin typeface="Aptos"/>
              </a:rPr>
              <a:t>PLAN</a:t>
            </a:r>
          </a:p>
        </p:txBody>
      </p:sp>
      <p:sp>
        <p:nvSpPr>
          <p:cNvPr id="27" name="Rectangle 26"/>
          <p:cNvSpPr/>
          <p:nvPr/>
        </p:nvSpPr>
        <p:spPr>
          <a:xfrm>
            <a:off x="1783080" y="5925312"/>
            <a:ext cx="1367028"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56232" y="6016752"/>
            <a:ext cx="1220724" cy="118872"/>
          </a:xfrm>
          <a:prstGeom prst="rect">
            <a:avLst/>
          </a:prstGeom>
          <a:noFill/>
        </p:spPr>
        <p:txBody>
          <a:bodyPr wrap="square">
            <a:spAutoFit/>
          </a:bodyPr>
          <a:lstStyle/>
          <a:p>
            <a:pPr algn="ctr"/>
            <a:r>
              <a:rPr sz="800" b="1">
                <a:solidFill>
                  <a:srgbClr val="19A460"/>
                </a:solidFill>
                <a:latin typeface="Aptos"/>
              </a:rPr>
              <a:t>CHIFFRAGE</a:t>
            </a:r>
          </a:p>
        </p:txBody>
      </p:sp>
      <p:sp>
        <p:nvSpPr>
          <p:cNvPr id="29" name="Rectangle 28"/>
          <p:cNvSpPr/>
          <p:nvPr/>
        </p:nvSpPr>
        <p:spPr>
          <a:xfrm>
            <a:off x="3259836" y="5925312"/>
            <a:ext cx="105156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332988" y="6016752"/>
            <a:ext cx="905255" cy="118872"/>
          </a:xfrm>
          <a:prstGeom prst="rect">
            <a:avLst/>
          </a:prstGeom>
          <a:noFill/>
        </p:spPr>
        <p:txBody>
          <a:bodyPr wrap="square">
            <a:spAutoFit/>
          </a:bodyPr>
          <a:lstStyle/>
          <a:p>
            <a:pPr algn="ctr"/>
            <a:r>
              <a:rPr sz="800" b="1">
                <a:solidFill>
                  <a:srgbClr val="19A460"/>
                </a:solidFill>
                <a:latin typeface="Aptos"/>
              </a:rPr>
              <a:t>DEVIS</a:t>
            </a:r>
          </a:p>
        </p:txBody>
      </p:sp>
      <p:sp>
        <p:nvSpPr>
          <p:cNvPr id="31" name="Rectangle 30"/>
          <p:cNvSpPr/>
          <p:nvPr/>
        </p:nvSpPr>
        <p:spPr>
          <a:xfrm>
            <a:off x="9555480" y="1353312"/>
            <a:ext cx="1874519" cy="841248"/>
          </a:xfrm>
          <a:prstGeom prst="rect">
            <a:avLst/>
          </a:prstGeom>
          <a:solidFill>
            <a:srgbClr val="E8F7EF"/>
          </a:solidFill>
          <a:ln w="10160">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74352" y="1527048"/>
            <a:ext cx="1645920" cy="256032"/>
          </a:xfrm>
          <a:prstGeom prst="rect">
            <a:avLst/>
          </a:prstGeom>
          <a:noFill/>
        </p:spPr>
        <p:txBody>
          <a:bodyPr wrap="square">
            <a:spAutoFit/>
          </a:bodyPr>
          <a:lstStyle/>
          <a:p>
            <a:pPr algn="ctr"/>
            <a:r>
              <a:rPr sz="1800" b="1">
                <a:solidFill>
                  <a:srgbClr val="FFFFFF"/>
                </a:solidFill>
                <a:latin typeface="Aptos"/>
              </a:rPr>
              <a:t>149 € HT</a:t>
            </a:r>
          </a:p>
        </p:txBody>
      </p:sp>
      <p:sp>
        <p:nvSpPr>
          <p:cNvPr id="33" name="TextBox 32"/>
          <p:cNvSpPr txBox="1"/>
          <p:nvPr/>
        </p:nvSpPr>
        <p:spPr>
          <a:xfrm>
            <a:off x="9674352" y="1856231"/>
            <a:ext cx="1645920" cy="146304"/>
          </a:xfrm>
          <a:prstGeom prst="rect">
            <a:avLst/>
          </a:prstGeom>
          <a:noFill/>
        </p:spPr>
        <p:txBody>
          <a:bodyPr wrap="square">
            <a:spAutoFit/>
          </a:bodyPr>
          <a:lstStyle/>
          <a:p>
            <a:pPr algn="ctr"/>
            <a:r>
              <a:rPr sz="800" b="0">
                <a:solidFill>
                  <a:srgbClr val="FFFFFF"/>
                </a:solidFill>
                <a:latin typeface="Aptos"/>
              </a:rPr>
              <a:t>/ mois</a:t>
            </a:r>
          </a:p>
        </p:txBody>
      </p:sp>
      <p:sp>
        <p:nvSpPr>
          <p:cNvPr id="34" name="Rectangle 33"/>
          <p:cNvSpPr/>
          <p:nvPr/>
        </p:nvSpPr>
        <p:spPr>
          <a:xfrm>
            <a:off x="658368" y="5422392"/>
            <a:ext cx="1783080" cy="393192"/>
          </a:xfrm>
          <a:prstGeom prst="rect">
            <a:avLst/>
          </a:prstGeom>
          <a:solidFill>
            <a:srgbClr val="FFFFFF"/>
          </a:solidFill>
          <a:ln w="10160">
            <a:solidFill>
              <a:srgbClr val="19A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13232" y="5550408"/>
            <a:ext cx="1673352" cy="137160"/>
          </a:xfrm>
          <a:prstGeom prst="rect">
            <a:avLst/>
          </a:prstGeom>
          <a:noFill/>
        </p:spPr>
        <p:txBody>
          <a:bodyPr wrap="square">
            <a:spAutoFit/>
          </a:bodyPr>
          <a:lstStyle/>
          <a:p>
            <a:pPr algn="ctr"/>
            <a:r>
              <a:rPr sz="800" b="1">
                <a:solidFill>
                  <a:srgbClr val="19A460"/>
                </a:solidFill>
                <a:latin typeface="Aptos"/>
              </a:rPr>
              <a:t>PLAN</a:t>
            </a:r>
          </a:p>
        </p:txBody>
      </p:sp>
      <p:sp>
        <p:nvSpPr>
          <p:cNvPr id="36" name="TextBox 35"/>
          <p:cNvSpPr txBox="1"/>
          <p:nvPr/>
        </p:nvSpPr>
        <p:spPr>
          <a:xfrm>
            <a:off x="2468880" y="5513832"/>
            <a:ext cx="310896" cy="164592"/>
          </a:xfrm>
          <a:prstGeom prst="rect">
            <a:avLst/>
          </a:prstGeom>
          <a:noFill/>
        </p:spPr>
        <p:txBody>
          <a:bodyPr wrap="square">
            <a:spAutoFit/>
          </a:bodyPr>
          <a:lstStyle/>
          <a:p>
            <a:pPr algn="ctr"/>
            <a:r>
              <a:rPr sz="1100" b="1">
                <a:solidFill>
                  <a:srgbClr val="5B6C72"/>
                </a:solidFill>
                <a:latin typeface="Aptos"/>
              </a:rPr>
              <a:t>→</a:t>
            </a:r>
          </a:p>
        </p:txBody>
      </p:sp>
      <p:sp>
        <p:nvSpPr>
          <p:cNvPr id="37" name="Rectangle 36"/>
          <p:cNvSpPr/>
          <p:nvPr/>
        </p:nvSpPr>
        <p:spPr>
          <a:xfrm>
            <a:off x="2898648" y="5422392"/>
            <a:ext cx="1783080" cy="393192"/>
          </a:xfrm>
          <a:prstGeom prst="rect">
            <a:avLst/>
          </a:prstGeom>
          <a:solidFill>
            <a:srgbClr val="FFFFFF"/>
          </a:solidFill>
          <a:ln w="10160">
            <a:solidFill>
              <a:srgbClr val="19A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953512" y="5550408"/>
            <a:ext cx="1673352" cy="137160"/>
          </a:xfrm>
          <a:prstGeom prst="rect">
            <a:avLst/>
          </a:prstGeom>
          <a:noFill/>
        </p:spPr>
        <p:txBody>
          <a:bodyPr wrap="square">
            <a:spAutoFit/>
          </a:bodyPr>
          <a:lstStyle/>
          <a:p>
            <a:pPr algn="ctr"/>
            <a:r>
              <a:rPr sz="800" b="1">
                <a:solidFill>
                  <a:srgbClr val="19A460"/>
                </a:solidFill>
                <a:latin typeface="Aptos"/>
              </a:rPr>
              <a:t>MÉTRÉ</a:t>
            </a:r>
          </a:p>
        </p:txBody>
      </p:sp>
      <p:sp>
        <p:nvSpPr>
          <p:cNvPr id="39" name="TextBox 38"/>
          <p:cNvSpPr txBox="1"/>
          <p:nvPr/>
        </p:nvSpPr>
        <p:spPr>
          <a:xfrm>
            <a:off x="4709160" y="5513832"/>
            <a:ext cx="310896" cy="164592"/>
          </a:xfrm>
          <a:prstGeom prst="rect">
            <a:avLst/>
          </a:prstGeom>
          <a:noFill/>
        </p:spPr>
        <p:txBody>
          <a:bodyPr wrap="square">
            <a:spAutoFit/>
          </a:bodyPr>
          <a:lstStyle/>
          <a:p>
            <a:pPr algn="ctr"/>
            <a:r>
              <a:rPr sz="1100" b="1">
                <a:solidFill>
                  <a:srgbClr val="5B6C72"/>
                </a:solidFill>
                <a:latin typeface="Aptos"/>
              </a:rPr>
              <a:t>→</a:t>
            </a:r>
          </a:p>
        </p:txBody>
      </p:sp>
      <p:sp>
        <p:nvSpPr>
          <p:cNvPr id="40" name="Rectangle 39"/>
          <p:cNvSpPr/>
          <p:nvPr/>
        </p:nvSpPr>
        <p:spPr>
          <a:xfrm>
            <a:off x="5138928" y="5422392"/>
            <a:ext cx="1783080" cy="393192"/>
          </a:xfrm>
          <a:prstGeom prst="rect">
            <a:avLst/>
          </a:prstGeom>
          <a:solidFill>
            <a:srgbClr val="FFFFFF"/>
          </a:solidFill>
          <a:ln w="10160">
            <a:solidFill>
              <a:srgbClr val="19A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93792" y="5550408"/>
            <a:ext cx="1673352" cy="137160"/>
          </a:xfrm>
          <a:prstGeom prst="rect">
            <a:avLst/>
          </a:prstGeom>
          <a:noFill/>
        </p:spPr>
        <p:txBody>
          <a:bodyPr wrap="square">
            <a:spAutoFit/>
          </a:bodyPr>
          <a:lstStyle/>
          <a:p>
            <a:pPr algn="ctr"/>
            <a:r>
              <a:rPr sz="800" b="1">
                <a:solidFill>
                  <a:srgbClr val="19A460"/>
                </a:solidFill>
                <a:latin typeface="Aptos"/>
              </a:rPr>
              <a:t>PRIX</a:t>
            </a:r>
          </a:p>
        </p:txBody>
      </p:sp>
      <p:sp>
        <p:nvSpPr>
          <p:cNvPr id="42" name="TextBox 41"/>
          <p:cNvSpPr txBox="1"/>
          <p:nvPr/>
        </p:nvSpPr>
        <p:spPr>
          <a:xfrm>
            <a:off x="6949440" y="5513832"/>
            <a:ext cx="310896" cy="164592"/>
          </a:xfrm>
          <a:prstGeom prst="rect">
            <a:avLst/>
          </a:prstGeom>
          <a:noFill/>
        </p:spPr>
        <p:txBody>
          <a:bodyPr wrap="square">
            <a:spAutoFit/>
          </a:bodyPr>
          <a:lstStyle/>
          <a:p>
            <a:pPr algn="ctr"/>
            <a:r>
              <a:rPr sz="1100" b="1">
                <a:solidFill>
                  <a:srgbClr val="5B6C72"/>
                </a:solidFill>
                <a:latin typeface="Aptos"/>
              </a:rPr>
              <a:t>→</a:t>
            </a:r>
          </a:p>
        </p:txBody>
      </p:sp>
      <p:sp>
        <p:nvSpPr>
          <p:cNvPr id="43" name="Rectangle 42"/>
          <p:cNvSpPr/>
          <p:nvPr/>
        </p:nvSpPr>
        <p:spPr>
          <a:xfrm>
            <a:off x="7379208" y="5422392"/>
            <a:ext cx="1783080" cy="393192"/>
          </a:xfrm>
          <a:prstGeom prst="rect">
            <a:avLst/>
          </a:prstGeom>
          <a:solidFill>
            <a:srgbClr val="FFFFFF"/>
          </a:solidFill>
          <a:ln w="10160">
            <a:solidFill>
              <a:srgbClr val="19A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434072" y="5550408"/>
            <a:ext cx="1673352" cy="137160"/>
          </a:xfrm>
          <a:prstGeom prst="rect">
            <a:avLst/>
          </a:prstGeom>
          <a:noFill/>
        </p:spPr>
        <p:txBody>
          <a:bodyPr wrap="square">
            <a:spAutoFit/>
          </a:bodyPr>
          <a:lstStyle/>
          <a:p>
            <a:pPr algn="ctr"/>
            <a:r>
              <a:rPr sz="800" b="1">
                <a:solidFill>
                  <a:srgbClr val="FFFFFF"/>
                </a:solidFill>
                <a:latin typeface="Aptos"/>
              </a:rPr>
              <a:t>MARGE</a:t>
            </a:r>
          </a:p>
        </p:txBody>
      </p:sp>
      <p:sp>
        <p:nvSpPr>
          <p:cNvPr id="45" name="TextBox 44"/>
          <p:cNvSpPr txBox="1"/>
          <p:nvPr/>
        </p:nvSpPr>
        <p:spPr>
          <a:xfrm>
            <a:off x="9189720" y="5513832"/>
            <a:ext cx="310896" cy="164592"/>
          </a:xfrm>
          <a:prstGeom prst="rect">
            <a:avLst/>
          </a:prstGeom>
          <a:noFill/>
        </p:spPr>
        <p:txBody>
          <a:bodyPr wrap="square">
            <a:spAutoFit/>
          </a:bodyPr>
          <a:lstStyle/>
          <a:p>
            <a:pPr algn="ctr"/>
            <a:r>
              <a:rPr sz="1100" b="1">
                <a:solidFill>
                  <a:srgbClr val="FFFFFF"/>
                </a:solidFill>
                <a:latin typeface="Aptos"/>
              </a:rPr>
              <a:t>→</a:t>
            </a:r>
          </a:p>
        </p:txBody>
      </p:sp>
      <p:sp>
        <p:nvSpPr>
          <p:cNvPr id="46" name="Rectangle 45"/>
          <p:cNvSpPr/>
          <p:nvPr/>
        </p:nvSpPr>
        <p:spPr>
          <a:xfrm>
            <a:off x="9619488" y="5422392"/>
            <a:ext cx="1783080" cy="393192"/>
          </a:xfrm>
          <a:prstGeom prst="rect">
            <a:avLst/>
          </a:prstGeom>
          <a:solidFill>
            <a:srgbClr val="FFFFFF"/>
          </a:solidFill>
          <a:ln w="10160">
            <a:solidFill>
              <a:srgbClr val="19A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5550408"/>
            <a:ext cx="1673352" cy="137160"/>
          </a:xfrm>
          <a:prstGeom prst="rect">
            <a:avLst/>
          </a:prstGeom>
          <a:noFill/>
        </p:spPr>
        <p:txBody>
          <a:bodyPr wrap="square">
            <a:spAutoFit/>
          </a:bodyPr>
          <a:lstStyle/>
          <a:p>
            <a:pPr algn="ctr"/>
            <a:r>
              <a:rPr sz="800" b="1">
                <a:solidFill>
                  <a:srgbClr val="FFFFFF"/>
                </a:solidFill>
                <a:latin typeface="Aptos"/>
              </a:rPr>
              <a:t>SIGNATURE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7" name="Rectangle 16"/>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OFFRE · ARTISANS, INDÉPENDANTS, TPE DU BÂTIMENT</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Pro — dans le détail</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r>
              <a:rPr sz="2000" b="1" i="0">
                <a:solidFill>
                  <a:srgbClr val="FFFFFF"/>
                </a:solidFill>
                <a:latin typeface="Aptos"/>
              </a:rPr>
              <a:t>149 € HT / mois</a:t>
            </a: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endParaRP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Chiffrez à partir d'un plan, d'un CCTP, d'une photo ou de la voix, vendez avec vos marges, faites signer en ligne.</a:t>
            </a:r>
          </a:p>
        </p:txBody>
      </p:sp>
      <p:sp>
        <p:nvSpPr>
          <p:cNvPr id="13" name="TextBox 12"/>
          <p:cNvSpPr txBox="1"/>
          <p:nvPr/>
        </p:nvSpPr>
        <p:spPr>
          <a:xfrm>
            <a:off x="457200" y="1920240"/>
            <a:ext cx="3637178" cy="4480560"/>
          </a:xfrm>
          <a:prstGeom prst="rect">
            <a:avLst/>
          </a:prstGeom>
          <a:noFill/>
        </p:spPr>
        <p:txBody>
          <a:bodyPr wrap="square" lIns="45720" rIns="45720">
            <a:normAutofit/>
          </a:bodyPr>
          <a:lstStyle/>
          <a:p>
            <a:pPr>
              <a:spcBef>
                <a:spcPts val="600"/>
              </a:spcBef>
              <a:spcAft>
                <a:spcPts val="300"/>
              </a:spcAft>
            </a:pPr>
            <a:r>
              <a:rPr sz="1100" b="1">
                <a:solidFill>
                  <a:srgbClr val="192A32"/>
                </a:solidFill>
                <a:latin typeface="Aptos"/>
              </a:rPr>
              <a:t>Devis &amp; factures</a:t>
            </a:r>
          </a:p>
          <a:p>
            <a:pPr>
              <a:spcAft>
                <a:spcPts val="300"/>
              </a:spcAft>
            </a:pPr>
            <a:r>
              <a:rPr sz="900">
                <a:solidFill>
                  <a:srgbClr val="192A32"/>
                </a:solidFill>
                <a:latin typeface="Aptos"/>
              </a:rPr>
              <a:t>•  Éditeur de devis : lots, lignes, TVA 0 / 5,5 / 10 / 20 % (PT : 0 / 6 / 13 / 23 %, règle IVA 6 % réhabilitation), remises, notes, auto-sauvegarde</a:t>
            </a:r>
          </a:p>
          <a:p>
            <a:pPr>
              <a:spcAft>
                <a:spcPts val="300"/>
              </a:spcAft>
            </a:pPr>
            <a:r>
              <a:rPr sz="900">
                <a:solidFill>
                  <a:srgbClr val="192A32"/>
                </a:solidFill>
                <a:latin typeface="Aptos"/>
              </a:rPr>
              <a:t>•  Bibliothèque de prix partagée (322 ouvrages FR, 3 gammes) + ma bibliothèque entreprise (import Excel / BPU / anciens devis PDF), ouvrages composés, suggestions IA</a:t>
            </a:r>
          </a:p>
          <a:p>
            <a:pPr>
              <a:spcAft>
                <a:spcPts val="300"/>
              </a:spcAft>
            </a:pPr>
            <a:r>
              <a:rPr sz="900">
                <a:solidFill>
                  <a:srgbClr val="192A32"/>
                </a:solidFill>
                <a:latin typeface="Aptos"/>
              </a:rPr>
              <a:t>•  Devis depuis : texte ou dictée vocale (Whisper), photo / vidéo du chantier, plan (métré → devis), CCTP / DPGF (IA + OCR des PDF scannés, multi-lots, mémoire des lots à garder)</a:t>
            </a:r>
          </a:p>
          <a:p>
            <a:pPr>
              <a:spcAft>
                <a:spcPts val="300"/>
              </a:spcAft>
            </a:pPr>
            <a:r>
              <a:rPr sz="900">
                <a:solidFill>
                  <a:srgbClr val="192A32"/>
                </a:solidFill>
                <a:latin typeface="Aptos"/>
              </a:rPr>
              <a:t>•  Devis multi-plans consolidé (gros œuvre, maison, ferraillage) avec sous-traitance TVA 0 %</a:t>
            </a:r>
          </a:p>
          <a:p>
            <a:pPr>
              <a:spcAft>
                <a:spcPts val="300"/>
              </a:spcAft>
            </a:pPr>
            <a:r>
              <a:rPr sz="900">
                <a:solidFill>
                  <a:srgbClr val="192A32"/>
                </a:solidFill>
                <a:latin typeface="Aptos"/>
              </a:rPr>
              <a:t>•  PDF au logo de l'entreprise (couleurs, SIRET, TVA, RIB ; NIF / Alvará au Portugal), envoi par e-mail via votre SMTP ou ConstruPilot, pièces jointes, modèles de messages, suivi d'ouverture, relances</a:t>
            </a:r>
          </a:p>
          <a:p>
            <a:pPr>
              <a:spcAft>
                <a:spcPts val="300"/>
              </a:spcAft>
            </a:pPr>
            <a:r>
              <a:rPr sz="900">
                <a:solidFill>
                  <a:srgbClr val="192A32"/>
                </a:solidFill>
                <a:latin typeface="Aptos"/>
              </a:rPr>
              <a:t>•  Signature électronique en ligne (signature dessinée) + acompte Stripe à la signature (30 % paramétrable)</a:t>
            </a:r>
          </a:p>
          <a:p>
            <a:pPr>
              <a:spcAft>
                <a:spcPts val="300"/>
              </a:spcAft>
            </a:pPr>
            <a:r>
              <a:rPr sz="900">
                <a:solidFill>
                  <a:srgbClr val="192A32"/>
                </a:solidFill>
                <a:latin typeface="Aptos"/>
              </a:rPr>
              <a:t>•  Option Facturation (5 €/mois) : factures, acompte, situations, solde, décompte général, avoirs, suivi des paiements, facturation électronique Factur-X</a:t>
            </a:r>
          </a:p>
        </p:txBody>
      </p:sp>
      <p:sp>
        <p:nvSpPr>
          <p:cNvPr id="14" name="TextBox 13"/>
          <p:cNvSpPr txBox="1"/>
          <p:nvPr/>
        </p:nvSpPr>
        <p:spPr>
          <a:xfrm>
            <a:off x="4277258" y="1920240"/>
            <a:ext cx="3637178" cy="4480560"/>
          </a:xfrm>
          <a:prstGeom prst="rect">
            <a:avLst/>
          </a:prstGeom>
          <a:noFill/>
        </p:spPr>
        <p:txBody>
          <a:bodyPr wrap="square" lIns="45720" rIns="45720">
            <a:normAutofit/>
          </a:bodyPr>
          <a:lstStyle/>
          <a:p>
            <a:pPr>
              <a:spcBef>
                <a:spcPts val="600"/>
              </a:spcBef>
              <a:spcAft>
                <a:spcPts val="300"/>
              </a:spcAft>
            </a:pPr>
            <a:r>
              <a:rPr sz="1100" b="1">
                <a:solidFill>
                  <a:srgbClr val="192A32"/>
                </a:solidFill>
                <a:latin typeface="Aptos"/>
              </a:rPr>
              <a:t>Marges &amp; rentabilité</a:t>
            </a:r>
          </a:p>
          <a:p>
            <a:pPr>
              <a:spcAft>
                <a:spcPts val="300"/>
              </a:spcAft>
            </a:pPr>
            <a:r>
              <a:rPr sz="900">
                <a:solidFill>
                  <a:srgbClr val="192A32"/>
                </a:solidFill>
                <a:latin typeface="Aptos"/>
              </a:rPr>
              <a:t>•  Coût de revient par ligne, marge € et % par ligne et par lot, lignes « à perte » signalées</a:t>
            </a:r>
          </a:p>
          <a:p>
            <a:pPr>
              <a:spcAft>
                <a:spcPts val="300"/>
              </a:spcAft>
            </a:pPr>
            <a:r>
              <a:rPr sz="900">
                <a:solidFill>
                  <a:srgbClr val="192A32"/>
                </a:solidFill>
                <a:latin typeface="Aptos"/>
              </a:rPr>
              <a:t>•  Marge cible globale et par lot (calcul automatique du prix de vente), alerte marge faible avant envoi</a:t>
            </a:r>
          </a:p>
          <a:p>
            <a:pPr>
              <a:spcAft>
                <a:spcPts val="300"/>
              </a:spcAft>
            </a:pPr>
            <a:r>
              <a:rPr sz="900">
                <a:solidFill>
                  <a:srgbClr val="192A32"/>
                </a:solidFill>
                <a:latin typeface="Aptos"/>
              </a:rPr>
              <a:t>•  PDF interne « ne pas transmettre au client » : coûts, marges par lot, synthèse</a:t>
            </a:r>
          </a:p>
          <a:p>
            <a:pPr>
              <a:spcAft>
                <a:spcPts val="300"/>
              </a:spcAft>
            </a:pPr>
            <a:r>
              <a:rPr sz="900">
                <a:solidFill>
                  <a:srgbClr val="192A32"/>
                </a:solidFill>
                <a:latin typeface="Aptos"/>
              </a:rPr>
              <a:t>•  Analyse de rentabilité, IA professionnelle</a:t>
            </a:r>
          </a:p>
          <a:p>
            <a:pPr>
              <a:spcBef>
                <a:spcPts val="600"/>
              </a:spcBef>
              <a:spcAft>
                <a:spcPts val="300"/>
              </a:spcAft>
            </a:pPr>
            <a:r>
              <a:rPr sz="1100" b="1">
                <a:solidFill>
                  <a:srgbClr val="192A32"/>
                </a:solidFill>
                <a:latin typeface="Aptos"/>
              </a:rPr>
              <a:t>Approvisionnement &amp; fournisseurs</a:t>
            </a:r>
          </a:p>
          <a:p>
            <a:pPr>
              <a:spcAft>
                <a:spcPts val="300"/>
              </a:spcAft>
            </a:pPr>
            <a:r>
              <a:rPr sz="900">
                <a:solidFill>
                  <a:srgbClr val="192A32"/>
                </a:solidFill>
                <a:latin typeface="Aptos"/>
              </a:rPr>
              <a:t>•  Ferraillage / acier : lecture IA des plans → bordereau HA6…HA32, treillis, tonnage, quantités commandables (pertes, longueur de barre)</a:t>
            </a:r>
          </a:p>
          <a:p>
            <a:pPr>
              <a:spcAft>
                <a:spcPts val="300"/>
              </a:spcAft>
            </a:pPr>
            <a:r>
              <a:rPr sz="900">
                <a:solidFill>
                  <a:srgbClr val="192A32"/>
                </a:solidFill>
                <a:latin typeface="Aptos"/>
              </a:rPr>
              <a:t>•  Étanchéité (toiture-terrasse), toiture (tuiles, ardoises, bac acier…), VRD / réseaux et tranchées</a:t>
            </a:r>
          </a:p>
          <a:p>
            <a:pPr>
              <a:spcAft>
                <a:spcPts val="300"/>
              </a:spcAft>
            </a:pPr>
            <a:r>
              <a:rPr sz="900">
                <a:solidFill>
                  <a:srgbClr val="192A32"/>
                </a:solidFill>
                <a:latin typeface="Aptos"/>
              </a:rPr>
              <a:t>•  Fournisseurs (agence, n° client, catégories), export CSV, bons de commande, fusion multi-plans, statuts brouillon / envoyé / confirmé</a:t>
            </a:r>
          </a:p>
          <a:p>
            <a:pPr>
              <a:spcAft>
                <a:spcPts val="300"/>
              </a:spcAft>
            </a:pPr>
            <a:r>
              <a:rPr sz="900">
                <a:solidFill>
                  <a:srgbClr val="192A32"/>
                </a:solidFill>
                <a:latin typeface="Aptos"/>
              </a:rPr>
              <a:t>•  Chiffrage DPGF automatique : vos prix d'abord, l'IA en repli</a:t>
            </a:r>
          </a:p>
        </p:txBody>
      </p:sp>
      <p:sp>
        <p:nvSpPr>
          <p:cNvPr id="15" name="TextBox 14"/>
          <p:cNvSpPr txBox="1"/>
          <p:nvPr/>
        </p:nvSpPr>
        <p:spPr>
          <a:xfrm>
            <a:off x="8097316" y="1920240"/>
            <a:ext cx="3637178" cy="4480560"/>
          </a:xfrm>
          <a:prstGeom prst="rect">
            <a:avLst/>
          </a:prstGeom>
          <a:noFill/>
        </p:spPr>
        <p:txBody>
          <a:bodyPr wrap="square" lIns="45720" rIns="45720">
            <a:normAutofit/>
          </a:bodyPr>
          <a:lstStyle/>
          <a:p>
            <a:pPr>
              <a:spcBef>
                <a:spcPts val="600"/>
              </a:spcBef>
              <a:spcAft>
                <a:spcPts val="300"/>
              </a:spcAft>
            </a:pPr>
            <a:r>
              <a:rPr sz="1100" b="1">
                <a:solidFill>
                  <a:srgbClr val="192A32"/>
                </a:solidFill>
                <a:latin typeface="Aptos"/>
              </a:rPr>
              <a:t>Plans &amp; métré</a:t>
            </a:r>
          </a:p>
          <a:p>
            <a:pPr>
              <a:spcAft>
                <a:spcPts val="300"/>
              </a:spcAft>
            </a:pPr>
            <a:r>
              <a:rPr sz="900">
                <a:solidFill>
                  <a:srgbClr val="192A32"/>
                </a:solidFill>
                <a:latin typeface="Aptos"/>
              </a:rPr>
              <a:t>•  Import DWG (conversion automatique) / DXF / PDF / images : rendu fidèle (cotes, textes, cartouche), calibration automatique de l'échelle</a:t>
            </a:r>
          </a:p>
          <a:p>
            <a:pPr>
              <a:spcAft>
                <a:spcPts val="300"/>
              </a:spcAft>
            </a:pPr>
            <a:r>
              <a:rPr sz="900">
                <a:solidFill>
                  <a:srgbClr val="192A32"/>
                </a:solidFill>
                <a:latin typeface="Aptos"/>
              </a:rPr>
              <a:t>•  Détection IA des pièces, murs, ouvertures, poteaux, poutres, dalles ; métré structure béton par calques (murs, planchers, escaliers, poutres, poteaux → m³, coffrage, aciers, €)</a:t>
            </a:r>
          </a:p>
          <a:p>
            <a:pPr>
              <a:spcAft>
                <a:spcPts val="300"/>
              </a:spcAft>
            </a:pPr>
            <a:r>
              <a:rPr sz="900">
                <a:solidFill>
                  <a:srgbClr val="192A32"/>
                </a:solidFill>
                <a:latin typeface="Aptos"/>
              </a:rPr>
              <a:t>•  Outils de mesure (distance, surface polygone, historique), plein écran, contraste, comparaison de 2 versions de plan, assistant IA d'édition en langage naturel</a:t>
            </a:r>
          </a:p>
          <a:p>
            <a:pPr>
              <a:spcAft>
                <a:spcPts val="300"/>
              </a:spcAft>
            </a:pPr>
            <a:r>
              <a:rPr sz="900">
                <a:solidFill>
                  <a:srgbClr val="192A32"/>
                </a:solidFill>
                <a:latin typeface="Aptos"/>
              </a:rPr>
              <a:t>•  Mesure sur photo, estimation par pièce (peinture, sol, plomberie, maçonnerie…) avec choix du bloc et enduit</a:t>
            </a:r>
          </a:p>
          <a:p>
            <a:pPr>
              <a:spcAft>
                <a:spcPts val="300"/>
              </a:spcAft>
            </a:pPr>
            <a:r>
              <a:rPr sz="900">
                <a:solidFill>
                  <a:srgbClr val="192A32"/>
                </a:solidFill>
                <a:latin typeface="Aptos"/>
              </a:rPr>
              <a:t>•  Étude Permis de Construire gros œuvre : estimation par niveau, planning Gantt, météo, comparateur négoces, bon de commande, envoi et signature client, relances automatiques</a:t>
            </a:r>
          </a:p>
          <a:p>
            <a:pPr>
              <a:spcBef>
                <a:spcPts val="600"/>
              </a:spcBef>
              <a:spcAft>
                <a:spcPts val="300"/>
              </a:spcAft>
            </a:pPr>
            <a:r>
              <a:rPr sz="1100" b="1">
                <a:solidFill>
                  <a:srgbClr val="192A32"/>
                </a:solidFill>
                <a:latin typeface="Aptos"/>
              </a:rPr>
              <a:t>Clients, leads &amp; réputation</a:t>
            </a:r>
          </a:p>
          <a:p>
            <a:pPr>
              <a:spcAft>
                <a:spcPts val="300"/>
              </a:spcAft>
            </a:pPr>
            <a:r>
              <a:rPr sz="900">
                <a:solidFill>
                  <a:srgbClr val="192A32"/>
                </a:solidFill>
                <a:latin typeface="Aptos"/>
              </a:rPr>
              <a:t>•  CRM clients et projets, suivi des devis (vus, signés, relances), portail client</a:t>
            </a:r>
          </a:p>
          <a:p>
            <a:pPr>
              <a:spcAft>
                <a:spcPts val="300"/>
              </a:spcAft>
            </a:pPr>
            <a:r>
              <a:rPr sz="900">
                <a:solidFill>
                  <a:srgbClr val="192A32"/>
                </a:solidFill>
                <a:latin typeface="Aptos"/>
              </a:rPr>
              <a:t>•  Mes demandes : leads de particuliers avec scoring, notifications, e-mail</a:t>
            </a:r>
          </a:p>
          <a:p>
            <a:pPr>
              <a:spcAft>
                <a:spcPts val="300"/>
              </a:spcAft>
            </a:pPr>
            <a:r>
              <a:rPr sz="900">
                <a:solidFill>
                  <a:srgbClr val="192A32"/>
                </a:solidFill>
                <a:latin typeface="Aptos"/>
              </a:rPr>
              <a:t>•  Avis clients collectés par lien, badge « Pro vérifié » (KYC K-bis + SIRET + décennale)</a:t>
            </a:r>
          </a:p>
          <a:p>
            <a:pPr>
              <a:spcAft>
                <a:spcPts val="300"/>
              </a:spcAft>
            </a:pPr>
            <a:r>
              <a:rPr sz="900">
                <a:solidFill>
                  <a:srgbClr val="192A32"/>
                </a:solidFill>
                <a:latin typeface="Aptos"/>
              </a:rPr>
              <a:t>•  Radar Chantiers, rendus 3D, accès API développeurs (voir pages suivantes)</a:t>
            </a:r>
          </a:p>
        </p:txBody>
      </p:sp>
      <p:sp>
        <p:nvSpPr>
          <p:cNvPr id="18" name="Rectangle 17"/>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22" name="Rectangle 21"/>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OFFRE · PME DU BÂTIMENT, ENTREPRISES GÉNÉRALES, BUREAUX D'ÉTUDES</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Pro Business</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r>
              <a:rPr sz="2000" b="1" i="0">
                <a:solidFill>
                  <a:srgbClr val="FFFFFF"/>
                </a:solidFill>
                <a:latin typeface="Aptos"/>
              </a:rPr>
              <a:t>249 € HT / mois</a:t>
            </a: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r>
              <a:rPr sz="1100" b="0" i="0">
                <a:solidFill>
                  <a:srgbClr val="FFFFFF"/>
                </a:solidFill>
                <a:latin typeface="Aptos"/>
              </a:rPr>
              <a:t>ou 2 490 € / an · 7 jours d'essai · 5 utilisateurs inclus · Facturation &amp; Factur-X incluses</a:t>
            </a: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Tout Pro + équipes, RH &amp; pointage, suivi de chantier avec coûts réels, reporting et automatisations.</a:t>
            </a:r>
          </a:p>
        </p:txBody>
      </p:sp>
      <p:sp>
        <p:nvSpPr>
          <p:cNvPr id="13" name="Rounded Rectangle 12"/>
          <p:cNvSpPr/>
          <p:nvPr/>
        </p:nvSpPr>
        <p:spPr>
          <a:xfrm>
            <a:off x="457200" y="1920240"/>
            <a:ext cx="6766560" cy="43891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4" name="TextBox 13"/>
          <p:cNvSpPr txBox="1"/>
          <p:nvPr/>
        </p:nvSpPr>
        <p:spPr>
          <a:xfrm>
            <a:off x="640080" y="2011680"/>
            <a:ext cx="4572000" cy="365760"/>
          </a:xfrm>
          <a:prstGeom prst="rect">
            <a:avLst/>
          </a:prstGeom>
          <a:noFill/>
        </p:spPr>
        <p:txBody>
          <a:bodyPr wrap="square" lIns="45720" tIns="18288" rIns="45720" bIns="18288" anchor="t">
            <a:spAutoFit/>
          </a:bodyPr>
          <a:lstStyle/>
          <a:p>
            <a:pPr algn="l">
              <a:spcAft>
                <a:spcPts val="300"/>
              </a:spcAft>
            </a:pPr>
            <a:r>
              <a:rPr sz="1600" b="1" i="0">
                <a:solidFill>
                  <a:srgbClr val="192A32"/>
                </a:solidFill>
                <a:latin typeface="Aptos"/>
              </a:rPr>
              <a:t>L'essentiel</a:t>
            </a:r>
          </a:p>
        </p:txBody>
      </p:sp>
      <p:sp>
        <p:nvSpPr>
          <p:cNvPr id="15" name="TextBox 14"/>
          <p:cNvSpPr txBox="1"/>
          <p:nvPr/>
        </p:nvSpPr>
        <p:spPr>
          <a:xfrm>
            <a:off x="640080" y="2468880"/>
            <a:ext cx="6400800" cy="3749039"/>
          </a:xfrm>
          <a:prstGeom prst="rect">
            <a:avLst/>
          </a:prstGeom>
          <a:noFill/>
        </p:spPr>
        <p:txBody>
          <a:bodyPr wrap="square" lIns="45720" rIns="45720">
            <a:normAutofit/>
          </a:bodyPr>
          <a:lstStyle/>
          <a:p>
            <a:pPr>
              <a:spcAft>
                <a:spcPts val="300"/>
              </a:spcAft>
            </a:pPr>
            <a:r>
              <a:rPr sz="1300">
                <a:solidFill>
                  <a:srgbClr val="192A32"/>
                </a:solidFill>
                <a:latin typeface="Aptos"/>
              </a:rPr>
              <a:t>•  Tout Pro + 5 utilisateurs, rôles et invitations</a:t>
            </a:r>
          </a:p>
          <a:p>
            <a:pPr>
              <a:spcAft>
                <a:spcPts val="300"/>
              </a:spcAft>
            </a:pPr>
            <a:r>
              <a:rPr sz="1300">
                <a:solidFill>
                  <a:srgbClr val="192A32"/>
                </a:solidFill>
                <a:latin typeface="Aptos"/>
              </a:rPr>
              <a:t>•  Facturation &amp; Factur-X incluses : acompte, situations, solde</a:t>
            </a:r>
          </a:p>
          <a:p>
            <a:pPr>
              <a:spcAft>
                <a:spcPts val="300"/>
              </a:spcAft>
            </a:pPr>
            <a:r>
              <a:rPr sz="1300">
                <a:solidFill>
                  <a:srgbClr val="192A32"/>
                </a:solidFill>
                <a:latin typeface="Aptos"/>
              </a:rPr>
              <a:t>•  RH, pointage mobile des ouvriers</a:t>
            </a:r>
          </a:p>
          <a:p>
            <a:pPr>
              <a:spcAft>
                <a:spcPts val="300"/>
              </a:spcAft>
            </a:pPr>
            <a:r>
              <a:rPr sz="1300">
                <a:solidFill>
                  <a:srgbClr val="192A32"/>
                </a:solidFill>
                <a:latin typeface="Aptos"/>
              </a:rPr>
              <a:t>•  Suivi de chantier : photos, coûts réels vs devis, partage client</a:t>
            </a:r>
          </a:p>
          <a:p>
            <a:pPr>
              <a:spcAft>
                <a:spcPts val="300"/>
              </a:spcAft>
            </a:pPr>
            <a:r>
              <a:rPr sz="1300">
                <a:solidFill>
                  <a:srgbClr val="192A32"/>
                </a:solidFill>
                <a:latin typeface="Aptos"/>
              </a:rPr>
              <a:t>•  Planning Gantt, reporting, rentabilité par chantier</a:t>
            </a:r>
          </a:p>
          <a:p>
            <a:pPr>
              <a:spcAft>
                <a:spcPts val="300"/>
              </a:spcAft>
            </a:pPr>
            <a:r>
              <a:rPr sz="1300">
                <a:solidFill>
                  <a:srgbClr val="192A32"/>
                </a:solidFill>
                <a:latin typeface="Aptos"/>
              </a:rPr>
              <a:t>•  Automatisations (relances, rapports), rendu 3D interactif inclus</a:t>
            </a:r>
          </a:p>
        </p:txBody>
      </p:sp>
      <p:sp>
        <p:nvSpPr>
          <p:cNvPr id="16" name="Rounded Rectangle 15"/>
          <p:cNvSpPr/>
          <p:nvPr/>
        </p:nvSpPr>
        <p:spPr>
          <a:xfrm>
            <a:off x="7498079" y="1920240"/>
            <a:ext cx="4206240" cy="438912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17" name="TextBox 16"/>
          <p:cNvSpPr txBox="1"/>
          <p:nvPr/>
        </p:nvSpPr>
        <p:spPr>
          <a:xfrm>
            <a:off x="7726679" y="2103120"/>
            <a:ext cx="3749039" cy="457200"/>
          </a:xfrm>
          <a:prstGeom prst="rect">
            <a:avLst/>
          </a:prstGeom>
          <a:noFill/>
        </p:spPr>
        <p:txBody>
          <a:bodyPr wrap="square" lIns="45720" tIns="18288" rIns="45720" bIns="18288" anchor="t">
            <a:spAutoFit/>
          </a:bodyPr>
          <a:lstStyle/>
          <a:p>
            <a:pPr algn="l">
              <a:spcAft>
                <a:spcPts val="300"/>
              </a:spcAft>
            </a:pPr>
            <a:r>
              <a:rPr sz="1400" b="1" i="0">
                <a:solidFill>
                  <a:srgbClr val="FFFFFF"/>
                </a:solidFill>
                <a:latin typeface="Aptos"/>
              </a:rPr>
              <a:t>Pour qui ?</a:t>
            </a:r>
          </a:p>
        </p:txBody>
      </p:sp>
      <p:sp>
        <p:nvSpPr>
          <p:cNvPr id="18" name="TextBox 17"/>
          <p:cNvSpPr txBox="1"/>
          <p:nvPr/>
        </p:nvSpPr>
        <p:spPr>
          <a:xfrm>
            <a:off x="7726679" y="2560320"/>
            <a:ext cx="3749039" cy="1097280"/>
          </a:xfrm>
          <a:prstGeom prst="rect">
            <a:avLst/>
          </a:prstGeom>
          <a:noFill/>
        </p:spPr>
        <p:txBody>
          <a:bodyPr wrap="square" lIns="45720" tIns="18288" rIns="45720" bIns="18288" anchor="t">
            <a:spAutoFit/>
          </a:bodyPr>
          <a:lstStyle/>
          <a:p>
            <a:pPr algn="l">
              <a:spcAft>
                <a:spcPts val="300"/>
              </a:spcAft>
            </a:pPr>
            <a:r>
              <a:rPr sz="1300" b="0" i="0">
                <a:solidFill>
                  <a:srgbClr val="FFFFFF"/>
                </a:solidFill>
                <a:latin typeface="Aptos"/>
              </a:rPr>
              <a:t>PME du bâtiment, entreprises générales, bureaux d'études</a:t>
            </a:r>
          </a:p>
        </p:txBody>
      </p:sp>
      <p:sp>
        <p:nvSpPr>
          <p:cNvPr id="19" name="TextBox 18"/>
          <p:cNvSpPr txBox="1"/>
          <p:nvPr/>
        </p:nvSpPr>
        <p:spPr>
          <a:xfrm>
            <a:off x="7726679" y="3749039"/>
            <a:ext cx="3749039" cy="457200"/>
          </a:xfrm>
          <a:prstGeom prst="rect">
            <a:avLst/>
          </a:prstGeom>
          <a:noFill/>
        </p:spPr>
        <p:txBody>
          <a:bodyPr wrap="square" lIns="45720" tIns="18288" rIns="45720" bIns="18288" anchor="t">
            <a:spAutoFit/>
          </a:bodyPr>
          <a:lstStyle/>
          <a:p>
            <a:pPr algn="l">
              <a:spcAft>
                <a:spcPts val="300"/>
              </a:spcAft>
            </a:pPr>
            <a:r>
              <a:rPr sz="1400" b="1" i="0">
                <a:solidFill>
                  <a:srgbClr val="FFFFFF"/>
                </a:solidFill>
                <a:latin typeface="Aptos"/>
              </a:rPr>
              <a:t>Tarif</a:t>
            </a:r>
          </a:p>
        </p:txBody>
      </p:sp>
      <p:sp>
        <p:nvSpPr>
          <p:cNvPr id="20" name="TextBox 19"/>
          <p:cNvSpPr txBox="1"/>
          <p:nvPr/>
        </p:nvSpPr>
        <p:spPr>
          <a:xfrm>
            <a:off x="7726679" y="4206240"/>
            <a:ext cx="3749039" cy="1645920"/>
          </a:xfrm>
          <a:prstGeom prst="rect">
            <a:avLst/>
          </a:prstGeom>
          <a:noFill/>
        </p:spPr>
        <p:txBody>
          <a:bodyPr wrap="square" lIns="45720" tIns="18288" rIns="45720" bIns="18288" anchor="t">
            <a:spAutoFit/>
          </a:bodyPr>
          <a:lstStyle/>
          <a:p>
            <a:pPr algn="l">
              <a:spcAft>
                <a:spcPts val="300"/>
              </a:spcAft>
            </a:pPr>
            <a:r>
              <a:rPr sz="1200" b="0" i="0">
                <a:solidFill>
                  <a:srgbClr val="FFFFFF"/>
                </a:solidFill>
                <a:latin typeface="Aptos"/>
              </a:rPr>
              <a:t>249 € HT / mois
ou 2 490 € / an · 7 jours d'essai · 5 utilisateurs inclus · Facturation &amp; Factur-X incluses</a:t>
            </a:r>
          </a:p>
        </p:txBody>
      </p:sp>
      <p:sp>
        <p:nvSpPr>
          <p:cNvPr id="23" name="Rectangle 22"/>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11</a:t>
            </a:r>
          </a:p>
        </p:txBody>
      </p:sp>
      <p:sp>
        <p:nvSpPr>
          <p:cNvPr id="25" name="Rectangle 24"/>
          <p:cNvSpPr/>
          <p:nvPr/>
        </p:nvSpPr>
        <p:spPr>
          <a:xfrm>
            <a:off x="621792" y="5925312"/>
            <a:ext cx="1078992"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4" y="6016752"/>
            <a:ext cx="932688" cy="118872"/>
          </a:xfrm>
          <a:prstGeom prst="rect">
            <a:avLst/>
          </a:prstGeom>
          <a:noFill/>
        </p:spPr>
        <p:txBody>
          <a:bodyPr wrap="square">
            <a:spAutoFit/>
          </a:bodyPr>
          <a:lstStyle/>
          <a:p>
            <a:pPr algn="ctr"/>
            <a:r>
              <a:rPr sz="800" b="1">
                <a:solidFill>
                  <a:srgbClr val="19A460"/>
                </a:solidFill>
                <a:latin typeface="Aptos"/>
              </a:rPr>
              <a:t>ÉQUIPE</a:t>
            </a:r>
          </a:p>
        </p:txBody>
      </p:sp>
      <p:sp>
        <p:nvSpPr>
          <p:cNvPr id="27" name="Rectangle 26"/>
          <p:cNvSpPr/>
          <p:nvPr/>
        </p:nvSpPr>
        <p:spPr>
          <a:xfrm>
            <a:off x="1810512" y="5925312"/>
            <a:ext cx="1271016"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83664" y="6016752"/>
            <a:ext cx="1124712" cy="118872"/>
          </a:xfrm>
          <a:prstGeom prst="rect">
            <a:avLst/>
          </a:prstGeom>
          <a:noFill/>
        </p:spPr>
        <p:txBody>
          <a:bodyPr wrap="square">
            <a:spAutoFit/>
          </a:bodyPr>
          <a:lstStyle/>
          <a:p>
            <a:pPr algn="ctr"/>
            <a:r>
              <a:rPr sz="800" b="1">
                <a:solidFill>
                  <a:srgbClr val="19A460"/>
                </a:solidFill>
                <a:latin typeface="Aptos"/>
              </a:rPr>
              <a:t>CHANTIER</a:t>
            </a:r>
          </a:p>
        </p:txBody>
      </p:sp>
      <p:sp>
        <p:nvSpPr>
          <p:cNvPr id="29" name="Rectangle 28"/>
          <p:cNvSpPr/>
          <p:nvPr/>
        </p:nvSpPr>
        <p:spPr>
          <a:xfrm>
            <a:off x="3191256" y="5925312"/>
            <a:ext cx="1367028"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64408" y="6016752"/>
            <a:ext cx="1220724" cy="118872"/>
          </a:xfrm>
          <a:prstGeom prst="rect">
            <a:avLst/>
          </a:prstGeom>
          <a:noFill/>
        </p:spPr>
        <p:txBody>
          <a:bodyPr wrap="square">
            <a:spAutoFit/>
          </a:bodyPr>
          <a:lstStyle/>
          <a:p>
            <a:pPr algn="ctr"/>
            <a:r>
              <a:rPr sz="800" b="1">
                <a:solidFill>
                  <a:srgbClr val="19A460"/>
                </a:solidFill>
                <a:latin typeface="Aptos"/>
              </a:rPr>
              <a:t>REPORTING</a:t>
            </a:r>
          </a:p>
        </p:txBody>
      </p:sp>
      <p:sp>
        <p:nvSpPr>
          <p:cNvPr id="31" name="Rectangle 30"/>
          <p:cNvSpPr/>
          <p:nvPr/>
        </p:nvSpPr>
        <p:spPr>
          <a:xfrm>
            <a:off x="9555480" y="1353312"/>
            <a:ext cx="1874519" cy="841248"/>
          </a:xfrm>
          <a:prstGeom prst="rect">
            <a:avLst/>
          </a:prstGeom>
          <a:solidFill>
            <a:srgbClr val="E8F7EF"/>
          </a:solidFill>
          <a:ln w="10160">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74352" y="1527048"/>
            <a:ext cx="1645920" cy="256032"/>
          </a:xfrm>
          <a:prstGeom prst="rect">
            <a:avLst/>
          </a:prstGeom>
          <a:noFill/>
        </p:spPr>
        <p:txBody>
          <a:bodyPr wrap="square">
            <a:spAutoFit/>
          </a:bodyPr>
          <a:lstStyle/>
          <a:p>
            <a:pPr algn="ctr"/>
            <a:r>
              <a:rPr sz="1800" b="1">
                <a:solidFill>
                  <a:srgbClr val="FFFFFF"/>
                </a:solidFill>
                <a:latin typeface="Aptos"/>
              </a:rPr>
              <a:t>249 € HT</a:t>
            </a:r>
          </a:p>
        </p:txBody>
      </p:sp>
      <p:sp>
        <p:nvSpPr>
          <p:cNvPr id="33" name="TextBox 32"/>
          <p:cNvSpPr txBox="1"/>
          <p:nvPr/>
        </p:nvSpPr>
        <p:spPr>
          <a:xfrm>
            <a:off x="9674352" y="1856231"/>
            <a:ext cx="1645920" cy="146304"/>
          </a:xfrm>
          <a:prstGeom prst="rect">
            <a:avLst/>
          </a:prstGeom>
          <a:noFill/>
        </p:spPr>
        <p:txBody>
          <a:bodyPr wrap="square">
            <a:spAutoFit/>
          </a:bodyPr>
          <a:lstStyle/>
          <a:p>
            <a:pPr algn="ctr"/>
            <a:r>
              <a:rPr sz="800" b="0">
                <a:solidFill>
                  <a:srgbClr val="FFFFFF"/>
                </a:solidFill>
                <a:latin typeface="Aptos"/>
              </a:rPr>
              <a:t>/ mois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6" name="Rectangle 15"/>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OFFRE · PME DU BÂTIMENT, ENTREPRISES GÉNÉRALES, BUREAUX D'ÉTUDES</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Pro Business — dans le détail</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r>
              <a:rPr sz="2000" b="1" i="0">
                <a:solidFill>
                  <a:srgbClr val="FFFFFF"/>
                </a:solidFill>
                <a:latin typeface="Aptos"/>
              </a:rPr>
              <a:t>249 € HT / mois</a:t>
            </a: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endParaRP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Tout Pro + équipes, RH &amp; pointage, suivi de chantier avec coûts réels, reporting et automatisations.</a:t>
            </a:r>
          </a:p>
        </p:txBody>
      </p:sp>
      <p:sp>
        <p:nvSpPr>
          <p:cNvPr id="13" name="TextBox 12"/>
          <p:cNvSpPr txBox="1"/>
          <p:nvPr/>
        </p:nvSpPr>
        <p:spPr>
          <a:xfrm>
            <a:off x="457200" y="1920240"/>
            <a:ext cx="5547207" cy="4480560"/>
          </a:xfrm>
          <a:prstGeom prst="rect">
            <a:avLst/>
          </a:prstGeom>
          <a:noFill/>
        </p:spPr>
        <p:txBody>
          <a:bodyPr wrap="square" lIns="45720" rIns="45720">
            <a:normAutofit/>
          </a:bodyPr>
          <a:lstStyle/>
          <a:p>
            <a:pPr>
              <a:spcBef>
                <a:spcPts val="600"/>
              </a:spcBef>
              <a:spcAft>
                <a:spcPts val="300"/>
              </a:spcAft>
            </a:pPr>
            <a:r>
              <a:rPr sz="1300" b="1">
                <a:solidFill>
                  <a:srgbClr val="192A32"/>
                </a:solidFill>
                <a:latin typeface="Aptos"/>
              </a:rPr>
              <a:t>Équipe &amp; organisation</a:t>
            </a:r>
          </a:p>
          <a:p>
            <a:pPr>
              <a:spcAft>
                <a:spcPts val="300"/>
              </a:spcAft>
            </a:pPr>
            <a:r>
              <a:rPr sz="1100">
                <a:solidFill>
                  <a:srgbClr val="192A32"/>
                </a:solidFill>
                <a:latin typeface="Aptos"/>
              </a:rPr>
              <a:t>•  Jusqu'à 5 utilisateurs, rôles (admin, collaborateur, lecture seule), invitations par lien</a:t>
            </a:r>
          </a:p>
          <a:p>
            <a:pPr>
              <a:spcAft>
                <a:spcPts val="300"/>
              </a:spcAft>
            </a:pPr>
            <a:r>
              <a:rPr sz="1100">
                <a:solidFill>
                  <a:srgbClr val="192A32"/>
                </a:solidFill>
                <a:latin typeface="Aptos"/>
              </a:rPr>
              <a:t>•  Espace Entreprise : identité, logo, SMTP, RIB, paramètres Factur-X, branding des documents</a:t>
            </a:r>
          </a:p>
          <a:p>
            <a:pPr>
              <a:spcAft>
                <a:spcPts val="300"/>
              </a:spcAft>
            </a:pPr>
            <a:r>
              <a:rPr sz="1100">
                <a:solidFill>
                  <a:srgbClr val="192A32"/>
                </a:solidFill>
                <a:latin typeface="Aptos"/>
              </a:rPr>
              <a:t>•  Portail Pro et rapport hebdomadaire automatique</a:t>
            </a:r>
          </a:p>
          <a:p>
            <a:pPr>
              <a:spcBef>
                <a:spcPts val="600"/>
              </a:spcBef>
              <a:spcAft>
                <a:spcPts val="300"/>
              </a:spcAft>
            </a:pPr>
            <a:r>
              <a:rPr sz="1300" b="1">
                <a:solidFill>
                  <a:srgbClr val="192A32"/>
                </a:solidFill>
                <a:latin typeface="Aptos"/>
              </a:rPr>
              <a:t>Pilotage</a:t>
            </a:r>
          </a:p>
          <a:p>
            <a:pPr>
              <a:spcAft>
                <a:spcPts val="300"/>
              </a:spcAft>
            </a:pPr>
            <a:r>
              <a:rPr sz="1100">
                <a:solidFill>
                  <a:srgbClr val="192A32"/>
                </a:solidFill>
                <a:latin typeface="Aptos"/>
              </a:rPr>
              <a:t>•  Planning + Gantt, reporting &amp; analytics, rentabilité par chantier</a:t>
            </a:r>
          </a:p>
          <a:p>
            <a:pPr>
              <a:spcAft>
                <a:spcPts val="300"/>
              </a:spcAft>
            </a:pPr>
            <a:r>
              <a:rPr sz="1100">
                <a:solidFill>
                  <a:srgbClr val="192A32"/>
                </a:solidFill>
                <a:latin typeface="Aptos"/>
              </a:rPr>
              <a:t>•  Automatisations : relances devis / acomptes, notifications d'ouverture, rapports</a:t>
            </a:r>
          </a:p>
          <a:p>
            <a:pPr>
              <a:spcAft>
                <a:spcPts val="300"/>
              </a:spcAft>
            </a:pPr>
            <a:r>
              <a:rPr sz="1100">
                <a:solidFill>
                  <a:srgbClr val="192A32"/>
                </a:solidFill>
                <a:latin typeface="Aptos"/>
              </a:rPr>
              <a:t>•  Plan 2D takeoff professionnel, rendu 3D interactif + vidéo 3D inclus</a:t>
            </a:r>
          </a:p>
        </p:txBody>
      </p:sp>
      <p:sp>
        <p:nvSpPr>
          <p:cNvPr id="14" name="TextBox 13"/>
          <p:cNvSpPr txBox="1"/>
          <p:nvPr/>
        </p:nvSpPr>
        <p:spPr>
          <a:xfrm>
            <a:off x="6187287" y="1920240"/>
            <a:ext cx="5547207" cy="4480560"/>
          </a:xfrm>
          <a:prstGeom prst="rect">
            <a:avLst/>
          </a:prstGeom>
          <a:noFill/>
        </p:spPr>
        <p:txBody>
          <a:bodyPr wrap="square" lIns="45720" rIns="45720">
            <a:normAutofit/>
          </a:bodyPr>
          <a:lstStyle/>
          <a:p>
            <a:pPr>
              <a:spcBef>
                <a:spcPts val="600"/>
              </a:spcBef>
              <a:spcAft>
                <a:spcPts val="300"/>
              </a:spcAft>
            </a:pPr>
            <a:r>
              <a:rPr sz="1300" b="1">
                <a:solidFill>
                  <a:srgbClr val="192A32"/>
                </a:solidFill>
                <a:latin typeface="Aptos"/>
              </a:rPr>
              <a:t>RH, pointage &amp; chantier</a:t>
            </a:r>
          </a:p>
          <a:p>
            <a:pPr>
              <a:spcAft>
                <a:spcPts val="300"/>
              </a:spcAft>
            </a:pPr>
            <a:r>
              <a:rPr sz="1100">
                <a:solidFill>
                  <a:srgbClr val="192A32"/>
                </a:solidFill>
                <a:latin typeface="Aptos"/>
              </a:rPr>
              <a:t>•  Module RH : salariés, contrats, absences ; application ouvrier de pointage sur mobile</a:t>
            </a:r>
          </a:p>
          <a:p>
            <a:pPr>
              <a:spcAft>
                <a:spcPts val="300"/>
              </a:spcAft>
            </a:pPr>
            <a:r>
              <a:rPr sz="1100">
                <a:solidFill>
                  <a:srgbClr val="192A32"/>
                </a:solidFill>
                <a:latin typeface="Aptos"/>
              </a:rPr>
              <a:t>•  Suivi de chantier : avancement, photos de chantier, coûts réels vs devis, partage au client</a:t>
            </a:r>
          </a:p>
          <a:p>
            <a:pPr>
              <a:spcAft>
                <a:spcPts val="300"/>
              </a:spcAft>
            </a:pPr>
            <a:r>
              <a:rPr sz="1100">
                <a:solidFill>
                  <a:srgbClr val="192A32"/>
                </a:solidFill>
                <a:latin typeface="Aptos"/>
              </a:rPr>
              <a:t>•  Situations de travaux, facture de solde, décompte général — Option Facturation incluse</a:t>
            </a:r>
          </a:p>
        </p:txBody>
      </p:sp>
      <p:sp>
        <p:nvSpPr>
          <p:cNvPr id="17" name="Rectangle 16"/>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6" name="Rectangle 15"/>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MODULE TRANSVERSAL</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Radar Chantiers &amp; prospection</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endParaRP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endParaRP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Trouvez les chantiers avant vos concurrents et prospectez en 1 clic (Pro &amp; Pro Business).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300"/>
              </a:spcAft>
            </a:pPr>
            <a:r>
              <a:rPr sz="1300" b="1">
                <a:solidFill>
                  <a:srgbClr val="192A32"/>
                </a:solidFill>
                <a:latin typeface="Aptos"/>
              </a:rPr>
              <a:t>Détection d'opportunités</a:t>
            </a:r>
          </a:p>
          <a:p>
            <a:pPr>
              <a:spcAft>
                <a:spcPts val="300"/>
              </a:spcAft>
            </a:pPr>
            <a:r>
              <a:rPr sz="1150">
                <a:solidFill>
                  <a:srgbClr val="192A32"/>
                </a:solidFill>
                <a:latin typeface="Aptos"/>
              </a:rPr>
              <a:t>•  Carte des permis de construire (données SITADEL) autour de votre base, filtrés par vos métiers et votre rayon</a:t>
            </a:r>
          </a:p>
          <a:p>
            <a:pPr>
              <a:spcAft>
                <a:spcPts val="300"/>
              </a:spcAft>
            </a:pPr>
            <a:r>
              <a:rPr sz="1150">
                <a:solidFill>
                  <a:srgbClr val="192A32"/>
                </a:solidFill>
                <a:latin typeface="Aptos"/>
              </a:rPr>
              <a:t>•  Profil Radar : métiers de l'entreprise, zone repositionnable sur la carte, KPIs</a:t>
            </a:r>
          </a:p>
          <a:p>
            <a:pPr>
              <a:spcBef>
                <a:spcPts val="800"/>
              </a:spcBef>
              <a:spcAft>
                <a:spcPts val="300"/>
              </a:spcAft>
            </a:pPr>
            <a:r>
              <a:rPr sz="1300" b="1">
                <a:solidFill>
                  <a:srgbClr val="192A32"/>
                </a:solidFill>
                <a:latin typeface="Aptos"/>
              </a:rPr>
              <a:t>Capture &amp; suivi</a:t>
            </a:r>
          </a:p>
          <a:p>
            <a:pPr>
              <a:spcAft>
                <a:spcPts val="300"/>
              </a:spcAft>
            </a:pPr>
            <a:r>
              <a:rPr sz="1150">
                <a:solidFill>
                  <a:srgbClr val="192A32"/>
                </a:solidFill>
                <a:latin typeface="Aptos"/>
              </a:rPr>
              <a:t>•  Landing publique dédiée par courrier (QR / lien) → le prospect laisse ses coordonnées</a:t>
            </a:r>
          </a:p>
          <a:p>
            <a:pPr>
              <a:spcAft>
                <a:spcPts val="300"/>
              </a:spcAft>
            </a:pPr>
            <a:r>
              <a:rPr sz="1150">
                <a:solidFill>
                  <a:srgbClr val="192A32"/>
                </a:solidFill>
                <a:latin typeface="Aptos"/>
              </a:rPr>
              <a:t>•  Lead créé automatiquement dans « Mes demandes », notification + e-mail, anti-spam et anti-doublons</a:t>
            </a:r>
          </a:p>
          <a:p>
            <a:pPr>
              <a:spcAft>
                <a:spcPts val="300"/>
              </a:spcAft>
            </a:pPr>
            <a:r>
              <a:rPr sz="1150">
                <a:solidFill>
                  <a:srgbClr val="192A32"/>
                </a:solidFill>
                <a:latin typeface="Aptos"/>
              </a:rPr>
              <a:t>•  Suivi de campagne : ouvertures, réponses, taux par courrier</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300"/>
              </a:spcAft>
            </a:pPr>
            <a:r>
              <a:rPr sz="1300" b="1">
                <a:solidFill>
                  <a:srgbClr val="192A32"/>
                </a:solidFill>
                <a:latin typeface="Aptos"/>
              </a:rPr>
              <a:t>Courrier de prospection</a:t>
            </a:r>
          </a:p>
          <a:p>
            <a:pPr>
              <a:spcAft>
                <a:spcPts val="300"/>
              </a:spcAft>
            </a:pPr>
            <a:r>
              <a:rPr sz="1150">
                <a:solidFill>
                  <a:srgbClr val="192A32"/>
                </a:solidFill>
                <a:latin typeface="Aptos"/>
              </a:rPr>
              <a:t>•  Courrier PDF personnalisé (en-tête entreprise, référence du permis, fourchette de prix, RGPD) + QR code</a:t>
            </a:r>
          </a:p>
          <a:p>
            <a:pPr>
              <a:spcAft>
                <a:spcPts val="300"/>
              </a:spcAft>
            </a:pPr>
            <a:r>
              <a:rPr sz="1150">
                <a:solidFill>
                  <a:srgbClr val="192A32"/>
                </a:solidFill>
                <a:latin typeface="Aptos"/>
              </a:rPr>
              <a:t>•  Assistant IA de rédaction : ton formel / chaleureux / direct / commercial, longueur au choix</a:t>
            </a:r>
          </a:p>
          <a:p>
            <a:pPr>
              <a:spcAft>
                <a:spcPts val="300"/>
              </a:spcAft>
            </a:pPr>
            <a:r>
              <a:rPr sz="1150">
                <a:solidFill>
                  <a:srgbClr val="192A32"/>
                </a:solidFill>
                <a:latin typeface="Aptos"/>
              </a:rPr>
              <a:t>•  Envoi postal réel depuis l'app (Merci Facteur) : lettre simple, suivie ou LRAR — dès ≈ 2,26 € TTC, suivi de distribution</a:t>
            </a:r>
          </a:p>
        </p:txBody>
      </p:sp>
      <p:sp>
        <p:nvSpPr>
          <p:cNvPr id="17" name="Rectangle 16"/>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13</a:t>
            </a:r>
          </a:p>
        </p:txBody>
      </p:sp>
      <p:sp>
        <p:nvSpPr>
          <p:cNvPr id="19" name="Rectangle 18"/>
          <p:cNvSpPr/>
          <p:nvPr/>
        </p:nvSpPr>
        <p:spPr>
          <a:xfrm>
            <a:off x="621792" y="5925312"/>
            <a:ext cx="1271016"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6016752"/>
            <a:ext cx="1124712" cy="118872"/>
          </a:xfrm>
          <a:prstGeom prst="rect">
            <a:avLst/>
          </a:prstGeom>
          <a:noFill/>
        </p:spPr>
        <p:txBody>
          <a:bodyPr wrap="square">
            <a:spAutoFit/>
          </a:bodyPr>
          <a:lstStyle/>
          <a:p>
            <a:pPr algn="ctr"/>
            <a:r>
              <a:rPr sz="800" b="1">
                <a:solidFill>
                  <a:srgbClr val="19A460"/>
                </a:solidFill>
                <a:latin typeface="Aptos"/>
              </a:rPr>
              <a:t>DÉTECTER</a:t>
            </a:r>
          </a:p>
        </p:txBody>
      </p:sp>
      <p:sp>
        <p:nvSpPr>
          <p:cNvPr id="21" name="Rectangle 20"/>
          <p:cNvSpPr/>
          <p:nvPr/>
        </p:nvSpPr>
        <p:spPr>
          <a:xfrm>
            <a:off x="2002536" y="5925312"/>
            <a:ext cx="1367028"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75688" y="6016752"/>
            <a:ext cx="1220724" cy="118872"/>
          </a:xfrm>
          <a:prstGeom prst="rect">
            <a:avLst/>
          </a:prstGeom>
          <a:noFill/>
        </p:spPr>
        <p:txBody>
          <a:bodyPr wrap="square">
            <a:spAutoFit/>
          </a:bodyPr>
          <a:lstStyle/>
          <a:p>
            <a:pPr algn="ctr"/>
            <a:r>
              <a:rPr sz="800" b="1">
                <a:solidFill>
                  <a:srgbClr val="19A460"/>
                </a:solidFill>
                <a:latin typeface="Aptos"/>
              </a:rPr>
              <a:t>CONTACTER</a:t>
            </a:r>
          </a:p>
        </p:txBody>
      </p:sp>
      <p:sp>
        <p:nvSpPr>
          <p:cNvPr id="23" name="Rectangle 22"/>
          <p:cNvSpPr/>
          <p:nvPr/>
        </p:nvSpPr>
        <p:spPr>
          <a:xfrm>
            <a:off x="3479292" y="5925312"/>
            <a:ext cx="1367028"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552444" y="6016752"/>
            <a:ext cx="1220724" cy="118872"/>
          </a:xfrm>
          <a:prstGeom prst="rect">
            <a:avLst/>
          </a:prstGeom>
          <a:noFill/>
        </p:spPr>
        <p:txBody>
          <a:bodyPr wrap="square">
            <a:spAutoFit/>
          </a:bodyPr>
          <a:lstStyle/>
          <a:p>
            <a:pPr algn="ctr"/>
            <a:r>
              <a:rPr sz="800" b="1">
                <a:solidFill>
                  <a:srgbClr val="19A460"/>
                </a:solidFill>
                <a:latin typeface="Aptos"/>
              </a:rPr>
              <a:t>CONVERTIR</a:t>
            </a:r>
          </a:p>
        </p:txBody>
      </p:sp>
      <p:sp>
        <p:nvSpPr>
          <p:cNvPr id="25" name="Rectangle 24"/>
          <p:cNvSpPr/>
          <p:nvPr/>
        </p:nvSpPr>
        <p:spPr>
          <a:xfrm>
            <a:off x="6446520" y="4681728"/>
            <a:ext cx="1417320" cy="749808"/>
          </a:xfrm>
          <a:prstGeom prst="rect">
            <a:avLst/>
          </a:prstGeom>
          <a:solidFill>
            <a:srgbClr val="FFFFFF"/>
          </a:solidFill>
          <a:ln w="10160">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37959" y="4828032"/>
            <a:ext cx="256032" cy="201168"/>
          </a:xfrm>
          <a:prstGeom prst="rect">
            <a:avLst/>
          </a:prstGeom>
          <a:noFill/>
        </p:spPr>
        <p:txBody>
          <a:bodyPr wrap="square">
            <a:spAutoFit/>
          </a:bodyPr>
          <a:lstStyle/>
          <a:p>
            <a:pPr algn="ctr"/>
            <a:r>
              <a:rPr sz="1100" b="1">
                <a:solidFill>
                  <a:srgbClr val="19A460"/>
                </a:solidFill>
                <a:latin typeface="Aptos"/>
              </a:rPr>
              <a:t>1</a:t>
            </a:r>
          </a:p>
        </p:txBody>
      </p:sp>
      <p:sp>
        <p:nvSpPr>
          <p:cNvPr id="27" name="TextBox 26"/>
          <p:cNvSpPr txBox="1"/>
          <p:nvPr/>
        </p:nvSpPr>
        <p:spPr>
          <a:xfrm>
            <a:off x="6812280" y="4791456"/>
            <a:ext cx="932688" cy="310896"/>
          </a:xfrm>
          <a:prstGeom prst="rect">
            <a:avLst/>
          </a:prstGeom>
          <a:noFill/>
        </p:spPr>
        <p:txBody>
          <a:bodyPr wrap="square">
            <a:spAutoFit/>
          </a:bodyPr>
          <a:lstStyle/>
          <a:p>
            <a:pPr algn="ctr"/>
            <a:r>
              <a:rPr sz="900" b="1">
                <a:solidFill>
                  <a:srgbClr val="192A32"/>
                </a:solidFill>
                <a:latin typeface="Aptos"/>
              </a:rPr>
              <a:t>Permis détecté</a:t>
            </a:r>
          </a:p>
        </p:txBody>
      </p:sp>
      <p:sp>
        <p:nvSpPr>
          <p:cNvPr id="28" name="Rectangle 27"/>
          <p:cNvSpPr/>
          <p:nvPr/>
        </p:nvSpPr>
        <p:spPr>
          <a:xfrm>
            <a:off x="8074152" y="4681728"/>
            <a:ext cx="1417320" cy="749808"/>
          </a:xfrm>
          <a:prstGeom prst="rect">
            <a:avLst/>
          </a:prstGeom>
          <a:solidFill>
            <a:srgbClr val="FFFFFF"/>
          </a:solidFill>
          <a:ln w="10160">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65592" y="4828032"/>
            <a:ext cx="256032" cy="201168"/>
          </a:xfrm>
          <a:prstGeom prst="rect">
            <a:avLst/>
          </a:prstGeom>
          <a:noFill/>
        </p:spPr>
        <p:txBody>
          <a:bodyPr wrap="square">
            <a:spAutoFit/>
          </a:bodyPr>
          <a:lstStyle/>
          <a:p>
            <a:pPr algn="ctr"/>
            <a:r>
              <a:rPr sz="1100" b="1">
                <a:solidFill>
                  <a:srgbClr val="19A460"/>
                </a:solidFill>
                <a:latin typeface="Aptos"/>
              </a:rPr>
              <a:t>2</a:t>
            </a:r>
          </a:p>
        </p:txBody>
      </p:sp>
      <p:sp>
        <p:nvSpPr>
          <p:cNvPr id="30" name="TextBox 29"/>
          <p:cNvSpPr txBox="1"/>
          <p:nvPr/>
        </p:nvSpPr>
        <p:spPr>
          <a:xfrm>
            <a:off x="8439912" y="4791456"/>
            <a:ext cx="932688" cy="310896"/>
          </a:xfrm>
          <a:prstGeom prst="rect">
            <a:avLst/>
          </a:prstGeom>
          <a:noFill/>
        </p:spPr>
        <p:txBody>
          <a:bodyPr wrap="square">
            <a:spAutoFit/>
          </a:bodyPr>
          <a:lstStyle/>
          <a:p>
            <a:pPr algn="ctr"/>
            <a:r>
              <a:rPr sz="900" b="1">
                <a:solidFill>
                  <a:srgbClr val="192A32"/>
                </a:solidFill>
                <a:latin typeface="Aptos"/>
              </a:rPr>
              <a:t>Courrier + QR</a:t>
            </a:r>
          </a:p>
        </p:txBody>
      </p:sp>
      <p:sp>
        <p:nvSpPr>
          <p:cNvPr id="31" name="Rectangle 30"/>
          <p:cNvSpPr/>
          <p:nvPr/>
        </p:nvSpPr>
        <p:spPr>
          <a:xfrm>
            <a:off x="9701784" y="4681728"/>
            <a:ext cx="1417320" cy="749808"/>
          </a:xfrm>
          <a:prstGeom prst="rect">
            <a:avLst/>
          </a:prstGeom>
          <a:solidFill>
            <a:srgbClr val="FFFFFF"/>
          </a:solidFill>
          <a:ln w="10160">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93224" y="4828032"/>
            <a:ext cx="256032" cy="201168"/>
          </a:xfrm>
          <a:prstGeom prst="rect">
            <a:avLst/>
          </a:prstGeom>
          <a:noFill/>
        </p:spPr>
        <p:txBody>
          <a:bodyPr wrap="square">
            <a:spAutoFit/>
          </a:bodyPr>
          <a:lstStyle/>
          <a:p>
            <a:pPr algn="ctr"/>
            <a:r>
              <a:rPr sz="1100" b="1">
                <a:solidFill>
                  <a:srgbClr val="19A460"/>
                </a:solidFill>
                <a:latin typeface="Aptos"/>
              </a:rPr>
              <a:t>3</a:t>
            </a:r>
          </a:p>
        </p:txBody>
      </p:sp>
      <p:sp>
        <p:nvSpPr>
          <p:cNvPr id="33" name="TextBox 32"/>
          <p:cNvSpPr txBox="1"/>
          <p:nvPr/>
        </p:nvSpPr>
        <p:spPr>
          <a:xfrm>
            <a:off x="10067544" y="4791456"/>
            <a:ext cx="932688" cy="310896"/>
          </a:xfrm>
          <a:prstGeom prst="rect">
            <a:avLst/>
          </a:prstGeom>
          <a:noFill/>
        </p:spPr>
        <p:txBody>
          <a:bodyPr wrap="square">
            <a:spAutoFit/>
          </a:bodyPr>
          <a:lstStyle/>
          <a:p>
            <a:pPr algn="ctr"/>
            <a:r>
              <a:rPr sz="900" b="1">
                <a:solidFill>
                  <a:srgbClr val="192A32"/>
                </a:solidFill>
                <a:latin typeface="Aptos"/>
              </a:rPr>
              <a:t>Lead CRM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6" name="Rectangle 15"/>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MODULE TRANSVERSAL</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Blog, SEO &amp; newsletter</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endParaRP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endParaRP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Un blog conseils travaux FR &amp; PT alimenté automatiquement, optimisé pour Google.</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300"/>
              </a:spcAft>
            </a:pPr>
            <a:r>
              <a:rPr sz="1300" b="1">
                <a:solidFill>
                  <a:srgbClr val="192A32"/>
                </a:solidFill>
                <a:latin typeface="Aptos"/>
              </a:rPr>
              <a:t>Contenu</a:t>
            </a:r>
          </a:p>
          <a:p>
            <a:pPr>
              <a:spcAft>
                <a:spcPts val="300"/>
              </a:spcAft>
            </a:pPr>
            <a:r>
              <a:rPr sz="1150">
                <a:solidFill>
                  <a:srgbClr val="192A32"/>
                </a:solidFill>
                <a:latin typeface="Aptos"/>
              </a:rPr>
              <a:t>•  Blog natif : articles FR (prix, aides, réglementation, méthodes) et PT-PT (licenciamento, IVA 6 %, custos por distrito)</a:t>
            </a:r>
          </a:p>
          <a:p>
            <a:pPr>
              <a:spcAft>
                <a:spcPts val="300"/>
              </a:spcAft>
            </a:pPr>
            <a:r>
              <a:rPr sz="1150">
                <a:solidFill>
                  <a:srgbClr val="192A32"/>
                </a:solidFill>
                <a:latin typeface="Aptos"/>
              </a:rPr>
              <a:t>•  Génération automatique d'articles SEO (BabyLoveGrowth) : synchronisation toutes les 2 h + webhook temps réel, image de couverture, FAQ structurée</a:t>
            </a:r>
          </a:p>
          <a:p>
            <a:pPr>
              <a:spcAft>
                <a:spcPts val="300"/>
              </a:spcAft>
            </a:pPr>
            <a:r>
              <a:rPr sz="1150">
                <a:solidFill>
                  <a:srgbClr val="192A32"/>
                </a:solidFill>
                <a:latin typeface="Aptos"/>
              </a:rPr>
              <a:t>•  « À lire aussi » (articles liés) et maillage interne vers l'estimateur, les calculateurs et les prix</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300"/>
              </a:spcAft>
            </a:pPr>
            <a:r>
              <a:rPr sz="1300" b="1">
                <a:solidFill>
                  <a:srgbClr val="192A32"/>
                </a:solidFill>
                <a:latin typeface="Aptos"/>
              </a:rPr>
              <a:t>Référencement</a:t>
            </a:r>
          </a:p>
          <a:p>
            <a:pPr>
              <a:spcAft>
                <a:spcPts val="300"/>
              </a:spcAft>
            </a:pPr>
            <a:r>
              <a:rPr sz="1150">
                <a:solidFill>
                  <a:srgbClr val="192A32"/>
                </a:solidFill>
                <a:latin typeface="Aptos"/>
              </a:rPr>
              <a:t>•  Sitemap dynamique (index + pages + articles), JSON-LD BlogPosting / FAQ, Open Graph, robots.txt</a:t>
            </a:r>
          </a:p>
          <a:p>
            <a:pPr>
              <a:spcAft>
                <a:spcPts val="300"/>
              </a:spcAft>
            </a:pPr>
            <a:r>
              <a:rPr sz="1150">
                <a:solidFill>
                  <a:srgbClr val="192A32"/>
                </a:solidFill>
                <a:latin typeface="Aptos"/>
              </a:rPr>
              <a:t>•  Pages locales « Devis travaux {ville} », landings /particuliers, /metre, /portugal, /investisseurs, vidéos de démonstration</a:t>
            </a:r>
          </a:p>
          <a:p>
            <a:pPr>
              <a:spcBef>
                <a:spcPts val="800"/>
              </a:spcBef>
              <a:spcAft>
                <a:spcPts val="300"/>
              </a:spcAft>
            </a:pPr>
            <a:r>
              <a:rPr sz="1300" b="1">
                <a:solidFill>
                  <a:srgbClr val="192A32"/>
                </a:solidFill>
                <a:latin typeface="Aptos"/>
              </a:rPr>
              <a:t>Newsletter</a:t>
            </a:r>
          </a:p>
          <a:p>
            <a:pPr>
              <a:spcAft>
                <a:spcPts val="300"/>
              </a:spcAft>
            </a:pPr>
            <a:r>
              <a:rPr sz="1150">
                <a:solidFill>
                  <a:srgbClr val="192A32"/>
                </a:solidFill>
                <a:latin typeface="Aptos"/>
              </a:rPr>
              <a:t>•  Inscription sous chaque article et sur le blog, e-mail de bienvenue, notification à chaque nouvel article, désinscription 1 clic</a:t>
            </a:r>
          </a:p>
          <a:p>
            <a:pPr>
              <a:spcAft>
                <a:spcPts val="300"/>
              </a:spcAft>
            </a:pPr>
            <a:r>
              <a:rPr sz="1150">
                <a:solidFill>
                  <a:srgbClr val="192A32"/>
                </a:solidFill>
                <a:latin typeface="Aptos"/>
              </a:rPr>
              <a:t>•  Statistiques d'abonnés dans l'administration</a:t>
            </a:r>
          </a:p>
        </p:txBody>
      </p:sp>
      <p:sp>
        <p:nvSpPr>
          <p:cNvPr id="17" name="Rectangle 16"/>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14</a:t>
            </a:r>
          </a:p>
        </p:txBody>
      </p:sp>
      <p:sp>
        <p:nvSpPr>
          <p:cNvPr id="19" name="Rectangle 18"/>
          <p:cNvSpPr/>
          <p:nvPr/>
        </p:nvSpPr>
        <p:spPr>
          <a:xfrm>
            <a:off x="621792" y="5925312"/>
            <a:ext cx="1175004"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6016752"/>
            <a:ext cx="1028700" cy="118872"/>
          </a:xfrm>
          <a:prstGeom prst="rect">
            <a:avLst/>
          </a:prstGeom>
          <a:noFill/>
        </p:spPr>
        <p:txBody>
          <a:bodyPr wrap="square">
            <a:spAutoFit/>
          </a:bodyPr>
          <a:lstStyle/>
          <a:p>
            <a:pPr algn="ctr"/>
            <a:r>
              <a:rPr sz="800" b="1">
                <a:solidFill>
                  <a:srgbClr val="19A460"/>
                </a:solidFill>
                <a:latin typeface="Aptos"/>
              </a:rPr>
              <a:t>CONTENU</a:t>
            </a:r>
          </a:p>
        </p:txBody>
      </p:sp>
      <p:sp>
        <p:nvSpPr>
          <p:cNvPr id="21" name="Rectangle 20"/>
          <p:cNvSpPr/>
          <p:nvPr/>
        </p:nvSpPr>
        <p:spPr>
          <a:xfrm>
            <a:off x="1906524" y="5925312"/>
            <a:ext cx="105156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79676" y="6016752"/>
            <a:ext cx="905255" cy="118872"/>
          </a:xfrm>
          <a:prstGeom prst="rect">
            <a:avLst/>
          </a:prstGeom>
          <a:noFill/>
        </p:spPr>
        <p:txBody>
          <a:bodyPr wrap="square">
            <a:spAutoFit/>
          </a:bodyPr>
          <a:lstStyle/>
          <a:p>
            <a:pPr algn="ctr"/>
            <a:r>
              <a:rPr sz="800" b="1">
                <a:solidFill>
                  <a:srgbClr val="19A460"/>
                </a:solidFill>
                <a:latin typeface="Aptos"/>
              </a:rPr>
              <a:t>SEO</a:t>
            </a:r>
          </a:p>
        </p:txBody>
      </p:sp>
      <p:sp>
        <p:nvSpPr>
          <p:cNvPr id="23" name="Rectangle 22"/>
          <p:cNvSpPr/>
          <p:nvPr/>
        </p:nvSpPr>
        <p:spPr>
          <a:xfrm>
            <a:off x="3067812" y="5925312"/>
            <a:ext cx="146304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40964" y="6016752"/>
            <a:ext cx="1316736" cy="118872"/>
          </a:xfrm>
          <a:prstGeom prst="rect">
            <a:avLst/>
          </a:prstGeom>
          <a:noFill/>
        </p:spPr>
        <p:txBody>
          <a:bodyPr wrap="square">
            <a:spAutoFit/>
          </a:bodyPr>
          <a:lstStyle/>
          <a:p>
            <a:pPr algn="ctr"/>
            <a:r>
              <a:rPr sz="800" b="1">
                <a:solidFill>
                  <a:srgbClr val="19A460"/>
                </a:solidFill>
                <a:latin typeface="Aptos"/>
              </a:rPr>
              <a:t>NEWSLETTER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6" name="Rectangle 15"/>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MODULE TRANSVERSAL</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Acquisition, e-mailing &amp; fidélisation</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endParaRP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endParaRP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Les outils marketing intégrés qui transforment les visiteurs en abonnés.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300"/>
              </a:spcAft>
            </a:pPr>
            <a:r>
              <a:rPr sz="1300" b="1">
                <a:solidFill>
                  <a:srgbClr val="192A32"/>
                </a:solidFill>
                <a:latin typeface="Aptos"/>
              </a:rPr>
              <a:t>E-mailing</a:t>
            </a:r>
          </a:p>
          <a:p>
            <a:pPr>
              <a:spcAft>
                <a:spcPts val="300"/>
              </a:spcAft>
            </a:pPr>
            <a:r>
              <a:rPr sz="1150">
                <a:solidFill>
                  <a:srgbClr val="192A32"/>
                </a:solidFill>
                <a:latin typeface="Aptos"/>
              </a:rPr>
              <a:t>•  Campagnes e-mail (Resend) avec suivi des envois et des échecs</a:t>
            </a:r>
          </a:p>
          <a:p>
            <a:pPr>
              <a:spcAft>
                <a:spcPts val="300"/>
              </a:spcAft>
            </a:pPr>
            <a:r>
              <a:rPr sz="1150">
                <a:solidFill>
                  <a:srgbClr val="192A32"/>
                </a:solidFill>
                <a:latin typeface="Aptos"/>
              </a:rPr>
              <a:t>•  Relances automatiques J+3 et J+10 des comptes gratuits (Pro 149 € / Premium 19 €), code promo hebdomadaire −20 % × 3 mois appliqué automatiquement au paiement</a:t>
            </a:r>
          </a:p>
          <a:p>
            <a:pPr>
              <a:spcAft>
                <a:spcPts val="300"/>
              </a:spcAft>
            </a:pPr>
            <a:r>
              <a:rPr sz="1150">
                <a:solidFill>
                  <a:srgbClr val="192A32"/>
                </a:solidFill>
                <a:latin typeface="Aptos"/>
              </a:rPr>
              <a:t>•  Suivi de conversion par semaine : envois → abonnements</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300"/>
              </a:spcAft>
            </a:pPr>
            <a:r>
              <a:rPr sz="1300" b="1">
                <a:solidFill>
                  <a:srgbClr val="192A32"/>
                </a:solidFill>
                <a:latin typeface="Aptos"/>
              </a:rPr>
              <a:t>Croissance</a:t>
            </a:r>
          </a:p>
          <a:p>
            <a:pPr>
              <a:spcAft>
                <a:spcPts val="300"/>
              </a:spcAft>
            </a:pPr>
            <a:r>
              <a:rPr sz="1150">
                <a:solidFill>
                  <a:srgbClr val="192A32"/>
                </a:solidFill>
                <a:latin typeface="Aptos"/>
              </a:rPr>
              <a:t>•  Essai gratuit 7 jours, codes promo Stripe, paiement mensuel ou annuel</a:t>
            </a:r>
          </a:p>
          <a:p>
            <a:pPr>
              <a:spcAft>
                <a:spcPts val="300"/>
              </a:spcAft>
            </a:pPr>
            <a:r>
              <a:rPr sz="1150">
                <a:solidFill>
                  <a:srgbClr val="192A32"/>
                </a:solidFill>
                <a:latin typeface="Aptos"/>
              </a:rPr>
              <a:t>•  Parrainage et affiliation avec récompenses, page « Passez Pro » pour les particuliers</a:t>
            </a:r>
          </a:p>
          <a:p>
            <a:pPr>
              <a:spcAft>
                <a:spcPts val="300"/>
              </a:spcAft>
            </a:pPr>
            <a:r>
              <a:rPr sz="1150">
                <a:solidFill>
                  <a:srgbClr val="192A32"/>
                </a:solidFill>
                <a:latin typeface="Aptos"/>
              </a:rPr>
              <a:t>•  Marketplace de pros vérifiés (activable), avis clients publics</a:t>
            </a:r>
          </a:p>
        </p:txBody>
      </p:sp>
      <p:sp>
        <p:nvSpPr>
          <p:cNvPr id="17" name="Rectangle 16"/>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15</a:t>
            </a:r>
          </a:p>
        </p:txBody>
      </p:sp>
      <p:sp>
        <p:nvSpPr>
          <p:cNvPr id="19" name="Rectangle 18"/>
          <p:cNvSpPr/>
          <p:nvPr/>
        </p:nvSpPr>
        <p:spPr>
          <a:xfrm>
            <a:off x="621792" y="5925312"/>
            <a:ext cx="1078992"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6016752"/>
            <a:ext cx="932688" cy="118872"/>
          </a:xfrm>
          <a:prstGeom prst="rect">
            <a:avLst/>
          </a:prstGeom>
          <a:noFill/>
        </p:spPr>
        <p:txBody>
          <a:bodyPr wrap="square">
            <a:spAutoFit/>
          </a:bodyPr>
          <a:lstStyle/>
          <a:p>
            <a:pPr algn="ctr"/>
            <a:r>
              <a:rPr sz="800" b="1">
                <a:solidFill>
                  <a:srgbClr val="19A460"/>
                </a:solidFill>
                <a:latin typeface="Aptos"/>
              </a:rPr>
              <a:t>E-MAIL</a:t>
            </a:r>
          </a:p>
        </p:txBody>
      </p:sp>
      <p:sp>
        <p:nvSpPr>
          <p:cNvPr id="21" name="Rectangle 20"/>
          <p:cNvSpPr/>
          <p:nvPr/>
        </p:nvSpPr>
        <p:spPr>
          <a:xfrm>
            <a:off x="1810512" y="5925312"/>
            <a:ext cx="1175004"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883664" y="6016752"/>
            <a:ext cx="1028700" cy="118872"/>
          </a:xfrm>
          <a:prstGeom prst="rect">
            <a:avLst/>
          </a:prstGeom>
          <a:noFill/>
        </p:spPr>
        <p:txBody>
          <a:bodyPr wrap="square">
            <a:spAutoFit/>
          </a:bodyPr>
          <a:lstStyle/>
          <a:p>
            <a:pPr algn="ctr"/>
            <a:r>
              <a:rPr sz="800" b="1">
                <a:solidFill>
                  <a:srgbClr val="19A460"/>
                </a:solidFill>
                <a:latin typeface="Aptos"/>
              </a:rPr>
              <a:t>RELANCE</a:t>
            </a:r>
          </a:p>
        </p:txBody>
      </p:sp>
      <p:sp>
        <p:nvSpPr>
          <p:cNvPr id="23" name="Rectangle 22"/>
          <p:cNvSpPr/>
          <p:nvPr/>
        </p:nvSpPr>
        <p:spPr>
          <a:xfrm>
            <a:off x="3095244" y="5925312"/>
            <a:ext cx="146304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68396" y="6016752"/>
            <a:ext cx="1316736" cy="118872"/>
          </a:xfrm>
          <a:prstGeom prst="rect">
            <a:avLst/>
          </a:prstGeom>
          <a:noFill/>
        </p:spPr>
        <p:txBody>
          <a:bodyPr wrap="square">
            <a:spAutoFit/>
          </a:bodyPr>
          <a:lstStyle/>
          <a:p>
            <a:pPr algn="ctr"/>
            <a:r>
              <a:rPr sz="800" b="1">
                <a:solidFill>
                  <a:srgbClr val="19A460"/>
                </a:solidFill>
                <a:latin typeface="Aptos"/>
              </a:rPr>
              <a:t>CONVERSION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6" name="Rectangle 15"/>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MODULE TRANSVERSAL</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Options, API &amp; Entreprise</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endParaRP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endParaRP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Complétez votre offre à l'unité ou intégrez le moteur ConstruPilot dans vos outils.</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300"/>
              </a:spcAft>
            </a:pPr>
            <a:r>
              <a:rPr sz="1300" b="1">
                <a:solidFill>
                  <a:srgbClr val="192A32"/>
                </a:solidFill>
                <a:latin typeface="Aptos"/>
              </a:rPr>
              <a:t>Options à l'unité</a:t>
            </a:r>
          </a:p>
          <a:p>
            <a:pPr>
              <a:spcAft>
                <a:spcPts val="300"/>
              </a:spcAft>
            </a:pPr>
            <a:r>
              <a:rPr sz="1150">
                <a:solidFill>
                  <a:srgbClr val="192A32"/>
                </a:solidFill>
                <a:latin typeface="Aptos"/>
              </a:rPr>
              <a:t>•  Option Facturation : 5 €/mois (incluse Pro Business)</a:t>
            </a:r>
          </a:p>
          <a:p>
            <a:pPr>
              <a:spcAft>
                <a:spcPts val="300"/>
              </a:spcAft>
            </a:pPr>
            <a:r>
              <a:rPr sz="1150">
                <a:solidFill>
                  <a:srgbClr val="192A32"/>
                </a:solidFill>
                <a:latin typeface="Aptos"/>
              </a:rPr>
              <a:t>•  Rendu 3D IA (image) : 5 € · Vidéo 3D : 10 € · Maquette 3D interactive : 5 €</a:t>
            </a:r>
          </a:p>
          <a:p>
            <a:pPr>
              <a:spcBef>
                <a:spcPts val="800"/>
              </a:spcBef>
              <a:spcAft>
                <a:spcPts val="300"/>
              </a:spcAft>
            </a:pPr>
            <a:r>
              <a:rPr sz="1300" b="1">
                <a:solidFill>
                  <a:srgbClr val="192A32"/>
                </a:solidFill>
                <a:latin typeface="Aptos"/>
              </a:rPr>
              <a:t>Enterprise &amp; sécurité</a:t>
            </a:r>
          </a:p>
          <a:p>
            <a:pPr>
              <a:spcAft>
                <a:spcPts val="300"/>
              </a:spcAft>
            </a:pPr>
            <a:r>
              <a:rPr sz="1150">
                <a:solidFill>
                  <a:srgbClr val="192A32"/>
                </a:solidFill>
                <a:latin typeface="Aptos"/>
              </a:rPr>
              <a:t>•  Offre Enterprise sur devis (volumes, SSO, marque blanche en préparation)</a:t>
            </a:r>
          </a:p>
          <a:p>
            <a:pPr>
              <a:spcAft>
                <a:spcPts val="300"/>
              </a:spcAft>
            </a:pPr>
            <a:r>
              <a:rPr sz="1150">
                <a:solidFill>
                  <a:srgbClr val="192A32"/>
                </a:solidFill>
                <a:latin typeface="Aptos"/>
              </a:rPr>
              <a:t>•  Sécurité : 2FA e-mail, alerte de connexion admin, appareils connectés, stockage privé des documents KYC, RGPD</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300"/>
              </a:spcAft>
            </a:pPr>
            <a:r>
              <a:rPr sz="1300" b="1">
                <a:solidFill>
                  <a:srgbClr val="192A32"/>
                </a:solidFill>
                <a:latin typeface="Aptos"/>
              </a:rPr>
              <a:t>API commerciale</a:t>
            </a:r>
          </a:p>
          <a:p>
            <a:pPr>
              <a:spcAft>
                <a:spcPts val="300"/>
              </a:spcAft>
            </a:pPr>
            <a:r>
              <a:rPr sz="1150">
                <a:solidFill>
                  <a:srgbClr val="192A32"/>
                </a:solidFill>
                <a:latin typeface="Aptos"/>
              </a:rPr>
              <a:t>•  API Starter 99 €/mois : 1 000 appels, Estimation Engine, Material Calculators, Price Intelligence (démo)</a:t>
            </a:r>
          </a:p>
          <a:p>
            <a:pPr>
              <a:spcAft>
                <a:spcPts val="300"/>
              </a:spcAft>
            </a:pPr>
            <a:r>
              <a:rPr sz="1150">
                <a:solidFill>
                  <a:srgbClr val="192A32"/>
                </a:solidFill>
                <a:latin typeface="Aptos"/>
              </a:rPr>
              <a:t>•  API Business 299 €/mois : 10 000 appels, AI Renovation Advisor, webhooks, support prioritaire</a:t>
            </a:r>
          </a:p>
          <a:p>
            <a:pPr>
              <a:spcAft>
                <a:spcPts val="300"/>
              </a:spcAft>
            </a:pPr>
            <a:r>
              <a:rPr sz="1150">
                <a:solidFill>
                  <a:srgbClr val="192A32"/>
                </a:solidFill>
                <a:latin typeface="Aptos"/>
              </a:rPr>
              <a:t>•  API Scale 999 €/mois : 100 000 appels, SLA 99,9 %, SSO, endpoints dédiés, account manager</a:t>
            </a:r>
          </a:p>
          <a:p>
            <a:pPr>
              <a:spcAft>
                <a:spcPts val="300"/>
              </a:spcAft>
            </a:pPr>
            <a:r>
              <a:rPr sz="1150">
                <a:solidFill>
                  <a:srgbClr val="192A32"/>
                </a:solidFill>
                <a:latin typeface="Aptos"/>
              </a:rPr>
              <a:t>•  Espace développeurs : clés API, documentation, portail fournisseur</a:t>
            </a:r>
          </a:p>
        </p:txBody>
      </p:sp>
      <p:sp>
        <p:nvSpPr>
          <p:cNvPr id="17" name="Rectangle 16"/>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16</a:t>
            </a:r>
          </a:p>
        </p:txBody>
      </p:sp>
      <p:sp>
        <p:nvSpPr>
          <p:cNvPr id="19" name="Rectangle 18"/>
          <p:cNvSpPr/>
          <p:nvPr/>
        </p:nvSpPr>
        <p:spPr>
          <a:xfrm>
            <a:off x="621792" y="5925312"/>
            <a:ext cx="1175004"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6016752"/>
            <a:ext cx="1028700" cy="118872"/>
          </a:xfrm>
          <a:prstGeom prst="rect">
            <a:avLst/>
          </a:prstGeom>
          <a:noFill/>
        </p:spPr>
        <p:txBody>
          <a:bodyPr wrap="square">
            <a:spAutoFit/>
          </a:bodyPr>
          <a:lstStyle/>
          <a:p>
            <a:pPr algn="ctr"/>
            <a:r>
              <a:rPr sz="800" b="1">
                <a:solidFill>
                  <a:srgbClr val="19A460"/>
                </a:solidFill>
                <a:latin typeface="Aptos"/>
              </a:rPr>
              <a:t>OPTIONS</a:t>
            </a:r>
          </a:p>
        </p:txBody>
      </p:sp>
      <p:sp>
        <p:nvSpPr>
          <p:cNvPr id="21" name="Rectangle 20"/>
          <p:cNvSpPr/>
          <p:nvPr/>
        </p:nvSpPr>
        <p:spPr>
          <a:xfrm>
            <a:off x="1906524" y="5925312"/>
            <a:ext cx="105156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79676" y="6016752"/>
            <a:ext cx="905255" cy="118872"/>
          </a:xfrm>
          <a:prstGeom prst="rect">
            <a:avLst/>
          </a:prstGeom>
          <a:noFill/>
        </p:spPr>
        <p:txBody>
          <a:bodyPr wrap="square">
            <a:spAutoFit/>
          </a:bodyPr>
          <a:lstStyle/>
          <a:p>
            <a:pPr algn="ctr"/>
            <a:r>
              <a:rPr sz="800" b="1">
                <a:solidFill>
                  <a:srgbClr val="19A460"/>
                </a:solidFill>
                <a:latin typeface="Aptos"/>
              </a:rPr>
              <a:t>API</a:t>
            </a:r>
          </a:p>
        </p:txBody>
      </p:sp>
      <p:sp>
        <p:nvSpPr>
          <p:cNvPr id="23" name="Rectangle 22"/>
          <p:cNvSpPr/>
          <p:nvPr/>
        </p:nvSpPr>
        <p:spPr>
          <a:xfrm>
            <a:off x="3067812" y="5925312"/>
            <a:ext cx="1271016"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40964" y="6016752"/>
            <a:ext cx="1124712" cy="118872"/>
          </a:xfrm>
          <a:prstGeom prst="rect">
            <a:avLst/>
          </a:prstGeom>
          <a:noFill/>
        </p:spPr>
        <p:txBody>
          <a:bodyPr wrap="square">
            <a:spAutoFit/>
          </a:bodyPr>
          <a:lstStyle/>
          <a:p>
            <a:pPr algn="ctr"/>
            <a:r>
              <a:rPr sz="800" b="1">
                <a:solidFill>
                  <a:srgbClr val="19A460"/>
                </a:solidFill>
                <a:latin typeface="Aptos"/>
              </a:rPr>
              <a:t>SÉCURITÉ</a:t>
            </a:r>
          </a:p>
        </p:txBody>
      </p:sp>
      <p:sp>
        <p:nvSpPr>
          <p:cNvPr id="25" name="Rectangle 24"/>
          <p:cNvSpPr/>
          <p:nvPr/>
        </p:nvSpPr>
        <p:spPr>
          <a:xfrm>
            <a:off x="6400800" y="4754880"/>
            <a:ext cx="1444752" cy="914400"/>
          </a:xfrm>
          <a:prstGeom prst="rect">
            <a:avLst/>
          </a:prstGeom>
          <a:solidFill>
            <a:srgbClr val="FFFFFF"/>
          </a:solidFill>
          <a:ln w="10160">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73952" y="4901184"/>
            <a:ext cx="1298448" cy="137160"/>
          </a:xfrm>
          <a:prstGeom prst="rect">
            <a:avLst/>
          </a:prstGeom>
          <a:noFill/>
        </p:spPr>
        <p:txBody>
          <a:bodyPr wrap="square">
            <a:spAutoFit/>
          </a:bodyPr>
          <a:lstStyle/>
          <a:p>
            <a:pPr algn="ctr"/>
            <a:r>
              <a:rPr sz="800" b="1">
                <a:solidFill>
                  <a:srgbClr val="5B6C72"/>
                </a:solidFill>
                <a:latin typeface="Aptos"/>
              </a:rPr>
              <a:t>STARTER</a:t>
            </a:r>
          </a:p>
        </p:txBody>
      </p:sp>
      <p:sp>
        <p:nvSpPr>
          <p:cNvPr id="27" name="TextBox 26"/>
          <p:cNvSpPr txBox="1"/>
          <p:nvPr/>
        </p:nvSpPr>
        <p:spPr>
          <a:xfrm>
            <a:off x="6473952" y="5111496"/>
            <a:ext cx="1298448" cy="182880"/>
          </a:xfrm>
          <a:prstGeom prst="rect">
            <a:avLst/>
          </a:prstGeom>
          <a:noFill/>
        </p:spPr>
        <p:txBody>
          <a:bodyPr wrap="square">
            <a:spAutoFit/>
          </a:bodyPr>
          <a:lstStyle/>
          <a:p>
            <a:pPr algn="ctr"/>
            <a:r>
              <a:rPr sz="1300" b="1">
                <a:solidFill>
                  <a:srgbClr val="19A460"/>
                </a:solidFill>
                <a:latin typeface="Aptos"/>
              </a:rPr>
              <a:t>99 €</a:t>
            </a:r>
          </a:p>
        </p:txBody>
      </p:sp>
      <p:sp>
        <p:nvSpPr>
          <p:cNvPr id="28" name="TextBox 27"/>
          <p:cNvSpPr txBox="1"/>
          <p:nvPr/>
        </p:nvSpPr>
        <p:spPr>
          <a:xfrm>
            <a:off x="6473952" y="5376672"/>
            <a:ext cx="1298448" cy="137160"/>
          </a:xfrm>
          <a:prstGeom prst="rect">
            <a:avLst/>
          </a:prstGeom>
          <a:noFill/>
        </p:spPr>
        <p:txBody>
          <a:bodyPr wrap="square">
            <a:spAutoFit/>
          </a:bodyPr>
          <a:lstStyle/>
          <a:p>
            <a:pPr algn="ctr"/>
            <a:r>
              <a:rPr sz="800" b="0">
                <a:solidFill>
                  <a:srgbClr val="5B6C72"/>
                </a:solidFill>
                <a:latin typeface="Aptos"/>
              </a:rPr>
              <a:t>1k appels</a:t>
            </a:r>
          </a:p>
        </p:txBody>
      </p:sp>
      <p:sp>
        <p:nvSpPr>
          <p:cNvPr id="29" name="Rectangle 28"/>
          <p:cNvSpPr/>
          <p:nvPr/>
        </p:nvSpPr>
        <p:spPr>
          <a:xfrm>
            <a:off x="8028431" y="4754880"/>
            <a:ext cx="1444752" cy="914400"/>
          </a:xfrm>
          <a:prstGeom prst="rect">
            <a:avLst/>
          </a:prstGeom>
          <a:solidFill>
            <a:srgbClr val="FFFFFF"/>
          </a:solidFill>
          <a:ln w="10160">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01583" y="4901184"/>
            <a:ext cx="1298448" cy="137160"/>
          </a:xfrm>
          <a:prstGeom prst="rect">
            <a:avLst/>
          </a:prstGeom>
          <a:noFill/>
        </p:spPr>
        <p:txBody>
          <a:bodyPr wrap="square">
            <a:spAutoFit/>
          </a:bodyPr>
          <a:lstStyle/>
          <a:p>
            <a:pPr algn="ctr"/>
            <a:r>
              <a:rPr sz="800" b="1">
                <a:solidFill>
                  <a:srgbClr val="5B6C72"/>
                </a:solidFill>
                <a:latin typeface="Aptos"/>
              </a:rPr>
              <a:t>BUSINESS</a:t>
            </a:r>
          </a:p>
        </p:txBody>
      </p:sp>
      <p:sp>
        <p:nvSpPr>
          <p:cNvPr id="31" name="TextBox 30"/>
          <p:cNvSpPr txBox="1"/>
          <p:nvPr/>
        </p:nvSpPr>
        <p:spPr>
          <a:xfrm>
            <a:off x="8101583" y="5111496"/>
            <a:ext cx="1298448" cy="182880"/>
          </a:xfrm>
          <a:prstGeom prst="rect">
            <a:avLst/>
          </a:prstGeom>
          <a:noFill/>
        </p:spPr>
        <p:txBody>
          <a:bodyPr wrap="square">
            <a:spAutoFit/>
          </a:bodyPr>
          <a:lstStyle/>
          <a:p>
            <a:pPr algn="ctr"/>
            <a:r>
              <a:rPr sz="1300" b="1">
                <a:solidFill>
                  <a:srgbClr val="19A460"/>
                </a:solidFill>
                <a:latin typeface="Aptos"/>
              </a:rPr>
              <a:t>299 €</a:t>
            </a:r>
          </a:p>
        </p:txBody>
      </p:sp>
      <p:sp>
        <p:nvSpPr>
          <p:cNvPr id="32" name="TextBox 31"/>
          <p:cNvSpPr txBox="1"/>
          <p:nvPr/>
        </p:nvSpPr>
        <p:spPr>
          <a:xfrm>
            <a:off x="8101583" y="5376672"/>
            <a:ext cx="1298448" cy="137160"/>
          </a:xfrm>
          <a:prstGeom prst="rect">
            <a:avLst/>
          </a:prstGeom>
          <a:noFill/>
        </p:spPr>
        <p:txBody>
          <a:bodyPr wrap="square">
            <a:spAutoFit/>
          </a:bodyPr>
          <a:lstStyle/>
          <a:p>
            <a:pPr algn="ctr"/>
            <a:r>
              <a:rPr sz="800" b="0">
                <a:solidFill>
                  <a:srgbClr val="5B6C72"/>
                </a:solidFill>
                <a:latin typeface="Aptos"/>
              </a:rPr>
              <a:t>10k appels</a:t>
            </a:r>
          </a:p>
        </p:txBody>
      </p:sp>
      <p:sp>
        <p:nvSpPr>
          <p:cNvPr id="33" name="Rectangle 32"/>
          <p:cNvSpPr/>
          <p:nvPr/>
        </p:nvSpPr>
        <p:spPr>
          <a:xfrm>
            <a:off x="9656064" y="4754880"/>
            <a:ext cx="1444752" cy="914400"/>
          </a:xfrm>
          <a:prstGeom prst="rect">
            <a:avLst/>
          </a:prstGeom>
          <a:solidFill>
            <a:srgbClr val="FFFFFF"/>
          </a:solidFill>
          <a:ln w="10160">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729216" y="4901184"/>
            <a:ext cx="1298448" cy="137160"/>
          </a:xfrm>
          <a:prstGeom prst="rect">
            <a:avLst/>
          </a:prstGeom>
          <a:noFill/>
        </p:spPr>
        <p:txBody>
          <a:bodyPr wrap="square">
            <a:spAutoFit/>
          </a:bodyPr>
          <a:lstStyle/>
          <a:p>
            <a:pPr algn="ctr"/>
            <a:r>
              <a:rPr sz="800" b="1">
                <a:solidFill>
                  <a:srgbClr val="5B6C72"/>
                </a:solidFill>
                <a:latin typeface="Aptos"/>
              </a:rPr>
              <a:t>SCALE</a:t>
            </a:r>
          </a:p>
        </p:txBody>
      </p:sp>
      <p:sp>
        <p:nvSpPr>
          <p:cNvPr id="35" name="TextBox 34"/>
          <p:cNvSpPr txBox="1"/>
          <p:nvPr/>
        </p:nvSpPr>
        <p:spPr>
          <a:xfrm>
            <a:off x="9729216" y="5111496"/>
            <a:ext cx="1298448" cy="182880"/>
          </a:xfrm>
          <a:prstGeom prst="rect">
            <a:avLst/>
          </a:prstGeom>
          <a:noFill/>
        </p:spPr>
        <p:txBody>
          <a:bodyPr wrap="square">
            <a:spAutoFit/>
          </a:bodyPr>
          <a:lstStyle/>
          <a:p>
            <a:pPr algn="ctr"/>
            <a:r>
              <a:rPr sz="1300" b="1">
                <a:solidFill>
                  <a:srgbClr val="19A460"/>
                </a:solidFill>
                <a:latin typeface="Aptos"/>
              </a:rPr>
              <a:t>999 €</a:t>
            </a:r>
          </a:p>
        </p:txBody>
      </p:sp>
      <p:sp>
        <p:nvSpPr>
          <p:cNvPr id="36" name="TextBox 35"/>
          <p:cNvSpPr txBox="1"/>
          <p:nvPr/>
        </p:nvSpPr>
        <p:spPr>
          <a:xfrm>
            <a:off x="9729216" y="5376672"/>
            <a:ext cx="1298448" cy="137160"/>
          </a:xfrm>
          <a:prstGeom prst="rect">
            <a:avLst/>
          </a:prstGeom>
          <a:noFill/>
        </p:spPr>
        <p:txBody>
          <a:bodyPr wrap="square">
            <a:spAutoFit/>
          </a:bodyPr>
          <a:lstStyle/>
          <a:p>
            <a:pPr algn="ctr"/>
            <a:r>
              <a:rPr sz="800" b="0">
                <a:solidFill>
                  <a:srgbClr val="5B6C72"/>
                </a:solidFill>
                <a:latin typeface="Aptos"/>
              </a:rPr>
              <a:t>100k appels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6" name="Rectangle 15"/>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MODULE TRANSVERSAL</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endParaRP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sp>
        <p:nvSpPr>
          <p:cNvPr id="8" name="Rounded Rectangle 7"/>
          <p:cNvSpPr/>
          <p:nvPr/>
        </p:nvSpPr>
        <p:spPr>
          <a:xfrm>
            <a:off x="457200" y="502920"/>
            <a:ext cx="11277295" cy="1234440"/>
          </a:xfrm>
          <a:prstGeom prst="round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TextBox 8"/>
          <p:cNvSpPr txBox="1"/>
          <p:nvPr/>
        </p:nvSpPr>
        <p:spPr>
          <a:xfrm>
            <a:off x="685800" y="566928"/>
            <a:ext cx="7315200" cy="548640"/>
          </a:xfrm>
          <a:prstGeom prst="rect">
            <a:avLst/>
          </a:prstGeom>
          <a:noFill/>
        </p:spPr>
        <p:txBody>
          <a:bodyPr wrap="square" lIns="45720" tIns="18288" rIns="45720" bIns="18288" anchor="t">
            <a:spAutoFit/>
          </a:bodyPr>
          <a:lstStyle/>
          <a:p>
            <a:pPr algn="l">
              <a:spcAft>
                <a:spcPts val="300"/>
              </a:spcAft>
            </a:pPr>
            <a:r>
              <a:rPr sz="2300" b="1" i="0">
                <a:solidFill>
                  <a:srgbClr val="FFFFFF"/>
                </a:solidFill>
                <a:latin typeface="Aptos"/>
              </a:rPr>
              <a:t>Administration ConstruPilot</a:t>
            </a:r>
          </a:p>
        </p:txBody>
      </p:sp>
      <p:sp>
        <p:nvSpPr>
          <p:cNvPr id="10" name="TextBox 9"/>
          <p:cNvSpPr txBox="1"/>
          <p:nvPr/>
        </p:nvSpPr>
        <p:spPr>
          <a:xfrm>
            <a:off x="7772400" y="566928"/>
            <a:ext cx="3749039" cy="548640"/>
          </a:xfrm>
          <a:prstGeom prst="rect">
            <a:avLst/>
          </a:prstGeom>
          <a:noFill/>
        </p:spPr>
        <p:txBody>
          <a:bodyPr wrap="square" lIns="45720" tIns="18288" rIns="45720" bIns="18288" anchor="t">
            <a:spAutoFit/>
          </a:bodyPr>
          <a:lstStyle/>
          <a:p>
            <a:pPr algn="r">
              <a:spcAft>
                <a:spcPts val="300"/>
              </a:spcAft>
            </a:pPr>
            <a:endParaRPr/>
          </a:p>
        </p:txBody>
      </p:sp>
      <p:sp>
        <p:nvSpPr>
          <p:cNvPr id="11" name="TextBox 10"/>
          <p:cNvSpPr txBox="1"/>
          <p:nvPr/>
        </p:nvSpPr>
        <p:spPr>
          <a:xfrm>
            <a:off x="685800" y="1051560"/>
            <a:ext cx="10972800" cy="320040"/>
          </a:xfrm>
          <a:prstGeom prst="rect">
            <a:avLst/>
          </a:prstGeom>
          <a:noFill/>
        </p:spPr>
        <p:txBody>
          <a:bodyPr wrap="square" lIns="45720" tIns="18288" rIns="45720" bIns="18288" anchor="t">
            <a:spAutoFit/>
          </a:bodyPr>
          <a:lstStyle/>
          <a:p>
            <a:pPr algn="l">
              <a:spcAft>
                <a:spcPts val="300"/>
              </a:spcAft>
            </a:pPr>
            <a:endParaRPr/>
          </a:p>
        </p:txBody>
      </p:sp>
      <p:sp>
        <p:nvSpPr>
          <p:cNvPr id="12" name="TextBox 11"/>
          <p:cNvSpPr txBox="1"/>
          <p:nvPr/>
        </p:nvSpPr>
        <p:spPr>
          <a:xfrm>
            <a:off x="685800" y="1325880"/>
            <a:ext cx="10972800" cy="365760"/>
          </a:xfrm>
          <a:prstGeom prst="rect">
            <a:avLst/>
          </a:prstGeom>
          <a:noFill/>
        </p:spPr>
        <p:txBody>
          <a:bodyPr wrap="square" lIns="45720" tIns="18288" rIns="45720" bIns="18288" anchor="t">
            <a:spAutoFit/>
          </a:bodyPr>
          <a:lstStyle/>
          <a:p>
            <a:pPr algn="l">
              <a:spcAft>
                <a:spcPts val="300"/>
              </a:spcAft>
            </a:pPr>
            <a:r>
              <a:rPr sz="1200" b="0" i="1">
                <a:solidFill>
                  <a:srgbClr val="FFFFFF"/>
                </a:solidFill>
                <a:latin typeface="Aptos"/>
              </a:rPr>
              <a:t>Le back-office complet pour piloter la plateforme.</a:t>
            </a:r>
          </a:p>
        </p:txBody>
      </p:sp>
      <p:sp>
        <p:nvSpPr>
          <p:cNvPr id="13" name="TextBox 12"/>
          <p:cNvSpPr txBox="1"/>
          <p:nvPr/>
        </p:nvSpPr>
        <p:spPr>
          <a:xfrm>
            <a:off x="457200" y="1920240"/>
            <a:ext cx="5577840" cy="4480560"/>
          </a:xfrm>
          <a:prstGeom prst="rect">
            <a:avLst/>
          </a:prstGeom>
          <a:noFill/>
        </p:spPr>
        <p:txBody>
          <a:bodyPr wrap="square" lIns="45720" rIns="45720">
            <a:normAutofit/>
          </a:bodyPr>
          <a:lstStyle/>
          <a:p>
            <a:pPr>
              <a:spcBef>
                <a:spcPts val="800"/>
              </a:spcBef>
              <a:spcAft>
                <a:spcPts val="300"/>
              </a:spcAft>
            </a:pPr>
            <a:r>
              <a:rPr sz="1300" b="1">
                <a:solidFill>
                  <a:srgbClr val="192A32"/>
                </a:solidFill>
                <a:latin typeface="Aptos"/>
              </a:rPr>
              <a:t>Pilotage</a:t>
            </a:r>
          </a:p>
          <a:p>
            <a:pPr>
              <a:spcAft>
                <a:spcPts val="300"/>
              </a:spcAft>
            </a:pPr>
            <a:r>
              <a:rPr sz="1150">
                <a:solidFill>
                  <a:srgbClr val="192A32"/>
                </a:solidFill>
                <a:latin typeface="Aptos"/>
              </a:rPr>
              <a:t>•  Utilisateurs, abonnements et revenus, synchronisation des plans Stripe, désactivation 2FA</a:t>
            </a:r>
          </a:p>
          <a:p>
            <a:pPr>
              <a:spcAft>
                <a:spcPts val="300"/>
              </a:spcAft>
            </a:pPr>
            <a:r>
              <a:rPr sz="1150">
                <a:solidFill>
                  <a:srgbClr val="192A32"/>
                </a:solidFill>
                <a:latin typeface="Aptos"/>
              </a:rPr>
              <a:t>•  Validation KYC des pros (K-bis, décennale, SIRET) : approuver / refuser avec motif</a:t>
            </a:r>
          </a:p>
        </p:txBody>
      </p:sp>
      <p:sp>
        <p:nvSpPr>
          <p:cNvPr id="14" name="TextBox 13"/>
          <p:cNvSpPr txBox="1"/>
          <p:nvPr/>
        </p:nvSpPr>
        <p:spPr>
          <a:xfrm>
            <a:off x="6217920" y="1920240"/>
            <a:ext cx="5577840" cy="4480560"/>
          </a:xfrm>
          <a:prstGeom prst="rect">
            <a:avLst/>
          </a:prstGeom>
          <a:noFill/>
        </p:spPr>
        <p:txBody>
          <a:bodyPr wrap="square" lIns="45720" rIns="45720">
            <a:normAutofit/>
          </a:bodyPr>
          <a:lstStyle/>
          <a:p>
            <a:pPr>
              <a:spcBef>
                <a:spcPts val="800"/>
              </a:spcBef>
              <a:spcAft>
                <a:spcPts val="300"/>
              </a:spcAft>
            </a:pPr>
            <a:r>
              <a:rPr sz="1300" b="1">
                <a:solidFill>
                  <a:srgbClr val="192A32"/>
                </a:solidFill>
                <a:latin typeface="Aptos"/>
              </a:rPr>
              <a:t>Données &amp; contenu</a:t>
            </a:r>
          </a:p>
          <a:p>
            <a:pPr>
              <a:spcAft>
                <a:spcPts val="300"/>
              </a:spcAft>
            </a:pPr>
            <a:r>
              <a:rPr sz="1150">
                <a:solidFill>
                  <a:srgbClr val="192A32"/>
                </a:solidFill>
                <a:latin typeface="Aptos"/>
              </a:rPr>
              <a:t>•  Bibliothèque partagée : import Excel (fusion des manquants, actualisation des prix), export Excel, FR / PT</a:t>
            </a:r>
          </a:p>
          <a:p>
            <a:pPr>
              <a:spcAft>
                <a:spcPts val="300"/>
              </a:spcAft>
            </a:pPr>
            <a:r>
              <a:rPr sz="1150">
                <a:solidFill>
                  <a:srgbClr val="192A32"/>
                </a:solidFill>
                <a:latin typeface="Aptos"/>
              </a:rPr>
              <a:t>•  Configuration maçonnerie (ratios, blocs, prix), import SITADEL (CSV géocodé), SEO / Blog (synchro, webhook, suppression)</a:t>
            </a:r>
          </a:p>
          <a:p>
            <a:pPr>
              <a:spcAft>
                <a:spcPts val="300"/>
              </a:spcAft>
            </a:pPr>
            <a:r>
              <a:rPr sz="1150">
                <a:solidFill>
                  <a:srgbClr val="192A32"/>
                </a:solidFill>
                <a:latin typeface="Aptos"/>
              </a:rPr>
              <a:t>•  Campagnes e-mail : aperçus, envoi J+3 / J+10, statistiques de conversion</a:t>
            </a:r>
          </a:p>
        </p:txBody>
      </p:sp>
      <p:sp>
        <p:nvSpPr>
          <p:cNvPr id="17" name="Rectangle 16"/>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17</a:t>
            </a:r>
          </a:p>
        </p:txBody>
      </p:sp>
      <p:sp>
        <p:nvSpPr>
          <p:cNvPr id="19" name="Rectangle 18"/>
          <p:cNvSpPr/>
          <p:nvPr/>
        </p:nvSpPr>
        <p:spPr>
          <a:xfrm>
            <a:off x="621792" y="5925312"/>
            <a:ext cx="105156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6016752"/>
            <a:ext cx="905255" cy="118872"/>
          </a:xfrm>
          <a:prstGeom prst="rect">
            <a:avLst/>
          </a:prstGeom>
          <a:noFill/>
        </p:spPr>
        <p:txBody>
          <a:bodyPr wrap="square">
            <a:spAutoFit/>
          </a:bodyPr>
          <a:lstStyle/>
          <a:p>
            <a:pPr algn="ctr"/>
            <a:r>
              <a:rPr sz="800" b="1">
                <a:solidFill>
                  <a:srgbClr val="19A460"/>
                </a:solidFill>
                <a:latin typeface="Aptos"/>
              </a:rPr>
              <a:t>USERS</a:t>
            </a:r>
          </a:p>
        </p:txBody>
      </p:sp>
      <p:sp>
        <p:nvSpPr>
          <p:cNvPr id="21" name="Rectangle 20"/>
          <p:cNvSpPr/>
          <p:nvPr/>
        </p:nvSpPr>
        <p:spPr>
          <a:xfrm>
            <a:off x="1783080" y="5925312"/>
            <a:ext cx="105156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856232" y="6016752"/>
            <a:ext cx="905255" cy="118872"/>
          </a:xfrm>
          <a:prstGeom prst="rect">
            <a:avLst/>
          </a:prstGeom>
          <a:noFill/>
        </p:spPr>
        <p:txBody>
          <a:bodyPr wrap="square">
            <a:spAutoFit/>
          </a:bodyPr>
          <a:lstStyle/>
          <a:p>
            <a:pPr algn="ctr"/>
            <a:r>
              <a:rPr sz="800" b="1">
                <a:solidFill>
                  <a:srgbClr val="19A460"/>
                </a:solidFill>
                <a:latin typeface="Aptos"/>
              </a:rPr>
              <a:t>KYC</a:t>
            </a:r>
          </a:p>
        </p:txBody>
      </p:sp>
      <p:sp>
        <p:nvSpPr>
          <p:cNvPr id="23" name="Rectangle 22"/>
          <p:cNvSpPr/>
          <p:nvPr/>
        </p:nvSpPr>
        <p:spPr>
          <a:xfrm>
            <a:off x="2944368" y="5925312"/>
            <a:ext cx="1051560"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17520" y="6016752"/>
            <a:ext cx="905255" cy="118872"/>
          </a:xfrm>
          <a:prstGeom prst="rect">
            <a:avLst/>
          </a:prstGeom>
          <a:noFill/>
        </p:spPr>
        <p:txBody>
          <a:bodyPr wrap="square">
            <a:spAutoFit/>
          </a:bodyPr>
          <a:lstStyle/>
          <a:p>
            <a:pPr algn="ctr"/>
            <a:r>
              <a:rPr sz="800" b="1">
                <a:solidFill>
                  <a:srgbClr val="19A460"/>
                </a:solidFill>
                <a:latin typeface="Aptos"/>
              </a:rPr>
              <a:t>DATA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10" name="Rectangle 9"/>
          <p:cNvSpPr/>
          <p:nvPr/>
        </p:nvSpPr>
        <p:spPr>
          <a:xfrm>
            <a:off x="0" y="54864"/>
            <a:ext cx="12191695" cy="475488"/>
          </a:xfrm>
          <a:prstGeom prst="rect">
            <a:avLst/>
          </a:prstGeom>
          <a:solidFill>
            <a:srgbClr val="F3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109728"/>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3" name="Rectangle 2"/>
          <p:cNvSpPr/>
          <p:nvPr/>
        </p:nvSpPr>
        <p:spPr>
          <a:xfrm>
            <a:off x="0" y="0"/>
            <a:ext cx="2194560" cy="109728"/>
          </a:xfrm>
          <a:prstGeom prst="rect">
            <a:avLst/>
          </a:prstGeom>
          <a:solidFill>
            <a:srgbClr val="A3E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4" name="TextBox 3"/>
          <p:cNvSpPr txBox="1"/>
          <p:nvPr/>
        </p:nvSpPr>
        <p:spPr>
          <a:xfrm>
            <a:off x="457200" y="228600"/>
            <a:ext cx="7315200" cy="320040"/>
          </a:xfrm>
          <a:prstGeom prst="rect">
            <a:avLst/>
          </a:prstGeom>
          <a:noFill/>
        </p:spPr>
        <p:txBody>
          <a:bodyPr wrap="square" lIns="45720" tIns="18288" rIns="45720" bIns="18288" anchor="t">
            <a:spAutoFit/>
          </a:bodyPr>
          <a:lstStyle/>
          <a:p>
            <a:pPr algn="l">
              <a:spcAft>
                <a:spcPts val="300"/>
              </a:spcAft>
            </a:pPr>
            <a:r>
              <a:rPr sz="900" b="1" i="0">
                <a:solidFill>
                  <a:srgbClr val="19A460"/>
                </a:solidFill>
                <a:latin typeface="Aptos"/>
              </a:rPr>
              <a:t>SYNTHÈSE</a:t>
            </a:r>
          </a:p>
        </p:txBody>
      </p:sp>
      <p:sp>
        <p:nvSpPr>
          <p:cNvPr id="5" name="TextBox 4"/>
          <p:cNvSpPr txBox="1"/>
          <p:nvPr/>
        </p:nvSpPr>
        <p:spPr>
          <a:xfrm>
            <a:off x="457200" y="457200"/>
            <a:ext cx="10058400" cy="731520"/>
          </a:xfrm>
          <a:prstGeom prst="rect">
            <a:avLst/>
          </a:prstGeom>
          <a:noFill/>
        </p:spPr>
        <p:txBody>
          <a:bodyPr wrap="square" lIns="45720" tIns="18288" rIns="45720" bIns="18288" anchor="t">
            <a:spAutoFit/>
          </a:bodyPr>
          <a:lstStyle/>
          <a:p>
            <a:pPr algn="l">
              <a:spcAft>
                <a:spcPts val="300"/>
              </a:spcAft>
            </a:pPr>
            <a:r>
              <a:rPr sz="2300" b="1" i="0">
                <a:solidFill>
                  <a:srgbClr val="192A32"/>
                </a:solidFill>
                <a:latin typeface="Aptos"/>
              </a:rPr>
              <a:t>Comparatif des offres</a:t>
            </a:r>
          </a:p>
        </p:txBody>
      </p:sp>
      <p:sp>
        <p:nvSpPr>
          <p:cNvPr id="6" name="TextBox 5"/>
          <p:cNvSpPr txBox="1"/>
          <p:nvPr/>
        </p:nvSpPr>
        <p:spPr>
          <a:xfrm>
            <a:off x="457200" y="6492240"/>
            <a:ext cx="7315200" cy="274320"/>
          </a:xfrm>
          <a:prstGeom prst="rect">
            <a:avLst/>
          </a:prstGeom>
          <a:noFill/>
        </p:spPr>
        <p:txBody>
          <a:bodyPr wrap="square" lIns="45720" tIns="18288" rIns="45720" bIns="18288" anchor="t">
            <a:spAutoFit/>
          </a:bodyPr>
          <a:lstStyle/>
          <a:p>
            <a:pPr algn="l">
              <a:spcAft>
                <a:spcPts val="300"/>
              </a:spcAft>
            </a:pPr>
            <a:r>
              <a:rPr sz="900" b="0" i="0">
                <a:solidFill>
                  <a:srgbClr val="192A32"/>
                </a:solidFill>
                <a:latin typeface="Aptos"/>
              </a:rPr>
              <a:t>ConstruPilot — Estimez. Comparez. Construisez.</a:t>
            </a:r>
          </a:p>
        </p:txBody>
      </p:sp>
      <p:sp>
        <p:nvSpPr>
          <p:cNvPr id="7" name="TextBox 6"/>
          <p:cNvSpPr txBox="1"/>
          <p:nvPr/>
        </p:nvSpPr>
        <p:spPr>
          <a:xfrm>
            <a:off x="8076895" y="6492240"/>
            <a:ext cx="3657600" cy="274320"/>
          </a:xfrm>
          <a:prstGeom prst="rect">
            <a:avLst/>
          </a:prstGeom>
          <a:noFill/>
        </p:spPr>
        <p:txBody>
          <a:bodyPr wrap="square" lIns="45720" tIns="18288" rIns="45720" bIns="18288" anchor="t">
            <a:spAutoFit/>
          </a:bodyPr>
          <a:lstStyle/>
          <a:p>
            <a:pPr algn="r">
              <a:spcAft>
                <a:spcPts val="300"/>
              </a:spcAft>
            </a:pPr>
            <a:r>
              <a:rPr sz="900" b="0" i="0">
                <a:solidFill>
                  <a:srgbClr val="192A32"/>
                </a:solidFill>
                <a:latin typeface="Aptos"/>
              </a:rPr>
              <a:t>construpilot.fr · construpilot.pt</a:t>
            </a:r>
          </a:p>
        </p:txBody>
      </p:sp>
      <p:graphicFrame>
        <p:nvGraphicFramePr>
          <p:cNvPr id="8" name="Table 7"/>
          <p:cNvGraphicFramePr>
            <a:graphicFrameLocks noGrp="1"/>
          </p:cNvGraphicFramePr>
          <p:nvPr/>
        </p:nvGraphicFramePr>
        <p:xfrm>
          <a:off x="457200" y="1234440"/>
          <a:ext cx="11247120" cy="4764024"/>
        </p:xfrm>
        <a:graphic>
          <a:graphicData uri="http://schemas.openxmlformats.org/drawingml/2006/table">
            <a:tbl>
              <a:tblPr firstRow="1" bandRow="1">
                <a:tableStyleId>{5C22544A-7EE6-4342-B048-85BDC9FD1C3A}</a:tableStyleId>
              </a:tblPr>
              <a:tblGrid>
                <a:gridCol w="46634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20040">
                <a:tc>
                  <a:txBody>
                    <a:bodyPr/>
                    <a:lstStyle/>
                    <a:p>
                      <a:pPr algn="l">
                        <a:defRPr sz="1000" b="1">
                          <a:solidFill>
                            <a:srgbClr val="FFFFFF"/>
                          </a:solidFill>
                          <a:latin typeface="Calibri"/>
                        </a:defRPr>
                      </a:pPr>
                      <a:r>
                        <a:t>Fonction</a:t>
                      </a:r>
                    </a:p>
                  </a:txBody>
                  <a:tcPr>
                    <a:solidFill>
                      <a:srgbClr val="04120A"/>
                    </a:solidFill>
                  </a:tcPr>
                </a:tc>
                <a:tc>
                  <a:txBody>
                    <a:bodyPr/>
                    <a:lstStyle/>
                    <a:p>
                      <a:pPr algn="ctr">
                        <a:defRPr sz="1000" b="1">
                          <a:solidFill>
                            <a:srgbClr val="FFFFFF"/>
                          </a:solidFill>
                          <a:latin typeface="Calibri"/>
                        </a:defRPr>
                      </a:pPr>
                      <a:r>
                        <a:t>Particuliers</a:t>
                      </a:r>
                    </a:p>
                  </a:txBody>
                  <a:tcPr>
                    <a:solidFill>
                      <a:srgbClr val="04120A"/>
                    </a:solidFill>
                  </a:tcPr>
                </a:tc>
                <a:tc>
                  <a:txBody>
                    <a:bodyPr/>
                    <a:lstStyle/>
                    <a:p>
                      <a:pPr algn="ctr">
                        <a:defRPr sz="1000" b="1">
                          <a:solidFill>
                            <a:srgbClr val="FFFFFF"/>
                          </a:solidFill>
                          <a:latin typeface="Calibri"/>
                        </a:defRPr>
                      </a:pPr>
                      <a:r>
                        <a:t>Premium</a:t>
                      </a:r>
                    </a:p>
                  </a:txBody>
                  <a:tcPr>
                    <a:solidFill>
                      <a:srgbClr val="04120A"/>
                    </a:solidFill>
                  </a:tcPr>
                </a:tc>
                <a:tc>
                  <a:txBody>
                    <a:bodyPr/>
                    <a:lstStyle/>
                    <a:p>
                      <a:pPr algn="ctr">
                        <a:defRPr sz="1000" b="1">
                          <a:solidFill>
                            <a:srgbClr val="FFFFFF"/>
                          </a:solidFill>
                          <a:latin typeface="Calibri"/>
                        </a:defRPr>
                      </a:pPr>
                      <a:r>
                        <a:t>Pro</a:t>
                      </a:r>
                    </a:p>
                  </a:txBody>
                  <a:tcPr>
                    <a:solidFill>
                      <a:srgbClr val="04120A"/>
                    </a:solidFill>
                  </a:tcPr>
                </a:tc>
                <a:tc>
                  <a:txBody>
                    <a:bodyPr/>
                    <a:lstStyle/>
                    <a:p>
                      <a:pPr algn="ctr">
                        <a:defRPr sz="1000" b="1">
                          <a:solidFill>
                            <a:srgbClr val="FFFFFF"/>
                          </a:solidFill>
                          <a:latin typeface="Calibri"/>
                        </a:defRPr>
                      </a:pPr>
                      <a:r>
                        <a:t>Pro Business</a:t>
                      </a:r>
                    </a:p>
                  </a:txBody>
                  <a:tcPr>
                    <a:solidFill>
                      <a:srgbClr val="04120A"/>
                    </a:solidFill>
                  </a:tcPr>
                </a:tc>
                <a:extLst>
                  <a:ext uri="{0D108BD9-81ED-4DB2-BD59-A6C34878D82A}">
                    <a16:rowId xmlns:a16="http://schemas.microsoft.com/office/drawing/2014/main" val="10000"/>
                  </a:ext>
                </a:extLst>
              </a:tr>
              <a:tr h="246888">
                <a:tc>
                  <a:txBody>
                    <a:bodyPr/>
                    <a:lstStyle/>
                    <a:p>
                      <a:pPr algn="l">
                        <a:defRPr sz="850">
                          <a:solidFill>
                            <a:srgbClr val="1F2A24"/>
                          </a:solidFill>
                          <a:latin typeface="Calibri"/>
                        </a:defRPr>
                      </a:pPr>
                      <a:r>
                        <a:t>Estimateur 3 gammes + calculateurs</a:t>
                      </a:r>
                    </a:p>
                  </a:txBody>
                  <a:tcPr marT="20000" marB="20000">
                    <a:solidFill>
                      <a:srgbClr val="FFFFFF"/>
                    </a:solidFill>
                  </a:tcPr>
                </a:tc>
                <a:tc>
                  <a:txBody>
                    <a:bodyPr/>
                    <a:lstStyle/>
                    <a:p>
                      <a:pPr algn="ctr">
                        <a:defRPr sz="850">
                          <a:solidFill>
                            <a:srgbClr val="1F2A24"/>
                          </a:solidFill>
                          <a:latin typeface="Calibri"/>
                        </a:defRPr>
                      </a:pPr>
                      <a:r>
                        <a:t>✓ (3/mois)</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extLst>
                  <a:ext uri="{0D108BD9-81ED-4DB2-BD59-A6C34878D82A}">
                    <a16:rowId xmlns:a16="http://schemas.microsoft.com/office/drawing/2014/main" val="10001"/>
                  </a:ext>
                </a:extLst>
              </a:tr>
              <a:tr h="246888">
                <a:tc>
                  <a:txBody>
                    <a:bodyPr/>
                    <a:lstStyle/>
                    <a:p>
                      <a:pPr algn="l">
                        <a:defRPr sz="850">
                          <a:solidFill>
                            <a:srgbClr val="1F2A24"/>
                          </a:solidFill>
                          <a:latin typeface="Calibri"/>
                        </a:defRPr>
                      </a:pPr>
                      <a:r>
                        <a:t>Smart Project, photo IA, Coach IA</a:t>
                      </a:r>
                    </a:p>
                  </a:txBody>
                  <a:tcPr marT="20000" marB="20000">
                    <a:solidFill>
                      <a:srgbClr val="EAF3EE"/>
                    </a:solidFill>
                  </a:tcPr>
                </a:tc>
                <a:tc>
                  <a:txBody>
                    <a:bodyPr/>
                    <a:lstStyle/>
                    <a:p>
                      <a:pPr algn="ctr">
                        <a:defRPr sz="850">
                          <a:solidFill>
                            <a:srgbClr val="1F2A24"/>
                          </a:solidFill>
                          <a:latin typeface="Calibri"/>
                        </a:defRPr>
                      </a:pPr>
                      <a:r>
                        <a:t>Limité</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extLst>
                  <a:ext uri="{0D108BD9-81ED-4DB2-BD59-A6C34878D82A}">
                    <a16:rowId xmlns:a16="http://schemas.microsoft.com/office/drawing/2014/main" val="10002"/>
                  </a:ext>
                </a:extLst>
              </a:tr>
              <a:tr h="246888">
                <a:tc>
                  <a:txBody>
                    <a:bodyPr/>
                    <a:lstStyle/>
                    <a:p>
                      <a:pPr algn="l">
                        <a:defRPr sz="850">
                          <a:solidFill>
                            <a:srgbClr val="1F2A24"/>
                          </a:solidFill>
                          <a:latin typeface="Calibri"/>
                        </a:defRPr>
                      </a:pPr>
                      <a:r>
                        <a:t>Scanner / analyse de devis</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Illimité</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extLst>
                  <a:ext uri="{0D108BD9-81ED-4DB2-BD59-A6C34878D82A}">
                    <a16:rowId xmlns:a16="http://schemas.microsoft.com/office/drawing/2014/main" val="10003"/>
                  </a:ext>
                </a:extLst>
              </a:tr>
              <a:tr h="246888">
                <a:tc>
                  <a:txBody>
                    <a:bodyPr/>
                    <a:lstStyle/>
                    <a:p>
                      <a:pPr algn="l">
                        <a:defRPr sz="850">
                          <a:solidFill>
                            <a:srgbClr val="1F2A24"/>
                          </a:solidFill>
                          <a:latin typeface="Calibri"/>
                        </a:defRPr>
                      </a:pPr>
                      <a:r>
                        <a:t>Historique &amp; alertes prix, suivi dépenses</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extLst>
                  <a:ext uri="{0D108BD9-81ED-4DB2-BD59-A6C34878D82A}">
                    <a16:rowId xmlns:a16="http://schemas.microsoft.com/office/drawing/2014/main" val="10004"/>
                  </a:ext>
                </a:extLst>
              </a:tr>
              <a:tr h="246888">
                <a:tc>
                  <a:txBody>
                    <a:bodyPr/>
                    <a:lstStyle/>
                    <a:p>
                      <a:pPr algn="l">
                        <a:defRPr sz="850">
                          <a:solidFill>
                            <a:srgbClr val="1F2A24"/>
                          </a:solidFill>
                          <a:latin typeface="Calibri"/>
                        </a:defRPr>
                      </a:pPr>
                      <a:r>
                        <a:t>Rendu 3D / vidéo / maquette</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Crédits</a:t>
                      </a:r>
                    </a:p>
                  </a:txBody>
                  <a:tcPr marT="20000" marB="20000">
                    <a:solidFill>
                      <a:srgbClr val="FFFFFF"/>
                    </a:solidFill>
                  </a:tcPr>
                </a:tc>
                <a:tc>
                  <a:txBody>
                    <a:bodyPr/>
                    <a:lstStyle/>
                    <a:p>
                      <a:pPr algn="ctr">
                        <a:defRPr sz="850">
                          <a:solidFill>
                            <a:srgbClr val="1F2A24"/>
                          </a:solidFill>
                          <a:latin typeface="Calibri"/>
                        </a:defRPr>
                      </a:pPr>
                      <a:r>
                        <a:t>Crédits</a:t>
                      </a:r>
                    </a:p>
                  </a:txBody>
                  <a:tcPr marT="20000" marB="20000">
                    <a:solidFill>
                      <a:srgbClr val="FFFFFF"/>
                    </a:solidFill>
                  </a:tcPr>
                </a:tc>
                <a:tc>
                  <a:txBody>
                    <a:bodyPr/>
                    <a:lstStyle/>
                    <a:p>
                      <a:pPr algn="ctr">
                        <a:defRPr sz="850">
                          <a:solidFill>
                            <a:srgbClr val="1F2A24"/>
                          </a:solidFill>
                          <a:latin typeface="Calibri"/>
                        </a:defRPr>
                      </a:pPr>
                      <a:r>
                        <a:t>Inclus</a:t>
                      </a:r>
                    </a:p>
                  </a:txBody>
                  <a:tcPr marT="20000" marB="20000">
                    <a:solidFill>
                      <a:srgbClr val="FFFFFF"/>
                    </a:solidFill>
                  </a:tcPr>
                </a:tc>
                <a:extLst>
                  <a:ext uri="{0D108BD9-81ED-4DB2-BD59-A6C34878D82A}">
                    <a16:rowId xmlns:a16="http://schemas.microsoft.com/office/drawing/2014/main" val="10005"/>
                  </a:ext>
                </a:extLst>
              </a:tr>
              <a:tr h="246888">
                <a:tc>
                  <a:txBody>
                    <a:bodyPr/>
                    <a:lstStyle/>
                    <a:p>
                      <a:pPr algn="l">
                        <a:defRPr sz="850">
                          <a:solidFill>
                            <a:srgbClr val="1F2A24"/>
                          </a:solidFill>
                          <a:latin typeface="Calibri"/>
                        </a:defRPr>
                      </a:pPr>
                      <a:r>
                        <a:t>Éditeur de devis + bibliothèque 322 ouvrages</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extLst>
                  <a:ext uri="{0D108BD9-81ED-4DB2-BD59-A6C34878D82A}">
                    <a16:rowId xmlns:a16="http://schemas.microsoft.com/office/drawing/2014/main" val="10006"/>
                  </a:ext>
                </a:extLst>
              </a:tr>
              <a:tr h="246888">
                <a:tc>
                  <a:txBody>
                    <a:bodyPr/>
                    <a:lstStyle/>
                    <a:p>
                      <a:pPr algn="l">
                        <a:defRPr sz="850">
                          <a:solidFill>
                            <a:srgbClr val="1F2A24"/>
                          </a:solidFill>
                          <a:latin typeface="Calibri"/>
                        </a:defRPr>
                      </a:pPr>
                      <a:r>
                        <a:t>Marges par lot, PDF interne, alerte marge</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extLst>
                  <a:ext uri="{0D108BD9-81ED-4DB2-BD59-A6C34878D82A}">
                    <a16:rowId xmlns:a16="http://schemas.microsoft.com/office/drawing/2014/main" val="10007"/>
                  </a:ext>
                </a:extLst>
              </a:tr>
              <a:tr h="246888">
                <a:tc>
                  <a:txBody>
                    <a:bodyPr/>
                    <a:lstStyle/>
                    <a:p>
                      <a:pPr algn="l">
                        <a:defRPr sz="850">
                          <a:solidFill>
                            <a:srgbClr val="1F2A24"/>
                          </a:solidFill>
                          <a:latin typeface="Calibri"/>
                        </a:defRPr>
                      </a:pPr>
                      <a:r>
                        <a:t>Devis depuis plan / CCTP / voix / photo</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extLst>
                  <a:ext uri="{0D108BD9-81ED-4DB2-BD59-A6C34878D82A}">
                    <a16:rowId xmlns:a16="http://schemas.microsoft.com/office/drawing/2014/main" val="10008"/>
                  </a:ext>
                </a:extLst>
              </a:tr>
              <a:tr h="246888">
                <a:tc>
                  <a:txBody>
                    <a:bodyPr/>
                    <a:lstStyle/>
                    <a:p>
                      <a:pPr algn="l">
                        <a:defRPr sz="850">
                          <a:solidFill>
                            <a:srgbClr val="1F2A24"/>
                          </a:solidFill>
                          <a:latin typeface="Calibri"/>
                        </a:defRPr>
                      </a:pPr>
                      <a:r>
                        <a:t>Signature en ligne + acompte Stripe</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extLst>
                  <a:ext uri="{0D108BD9-81ED-4DB2-BD59-A6C34878D82A}">
                    <a16:rowId xmlns:a16="http://schemas.microsoft.com/office/drawing/2014/main" val="10009"/>
                  </a:ext>
                </a:extLst>
              </a:tr>
              <a:tr h="246888">
                <a:tc>
                  <a:txBody>
                    <a:bodyPr/>
                    <a:lstStyle/>
                    <a:p>
                      <a:pPr algn="l">
                        <a:defRPr sz="850">
                          <a:solidFill>
                            <a:srgbClr val="1F2A24"/>
                          </a:solidFill>
                          <a:latin typeface="Calibri"/>
                        </a:defRPr>
                      </a:pPr>
                      <a:r>
                        <a:t>Factures, situations, Factur-X</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Option 5 €</a:t>
                      </a:r>
                    </a:p>
                  </a:txBody>
                  <a:tcPr marT="20000" marB="20000">
                    <a:solidFill>
                      <a:srgbClr val="EAF3EE"/>
                    </a:solidFill>
                  </a:tcPr>
                </a:tc>
                <a:tc>
                  <a:txBody>
                    <a:bodyPr/>
                    <a:lstStyle/>
                    <a:p>
                      <a:pPr algn="ctr">
                        <a:defRPr sz="850">
                          <a:solidFill>
                            <a:srgbClr val="1F2A24"/>
                          </a:solidFill>
                          <a:latin typeface="Calibri"/>
                        </a:defRPr>
                      </a:pPr>
                      <a:r>
                        <a:t>Inclus</a:t>
                      </a:r>
                    </a:p>
                  </a:txBody>
                  <a:tcPr marT="20000" marB="20000">
                    <a:solidFill>
                      <a:srgbClr val="EAF3EE"/>
                    </a:solidFill>
                  </a:tcPr>
                </a:tc>
                <a:extLst>
                  <a:ext uri="{0D108BD9-81ED-4DB2-BD59-A6C34878D82A}">
                    <a16:rowId xmlns:a16="http://schemas.microsoft.com/office/drawing/2014/main" val="10010"/>
                  </a:ext>
                </a:extLst>
              </a:tr>
              <a:tr h="246888">
                <a:tc>
                  <a:txBody>
                    <a:bodyPr/>
                    <a:lstStyle/>
                    <a:p>
                      <a:pPr algn="l">
                        <a:defRPr sz="850">
                          <a:solidFill>
                            <a:srgbClr val="1F2A24"/>
                          </a:solidFill>
                          <a:latin typeface="Calibri"/>
                        </a:defRPr>
                      </a:pPr>
                      <a:r>
                        <a:t>Plans DWG/DXF/PDF, métré béton, étude PC</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extLst>
                  <a:ext uri="{0D108BD9-81ED-4DB2-BD59-A6C34878D82A}">
                    <a16:rowId xmlns:a16="http://schemas.microsoft.com/office/drawing/2014/main" val="10011"/>
                  </a:ext>
                </a:extLst>
              </a:tr>
              <a:tr h="246888">
                <a:tc>
                  <a:txBody>
                    <a:bodyPr/>
                    <a:lstStyle/>
                    <a:p>
                      <a:pPr algn="l">
                        <a:defRPr sz="850">
                          <a:solidFill>
                            <a:srgbClr val="1F2A24"/>
                          </a:solidFill>
                          <a:latin typeface="Calibri"/>
                        </a:defRPr>
                      </a:pPr>
                      <a:r>
                        <a:t>Approvisionnement (acier, toiture, VRD)</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extLst>
                  <a:ext uri="{0D108BD9-81ED-4DB2-BD59-A6C34878D82A}">
                    <a16:rowId xmlns:a16="http://schemas.microsoft.com/office/drawing/2014/main" val="10012"/>
                  </a:ext>
                </a:extLst>
              </a:tr>
              <a:tr h="246888">
                <a:tc>
                  <a:txBody>
                    <a:bodyPr/>
                    <a:lstStyle/>
                    <a:p>
                      <a:pPr algn="l">
                        <a:defRPr sz="850">
                          <a:solidFill>
                            <a:srgbClr val="1F2A24"/>
                          </a:solidFill>
                          <a:latin typeface="Calibri"/>
                        </a:defRPr>
                      </a:pPr>
                      <a:r>
                        <a:t>Radar Chantiers + courrier postal</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extLst>
                  <a:ext uri="{0D108BD9-81ED-4DB2-BD59-A6C34878D82A}">
                    <a16:rowId xmlns:a16="http://schemas.microsoft.com/office/drawing/2014/main" val="10013"/>
                  </a:ext>
                </a:extLst>
              </a:tr>
              <a:tr h="246888">
                <a:tc>
                  <a:txBody>
                    <a:bodyPr/>
                    <a:lstStyle/>
                    <a:p>
                      <a:pPr algn="l">
                        <a:defRPr sz="850">
                          <a:solidFill>
                            <a:srgbClr val="1F2A24"/>
                          </a:solidFill>
                          <a:latin typeface="Calibri"/>
                        </a:defRPr>
                      </a:pPr>
                      <a:r>
                        <a:t>CRM clients, leads, avis, Pro vérifié</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extLst>
                  <a:ext uri="{0D108BD9-81ED-4DB2-BD59-A6C34878D82A}">
                    <a16:rowId xmlns:a16="http://schemas.microsoft.com/office/drawing/2014/main" val="10014"/>
                  </a:ext>
                </a:extLst>
              </a:tr>
              <a:tr h="246888">
                <a:tc>
                  <a:txBody>
                    <a:bodyPr/>
                    <a:lstStyle/>
                    <a:p>
                      <a:pPr algn="l">
                        <a:defRPr sz="850">
                          <a:solidFill>
                            <a:srgbClr val="1F2A24"/>
                          </a:solidFill>
                          <a:latin typeface="Calibri"/>
                        </a:defRPr>
                      </a:pPr>
                      <a:r>
                        <a:t>Équipe (5 utilisateurs), rôles</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1 utilisateur</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extLst>
                  <a:ext uri="{0D108BD9-81ED-4DB2-BD59-A6C34878D82A}">
                    <a16:rowId xmlns:a16="http://schemas.microsoft.com/office/drawing/2014/main" val="10015"/>
                  </a:ext>
                </a:extLst>
              </a:tr>
              <a:tr h="246888">
                <a:tc>
                  <a:txBody>
                    <a:bodyPr/>
                    <a:lstStyle/>
                    <a:p>
                      <a:pPr algn="l">
                        <a:defRPr sz="850">
                          <a:solidFill>
                            <a:srgbClr val="1F2A24"/>
                          </a:solidFill>
                          <a:latin typeface="Calibri"/>
                        </a:defRPr>
                      </a:pPr>
                      <a:r>
                        <a:t>RH, pointage, suivi chantier coûts réels</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extLst>
                  <a:ext uri="{0D108BD9-81ED-4DB2-BD59-A6C34878D82A}">
                    <a16:rowId xmlns:a16="http://schemas.microsoft.com/office/drawing/2014/main" val="10016"/>
                  </a:ext>
                </a:extLst>
              </a:tr>
              <a:tr h="246888">
                <a:tc>
                  <a:txBody>
                    <a:bodyPr/>
                    <a:lstStyle/>
                    <a:p>
                      <a:pPr algn="l">
                        <a:defRPr sz="850">
                          <a:solidFill>
                            <a:srgbClr val="1F2A24"/>
                          </a:solidFill>
                          <a:latin typeface="Calibri"/>
                        </a:defRPr>
                      </a:pPr>
                      <a:r>
                        <a:t>Gantt, reporting, automatisations</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tc>
                  <a:txBody>
                    <a:bodyPr/>
                    <a:lstStyle/>
                    <a:p>
                      <a:pPr algn="ctr">
                        <a:defRPr sz="850">
                          <a:solidFill>
                            <a:srgbClr val="1F2A24"/>
                          </a:solidFill>
                          <a:latin typeface="Calibri"/>
                        </a:defRPr>
                      </a:pPr>
                      <a:r>
                        <a:t>✓</a:t>
                      </a:r>
                    </a:p>
                  </a:txBody>
                  <a:tcPr marT="20000" marB="20000">
                    <a:solidFill>
                      <a:srgbClr val="FFFFFF"/>
                    </a:solidFill>
                  </a:tcPr>
                </a:tc>
                <a:extLst>
                  <a:ext uri="{0D108BD9-81ED-4DB2-BD59-A6C34878D82A}">
                    <a16:rowId xmlns:a16="http://schemas.microsoft.com/office/drawing/2014/main" val="10017"/>
                  </a:ext>
                </a:extLst>
              </a:tr>
              <a:tr h="246888">
                <a:tc>
                  <a:txBody>
                    <a:bodyPr/>
                    <a:lstStyle/>
                    <a:p>
                      <a:pPr algn="l">
                        <a:defRPr sz="850">
                          <a:solidFill>
                            <a:srgbClr val="1F2A24"/>
                          </a:solidFill>
                          <a:latin typeface="Calibri"/>
                        </a:defRPr>
                      </a:pPr>
                      <a:r>
                        <a:t>Blog, newsletter, FR / PT, PWA</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tc>
                  <a:txBody>
                    <a:bodyPr/>
                    <a:lstStyle/>
                    <a:p>
                      <a:pPr algn="ctr">
                        <a:defRPr sz="850">
                          <a:solidFill>
                            <a:srgbClr val="1F2A24"/>
                          </a:solidFill>
                          <a:latin typeface="Calibri"/>
                        </a:defRPr>
                      </a:pPr>
                      <a:r>
                        <a:t>✓</a:t>
                      </a:r>
                    </a:p>
                  </a:txBody>
                  <a:tcPr marT="20000" marB="20000">
                    <a:solidFill>
                      <a:srgbClr val="EAF3EE"/>
                    </a:solidFill>
                  </a:tcPr>
                </a:tc>
                <a:extLst>
                  <a:ext uri="{0D108BD9-81ED-4DB2-BD59-A6C34878D82A}">
                    <a16:rowId xmlns:a16="http://schemas.microsoft.com/office/drawing/2014/main" val="10018"/>
                  </a:ext>
                </a:extLst>
              </a:tr>
            </a:tbl>
          </a:graphicData>
        </a:graphic>
      </p:graphicFrame>
      <p:sp>
        <p:nvSpPr>
          <p:cNvPr id="11" name="Rectangle 10"/>
          <p:cNvSpPr/>
          <p:nvPr/>
        </p:nvSpPr>
        <p:spPr>
          <a:xfrm>
            <a:off x="502920" y="6373368"/>
            <a:ext cx="11155680" cy="9144"/>
          </a:xfrm>
          <a:prstGeom prst="rect">
            <a:avLst/>
          </a:prstGeom>
          <a:solidFill>
            <a:srgbClr val="DAE5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109960" y="6473952"/>
            <a:ext cx="457200" cy="164592"/>
          </a:xfrm>
          <a:prstGeom prst="rect">
            <a:avLst/>
          </a:prstGeom>
          <a:noFill/>
        </p:spPr>
        <p:txBody>
          <a:bodyPr wrap="square">
            <a:spAutoFit/>
          </a:bodyPr>
          <a:lstStyle/>
          <a:p>
            <a:pPr algn="r"/>
            <a:r>
              <a:rPr sz="800" b="1">
                <a:solidFill>
                  <a:srgbClr val="5B6C72"/>
                </a:solidFill>
                <a:latin typeface="Aptos"/>
              </a:rPr>
              <a:t>18</a:t>
            </a:r>
          </a:p>
        </p:txBody>
      </p:sp>
      <p:sp>
        <p:nvSpPr>
          <p:cNvPr id="13" name="Rectangle 12"/>
          <p:cNvSpPr/>
          <p:nvPr/>
        </p:nvSpPr>
        <p:spPr>
          <a:xfrm>
            <a:off x="621792" y="5925312"/>
            <a:ext cx="1078992"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4944" y="6016752"/>
            <a:ext cx="932688" cy="118872"/>
          </a:xfrm>
          <a:prstGeom prst="rect">
            <a:avLst/>
          </a:prstGeom>
          <a:noFill/>
        </p:spPr>
        <p:txBody>
          <a:bodyPr wrap="square">
            <a:spAutoFit/>
          </a:bodyPr>
          <a:lstStyle/>
          <a:p>
            <a:pPr algn="ctr"/>
            <a:r>
              <a:rPr sz="800" b="1">
                <a:solidFill>
                  <a:srgbClr val="19A460"/>
                </a:solidFill>
                <a:latin typeface="Aptos"/>
              </a:rPr>
              <a:t>OFFRES</a:t>
            </a:r>
          </a:p>
        </p:txBody>
      </p:sp>
      <p:sp>
        <p:nvSpPr>
          <p:cNvPr id="15" name="Rectangle 14"/>
          <p:cNvSpPr/>
          <p:nvPr/>
        </p:nvSpPr>
        <p:spPr>
          <a:xfrm>
            <a:off x="1810512" y="5925312"/>
            <a:ext cx="1367028"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883664" y="6016752"/>
            <a:ext cx="1220724" cy="118872"/>
          </a:xfrm>
          <a:prstGeom prst="rect">
            <a:avLst/>
          </a:prstGeom>
          <a:noFill/>
        </p:spPr>
        <p:txBody>
          <a:bodyPr wrap="square">
            <a:spAutoFit/>
          </a:bodyPr>
          <a:lstStyle/>
          <a:p>
            <a:pPr algn="ctr"/>
            <a:r>
              <a:rPr sz="800" b="1">
                <a:solidFill>
                  <a:srgbClr val="19A460"/>
                </a:solidFill>
                <a:latin typeface="Aptos"/>
              </a:rPr>
              <a:t>FONCTIONS</a:t>
            </a:r>
          </a:p>
        </p:txBody>
      </p:sp>
      <p:sp>
        <p:nvSpPr>
          <p:cNvPr id="17" name="Rectangle 16"/>
          <p:cNvSpPr/>
          <p:nvPr/>
        </p:nvSpPr>
        <p:spPr>
          <a:xfrm>
            <a:off x="3287268" y="5925312"/>
            <a:ext cx="1078992" cy="310896"/>
          </a:xfrm>
          <a:prstGeom prst="rect">
            <a:avLst/>
          </a:prstGeom>
          <a:solidFill>
            <a:srgbClr val="E8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60420" y="6016752"/>
            <a:ext cx="932688" cy="118872"/>
          </a:xfrm>
          <a:prstGeom prst="rect">
            <a:avLst/>
          </a:prstGeom>
          <a:noFill/>
        </p:spPr>
        <p:txBody>
          <a:bodyPr wrap="square">
            <a:spAutoFit/>
          </a:bodyPr>
          <a:lstStyle/>
          <a:p>
            <a:pPr algn="ctr"/>
            <a:r>
              <a:rPr sz="800" b="1">
                <a:solidFill>
                  <a:srgbClr val="19A460"/>
                </a:solidFill>
                <a:latin typeface="Aptos"/>
              </a:rPr>
              <a:t>TARIFS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CFB"/>
        </a:solidFill>
        <a:effectLst/>
      </p:bgPr>
    </p:bg>
    <p:spTree>
      <p:nvGrpSpPr>
        <p:cNvPr id="1" name=""/>
        <p:cNvGrpSpPr/>
        <p:nvPr/>
      </p:nvGrpSpPr>
      <p:grpSpPr>
        <a:xfrm>
          <a:off x="0" y="0"/>
          <a:ext cx="0" cy="0"/>
          <a:chOff x="0" y="0"/>
          <a:chExt cx="0" cy="0"/>
        </a:xfrm>
      </p:grpSpPr>
      <p:sp>
        <p:nvSpPr>
          <p:cNvPr id="8" name="Rectangle 7"/>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0"/>
            <a:ext cx="12191695" cy="50292"/>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2" name="Rectangle 1"/>
          <p:cNvSpPr/>
          <p:nvPr/>
        </p:nvSpPr>
        <p:spPr>
          <a:xfrm>
            <a:off x="0" y="0"/>
            <a:ext cx="12191695" cy="6858000"/>
          </a:xfrm>
          <a:prstGeom prst="rect">
            <a:avLst/>
          </a:prstGeom>
          <a:solidFill>
            <a:srgbClr val="04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9" name="Rectangle 8"/>
          <p:cNvSpPr/>
          <p:nvPr/>
        </p:nvSpPr>
        <p:spPr>
          <a:xfrm>
            <a:off x="0" y="0"/>
            <a:ext cx="109728" cy="6858000"/>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731520"/>
            <a:ext cx="2743200" cy="320040"/>
          </a:xfrm>
          <a:prstGeom prst="rect">
            <a:avLst/>
          </a:prstGeom>
          <a:noFill/>
        </p:spPr>
        <p:txBody>
          <a:bodyPr wrap="square">
            <a:spAutoFit/>
          </a:bodyPr>
          <a:lstStyle/>
          <a:p>
            <a:pPr algn="l"/>
            <a:r>
              <a:rPr sz="1400" b="1">
                <a:solidFill>
                  <a:srgbClr val="FFFFFF"/>
                </a:solidFill>
                <a:latin typeface="Aptos"/>
              </a:rPr>
              <a:t>ConstruPilot</a:t>
            </a:r>
          </a:p>
        </p:txBody>
      </p:sp>
      <p:sp>
        <p:nvSpPr>
          <p:cNvPr id="11" name="TextBox 10"/>
          <p:cNvSpPr txBox="1"/>
          <p:nvPr/>
        </p:nvSpPr>
        <p:spPr>
          <a:xfrm>
            <a:off x="713232" y="1417320"/>
            <a:ext cx="6583680" cy="1143000"/>
          </a:xfrm>
          <a:prstGeom prst="rect">
            <a:avLst/>
          </a:prstGeom>
          <a:noFill/>
        </p:spPr>
        <p:txBody>
          <a:bodyPr wrap="square">
            <a:spAutoFit/>
          </a:bodyPr>
          <a:lstStyle/>
          <a:p>
            <a:pPr algn="l"/>
            <a:r>
              <a:rPr sz="3400" b="1">
                <a:solidFill>
                  <a:srgbClr val="FFFFFF"/>
                </a:solidFill>
                <a:latin typeface="Aptos"/>
              </a:rPr>
              <a:t>Passez du projet
au pilotage.</a:t>
            </a:r>
          </a:p>
        </p:txBody>
      </p:sp>
      <p:sp>
        <p:nvSpPr>
          <p:cNvPr id="12" name="TextBox 11"/>
          <p:cNvSpPr txBox="1"/>
          <p:nvPr/>
        </p:nvSpPr>
        <p:spPr>
          <a:xfrm>
            <a:off x="731520" y="2852928"/>
            <a:ext cx="6858000" cy="457200"/>
          </a:xfrm>
          <a:prstGeom prst="rect">
            <a:avLst/>
          </a:prstGeom>
          <a:noFill/>
        </p:spPr>
        <p:txBody>
          <a:bodyPr wrap="square">
            <a:spAutoFit/>
          </a:bodyPr>
          <a:lstStyle/>
          <a:p>
            <a:pPr algn="l"/>
            <a:r>
              <a:rPr sz="1400" b="0">
                <a:solidFill>
                  <a:srgbClr val="FFFFFF"/>
                </a:solidFill>
                <a:latin typeface="Aptos"/>
              </a:rPr>
              <a:t>Une plateforme claire pour estimer, comparer, chiffrer et suivre les travaux.</a:t>
            </a:r>
          </a:p>
        </p:txBody>
      </p:sp>
      <p:sp>
        <p:nvSpPr>
          <p:cNvPr id="13" name="Rectangle 12"/>
          <p:cNvSpPr/>
          <p:nvPr/>
        </p:nvSpPr>
        <p:spPr>
          <a:xfrm>
            <a:off x="731520" y="3840480"/>
            <a:ext cx="2834640" cy="502920"/>
          </a:xfrm>
          <a:prstGeom prst="rect">
            <a:avLst/>
          </a:prstGeom>
          <a:solidFill>
            <a:srgbClr val="19A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4005072"/>
            <a:ext cx="2560320" cy="164592"/>
          </a:xfrm>
          <a:prstGeom prst="rect">
            <a:avLst/>
          </a:prstGeom>
          <a:noFill/>
        </p:spPr>
        <p:txBody>
          <a:bodyPr wrap="square">
            <a:spAutoFit/>
          </a:bodyPr>
          <a:lstStyle/>
          <a:p>
            <a:pPr algn="ctr"/>
            <a:r>
              <a:rPr sz="1100" b="1">
                <a:solidFill>
                  <a:srgbClr val="FFFFFF"/>
                </a:solidFill>
                <a:latin typeface="Aptos"/>
              </a:rPr>
              <a:t>construpilot.fr</a:t>
            </a:r>
          </a:p>
        </p:txBody>
      </p:sp>
      <p:sp>
        <p:nvSpPr>
          <p:cNvPr id="15" name="Rectangle 14"/>
          <p:cNvSpPr/>
          <p:nvPr/>
        </p:nvSpPr>
        <p:spPr>
          <a:xfrm>
            <a:off x="3730752" y="3840480"/>
            <a:ext cx="2834640" cy="502920"/>
          </a:xfrm>
          <a:prstGeom prst="rect">
            <a:avLst/>
          </a:prstGeom>
          <a:solidFill>
            <a:srgbClr val="E8F7EF"/>
          </a:solidFill>
          <a:ln w="10160">
            <a:solidFill>
              <a:srgbClr val="19A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67912" y="4005072"/>
            <a:ext cx="2560320" cy="164592"/>
          </a:xfrm>
          <a:prstGeom prst="rect">
            <a:avLst/>
          </a:prstGeom>
          <a:noFill/>
        </p:spPr>
        <p:txBody>
          <a:bodyPr wrap="square">
            <a:spAutoFit/>
          </a:bodyPr>
          <a:lstStyle/>
          <a:p>
            <a:pPr algn="ctr"/>
            <a:r>
              <a:rPr sz="1100" b="1">
                <a:solidFill>
                  <a:srgbClr val="FFFFFF"/>
                </a:solidFill>
                <a:latin typeface="Aptos"/>
              </a:rPr>
              <a:t>construpilot.pt</a:t>
            </a:r>
          </a:p>
        </p:txBody>
      </p:sp>
      <p:sp>
        <p:nvSpPr>
          <p:cNvPr id="17" name="TextBox 16"/>
          <p:cNvSpPr txBox="1"/>
          <p:nvPr/>
        </p:nvSpPr>
        <p:spPr>
          <a:xfrm>
            <a:off x="731520" y="4754880"/>
            <a:ext cx="5943600" cy="274320"/>
          </a:xfrm>
          <a:prstGeom prst="rect">
            <a:avLst/>
          </a:prstGeom>
          <a:noFill/>
        </p:spPr>
        <p:txBody>
          <a:bodyPr wrap="square">
            <a:spAutoFit/>
          </a:bodyPr>
          <a:lstStyle/>
          <a:p>
            <a:pPr algn="l"/>
            <a:r>
              <a:rPr sz="1100" b="1">
                <a:solidFill>
                  <a:srgbClr val="FFFFFF"/>
                </a:solidFill>
                <a:latin typeface="Aptos"/>
              </a:rPr>
              <a:t>Essai gratuit 7 jours sur les offres payantes</a:t>
            </a:r>
          </a:p>
        </p:txBody>
      </p:sp>
      <p:sp>
        <p:nvSpPr>
          <p:cNvPr id="18" name="TextBox 17"/>
          <p:cNvSpPr txBox="1"/>
          <p:nvPr/>
        </p:nvSpPr>
        <p:spPr>
          <a:xfrm>
            <a:off x="731520" y="5943600"/>
            <a:ext cx="4572000" cy="228600"/>
          </a:xfrm>
          <a:prstGeom prst="rect">
            <a:avLst/>
          </a:prstGeom>
          <a:noFill/>
        </p:spPr>
        <p:txBody>
          <a:bodyPr wrap="square">
            <a:spAutoFit/>
          </a:bodyPr>
          <a:lstStyle/>
          <a:p>
            <a:pPr algn="l"/>
            <a:r>
              <a:rPr sz="1000" b="1">
                <a:solidFill>
                  <a:srgbClr val="FFFFFF"/>
                </a:solidFill>
                <a:latin typeface="Aptos"/>
              </a:rPr>
              <a:t>Estimez. Comparez. Construisez.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Grand écran</PresentationFormat>
  <Paragraphs>0</Paragraphs>
  <Slides>19</Slides>
  <Notes>0</Notes>
  <HiddenSlides>0</HiddenSlides>
  <MMClips>0</MMClips>
  <ScaleCrop>false</ScaleCrop>
  <HeadingPairs>
    <vt:vector size="4" baseType="variant">
      <vt:variant>
        <vt:lpstr>Thème</vt:lpstr>
      </vt:variant>
      <vt:variant>
        <vt:i4>1</vt:i4>
      </vt:variant>
      <vt:variant>
        <vt:lpstr>Titres des diapositives</vt:lpstr>
      </vt:variant>
      <vt:variant>
        <vt:i4>19</vt:i4>
      </vt:variant>
    </vt:vector>
  </HeadingPairs>
  <TitlesOfParts>
    <vt:vector size="20" baseType="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miguel teixeira</cp:lastModifiedBy>
  <cp:revision>4</cp:revision>
  <dcterms:created xsi:type="dcterms:W3CDTF">2013-01-27T09:14:16Z</dcterms:created>
  <dcterms:modified xsi:type="dcterms:W3CDTF">2026-09-14T10:03:55Z</dcterms:modified>
  <cp:category/>
</cp:coreProperties>
</file>