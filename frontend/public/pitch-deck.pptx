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37727e0ba644b0" /><Relationship Type="http://schemas.openxmlformats.org/officeDocument/2006/relationships/extended-properties" Target="/docProps/app.xml" Id="Rd1e7a46ef2b94ec5" /><Relationship Type="http://schemas.openxmlformats.org/officeDocument/2006/relationships/officeDocument" Target="/ppt/presentation.xml" Id="Rdc30a752d8df47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aae61eb7ac4fce"/>
  </p:sldMasterIdLst>
  <p:notesMasterIdLst>
    <p:notesMasterId xmlns:r="http://schemas.openxmlformats.org/officeDocument/2006/relationships" r:id="R7e0491252a2049c6"/>
  </p:notesMasterIdLst>
  <p:sldIdLst>
    <p:sldId xmlns:r="http://schemas.openxmlformats.org/officeDocument/2006/relationships" id="256" r:id="R0ba2371453de428c"/>
    <p:sldId xmlns:r="http://schemas.openxmlformats.org/officeDocument/2006/relationships" id="257" r:id="Rb34238c23748407f"/>
    <p:sldId xmlns:r="http://schemas.openxmlformats.org/officeDocument/2006/relationships" id="258" r:id="R1dff0712e51844de"/>
    <p:sldId xmlns:r="http://schemas.openxmlformats.org/officeDocument/2006/relationships" id="259" r:id="R16824a0ac58543dc"/>
    <p:sldId xmlns:r="http://schemas.openxmlformats.org/officeDocument/2006/relationships" id="260" r:id="R3816bb88d07f4f53"/>
    <p:sldId xmlns:r="http://schemas.openxmlformats.org/officeDocument/2006/relationships" id="261" r:id="Rc756bca697b84054"/>
    <p:sldId xmlns:r="http://schemas.openxmlformats.org/officeDocument/2006/relationships" id="262" r:id="Rfc98c826dafc476c"/>
    <p:sldId xmlns:r="http://schemas.openxmlformats.org/officeDocument/2006/relationships" id="263" r:id="Rb520a2012b814e0c"/>
    <p:sldId xmlns:r="http://schemas.openxmlformats.org/officeDocument/2006/relationships" id="264" r:id="R28c436f0389545b4"/>
    <p:sldId xmlns:r="http://schemas.openxmlformats.org/officeDocument/2006/relationships" id="265" r:id="R384d1d3cad5d448b"/>
    <p:sldId xmlns:r="http://schemas.openxmlformats.org/officeDocument/2006/relationships" id="266" r:id="R6b76cebec3aa4a27"/>
    <p:sldId xmlns:r="http://schemas.openxmlformats.org/officeDocument/2006/relationships" id="267" r:id="R9ee42192cd9442b3"/>
    <p:sldId xmlns:r="http://schemas.openxmlformats.org/officeDocument/2006/relationships" id="268" r:id="R22d2c14dcf354da3"/>
    <p:sldId xmlns:r="http://schemas.openxmlformats.org/officeDocument/2006/relationships" id="269" r:id="Rd21cb420c5944375"/>
    <p:sldId xmlns:r="http://schemas.openxmlformats.org/officeDocument/2006/relationships" id="270" r:id="Rcc2570fd322a434e"/>
    <p:sldId xmlns:r="http://schemas.openxmlformats.org/officeDocument/2006/relationships" id="271" r:id="R410370a805154f42"/>
    <p:sldId xmlns:r="http://schemas.openxmlformats.org/officeDocument/2006/relationships" id="272" r:id="R1ac461a4fc8f46b0"/>
    <p:sldId xmlns:r="http://schemas.openxmlformats.org/officeDocument/2006/relationships" id="273" r:id="R3235da1a4c4946f5"/>
    <p:sldId xmlns:r="http://schemas.openxmlformats.org/officeDocument/2006/relationships" id="274" r:id="R8174864e9d144b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37790180cf4119" /><Relationship Type="http://schemas.openxmlformats.org/officeDocument/2006/relationships/slideMaster" Target="/ppt/slideMasters/slideMaster1.xml" Id="R56aae61eb7ac4fce" /><Relationship Type="http://schemas.openxmlformats.org/officeDocument/2006/relationships/notesMaster" Target="/ppt/notesMasters/notesMaster1.xml" Id="R7e0491252a2049c6" /><Relationship Type="http://schemas.openxmlformats.org/officeDocument/2006/relationships/presProps" Target="/ppt/presProps.xml" Id="Re5baa4c745e84752" /><Relationship Type="http://schemas.openxmlformats.org/officeDocument/2006/relationships/viewProps" Target="/ppt/viewProps.xml" Id="Rf7cd12c8e1774622" /><Relationship Type="http://schemas.openxmlformats.org/officeDocument/2006/relationships/tableStyles" Target="/ppt/tableStyles.xml" Id="R3610bfe27fb4422e" /><Relationship Type="http://schemas.openxmlformats.org/officeDocument/2006/relationships/slide" Target="/ppt/slides/slide1.xml" Id="R0ba2371453de428c" /><Relationship Type="http://schemas.openxmlformats.org/officeDocument/2006/relationships/slide" Target="/ppt/slides/slide2.xml" Id="Rb34238c23748407f" /><Relationship Type="http://schemas.openxmlformats.org/officeDocument/2006/relationships/slide" Target="/ppt/slides/slide3.xml" Id="R1dff0712e51844de" /><Relationship Type="http://schemas.openxmlformats.org/officeDocument/2006/relationships/slide" Target="/ppt/slides/slide4.xml" Id="R16824a0ac58543dc" /><Relationship Type="http://schemas.openxmlformats.org/officeDocument/2006/relationships/slide" Target="/ppt/slides/slide5.xml" Id="R3816bb88d07f4f53" /><Relationship Type="http://schemas.openxmlformats.org/officeDocument/2006/relationships/slide" Target="/ppt/slides/slide6.xml" Id="Rc756bca697b84054" /><Relationship Type="http://schemas.openxmlformats.org/officeDocument/2006/relationships/slide" Target="/ppt/slides/slide7.xml" Id="Rfc98c826dafc476c" /><Relationship Type="http://schemas.openxmlformats.org/officeDocument/2006/relationships/slide" Target="/ppt/slides/slide8.xml" Id="Rb520a2012b814e0c" /><Relationship Type="http://schemas.openxmlformats.org/officeDocument/2006/relationships/slide" Target="/ppt/slides/slide9.xml" Id="R28c436f0389545b4" /><Relationship Type="http://schemas.openxmlformats.org/officeDocument/2006/relationships/slide" Target="/ppt/slides/slide10.xml" Id="R384d1d3cad5d448b" /><Relationship Type="http://schemas.openxmlformats.org/officeDocument/2006/relationships/slide" Target="/ppt/slides/slide11.xml" Id="R6b76cebec3aa4a27" /><Relationship Type="http://schemas.openxmlformats.org/officeDocument/2006/relationships/slide" Target="/ppt/slides/slide12.xml" Id="R9ee42192cd9442b3" /><Relationship Type="http://schemas.openxmlformats.org/officeDocument/2006/relationships/slide" Target="/ppt/slides/slide13.xml" Id="R22d2c14dcf354da3" /><Relationship Type="http://schemas.openxmlformats.org/officeDocument/2006/relationships/slide" Target="/ppt/slides/slide14.xml" Id="Rd21cb420c5944375" /><Relationship Type="http://schemas.openxmlformats.org/officeDocument/2006/relationships/slide" Target="/ppt/slides/slide15.xml" Id="Rcc2570fd322a434e" /><Relationship Type="http://schemas.openxmlformats.org/officeDocument/2006/relationships/slide" Target="/ppt/slides/slide16.xml" Id="R410370a805154f42" /><Relationship Type="http://schemas.openxmlformats.org/officeDocument/2006/relationships/slide" Target="/ppt/slides/slide17.xml" Id="R1ac461a4fc8f46b0" /><Relationship Type="http://schemas.openxmlformats.org/officeDocument/2006/relationships/slide" Target="/ppt/slides/slide18.xml" Id="R3235da1a4c4946f5" /><Relationship Type="http://schemas.openxmlformats.org/officeDocument/2006/relationships/slide" Target="/ppt/slides/slide19.xml" Id="R8174864e9d144b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c70b74fed648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4a9c2f483b4413" /><Relationship Type="http://schemas.openxmlformats.org/officeDocument/2006/relationships/notesMaster" Target="/ppt/notesMasters/notesMaster1.xml" Id="Rf314f88e03cc48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c7a89e544b47e5" /><Relationship Type="http://schemas.openxmlformats.org/officeDocument/2006/relationships/notesMaster" Target="/ppt/notesMasters/notesMaster1.xml" Id="Rc03c4014ff5a4b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9b84a82a174864" /><Relationship Type="http://schemas.openxmlformats.org/officeDocument/2006/relationships/notesMaster" Target="/ppt/notesMasters/notesMaster1.xml" Id="R31b5060d738d46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052ffb0c0547bd" /><Relationship Type="http://schemas.openxmlformats.org/officeDocument/2006/relationships/notesMaster" Target="/ppt/notesMasters/notesMaster1.xml" Id="R1ea42181526546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cb8c1ab6bc4bf2" /><Relationship Type="http://schemas.openxmlformats.org/officeDocument/2006/relationships/notesMaster" Target="/ppt/notesMasters/notesMaster1.xml" Id="R43c8c7a981464f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76fe594b9f4325" /><Relationship Type="http://schemas.openxmlformats.org/officeDocument/2006/relationships/notesMaster" Target="/ppt/notesMasters/notesMaster1.xml" Id="Re604abe5511b44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0212fe5aae46b4" /><Relationship Type="http://schemas.openxmlformats.org/officeDocument/2006/relationships/notesMaster" Target="/ppt/notesMasters/notesMaster1.xml" Id="Rf0c17a8994af47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680df141c845f4" /><Relationship Type="http://schemas.openxmlformats.org/officeDocument/2006/relationships/notesMaster" Target="/ppt/notesMasters/notesMaster1.xml" Id="Rdd4dca88c30e4a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4779f130534a89" /><Relationship Type="http://schemas.openxmlformats.org/officeDocument/2006/relationships/notesMaster" Target="/ppt/notesMasters/notesMaster1.xml" Id="Rf7c2dfe1468445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c68521101c41ff" /><Relationship Type="http://schemas.openxmlformats.org/officeDocument/2006/relationships/notesMaster" Target="/ppt/notesMasters/notesMaster1.xml" Id="Re9b51096d6eb4e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9d514294f04139" /><Relationship Type="http://schemas.openxmlformats.org/officeDocument/2006/relationships/notesMaster" Target="/ppt/notesMasters/notesMaster1.xml" Id="R1c42180c5af74b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cfdc8df0eb4e08" /><Relationship Type="http://schemas.openxmlformats.org/officeDocument/2006/relationships/notesMaster" Target="/ppt/notesMasters/notesMaster1.xml" Id="R5a9a1fd60d514b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e73cc5f26e14835" /><Relationship Type="http://schemas.openxmlformats.org/officeDocument/2006/relationships/notesMaster" Target="/ppt/notesMasters/notesMaster1.xml" Id="Rfaf9f92b090944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9674a956594987" /><Relationship Type="http://schemas.openxmlformats.org/officeDocument/2006/relationships/notesMaster" Target="/ppt/notesMasters/notesMaster1.xml" Id="R74e0ddc7234b426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228e427ca3421c" /><Relationship Type="http://schemas.openxmlformats.org/officeDocument/2006/relationships/notesMaster" Target="/ppt/notesMasters/notesMaster1.xml" Id="R12e1532c911a4d3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f9e8a0f32d4684" /><Relationship Type="http://schemas.openxmlformats.org/officeDocument/2006/relationships/notesMaster" Target="/ppt/notesMasters/notesMaster1.xml" Id="R85eb40cbfb9948e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abfdc588f104612" /><Relationship Type="http://schemas.openxmlformats.org/officeDocument/2006/relationships/notesMaster" Target="/ppt/notesMasters/notesMaster1.xml" Id="Rdbf6b5b8a7d1435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7805e48cad54dd3" /><Relationship Type="http://schemas.openxmlformats.org/officeDocument/2006/relationships/notesMaster" Target="/ppt/notesMasters/notesMaster1.xml" Id="R09db9b5cd6834ff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bab904778a948ed" /><Relationship Type="http://schemas.openxmlformats.org/officeDocument/2006/relationships/notesMaster" Target="/ppt/notesMasters/notesMaster1.xml" Id="R047e2033e5594d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e4aa1489bd42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d00e9921547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9d88efe2d242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2251aaa8fc41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3fc8baf1df4e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0e0aa244554e9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78d0e6ae784b0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d261a66df6489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4514f096394e7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8efb2393d49c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cfe9abe82c46c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80AE8B-631A-4B6C-A364-AB988E6B9D3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9E6BFCE-3323-4A12-888C-FB96C4C3CC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58D8505-376B-4496-BF7B-1337FA8733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14418E0-5D22-441D-B84E-01C18EE319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5F2F3FC-9140-4757-A104-C7FD3C2D2E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‹N°›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7C4A3F-5F9C-4BCA-A698-8E59CF23DC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3E77884-E601-46FA-9EE6-1F5686FA0EF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7CDF86B-13C5-4181-96A5-0FD202A99E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157B408-E361-4B9A-B960-0F93361620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A5EC2CE-AC1C-4B0C-B2A2-A131C3CF15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‹N°›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46D4C0-F8FC-4C14-AB8A-2177D765EF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4F7F974-8AC7-4DBF-821C-90006849BA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4C393F3-6DC7-4993-BC61-E9DB2D8F27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9B80D75-AE70-4F58-8773-1B1074BCEB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545039-68C6-47BF-A251-11CC1E7229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‹N°›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A46052-7EE7-4348-BF3D-20E18D0123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71BF760-ED7E-4475-8FFF-8B7E8FDEC4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FCDB701-8BE3-480C-82BA-A51836AD442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39AB20F-99D8-4AB5-9879-E4423DE86D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59CF2C8-8F21-4AED-8F37-73E016E32D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912D7E-A562-42FD-A214-D66DFE6D8A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‹N°›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01367D-0D32-49CD-A6BC-42D2ED6C27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D514BBC-B175-44B8-A9FD-50ACDF3CB9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96621E7-C0CB-4F77-BBA9-56F9711FC43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FF6684B-319A-467F-9143-93C17252149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1AE59DB-CEB6-4DD0-A3EC-CBDAF4DF183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8AF8286-930A-4097-B518-2B70DC4F26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9/14/2026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90493B0-0CF1-44F8-A053-7FC634E1FB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A1E1345-9DF1-4E60-BFEF-4B5A9F54FC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‹N°›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8980EB-CBAF-4B2C-ADCA-265F568EF1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DE3DD92-20D6-4238-B1DE-422782B987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9/14/2026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CDF9477-E9F1-4891-BE0B-E6DF3C5A8F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5441457-BD02-494D-8B95-6CC2776652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‹N°›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A25BA2F-8A1B-422D-9E54-24032EBFE0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9/14/2026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1441E9F-2E8E-49F8-99D6-2200EA032F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9FED385-59BF-4129-847F-55B2261081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‹N°›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B9B13A-4284-4B5F-B34D-73BB353B5B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9F3C78D-416A-47ED-ABC3-26F257BE5DF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CBF3810-F3A8-4ABB-A48F-2270A381CDB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4025B89-1281-44B6-9D84-D0C5E03E00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1C77C42-94A5-4536-A01B-EEE1FAB064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CD11EC3-CA44-4EFB-89F9-71E469895A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‹N°›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D782868-8F06-49AB-8F20-D1488FCD7B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DC73B4E-9AF4-47F1-8192-2A7FE027D7D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9131F9B-6B80-4805-9E1F-994BE4A123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0F486C2-A61B-4238-9C15-3D14DE6F79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31B48BD-B971-4E23-A351-6203A1DACE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7BB7E9B-0D12-4AB8-BBF7-A12CC95AD6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‹N°›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E375D0-3A3B-4418-AC56-6A9C38B198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180B823-1A0B-43AA-9CF4-4C458E3492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E9E9C81-9EE7-42C8-9B85-23CA0165BB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E827112-1AAD-492E-A3A2-4DF36322D3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4DFE06-E0DF-4BF3-AB32-ABBDD60D6D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‹N°›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42C604F-FC13-438C-B12D-9BE54ABADF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E602E0-ACFA-4045-B121-B9DA00B1C6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EABA383-471E-4BF0-8AE9-00C62CFD92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E3E46D9-536E-4DFC-82AA-927C7FEA60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FDD418C-98D0-4C46-93CE-5AB8720CE0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‹N°›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36ecce0c5b4053" /><Relationship Type="http://schemas.openxmlformats.org/officeDocument/2006/relationships/slideLayout" Target="/ppt/slideLayouts/slideLayout1.xml" Id="R65afead08dea4eb8" /><Relationship Type="http://schemas.openxmlformats.org/officeDocument/2006/relationships/slideLayout" Target="/ppt/slideLayouts/slideLayout2.xml" Id="Ra9a048198e724d42" /><Relationship Type="http://schemas.openxmlformats.org/officeDocument/2006/relationships/slideLayout" Target="/ppt/slideLayouts/slideLayout3.xml" Id="R54ae26d464d94249" /><Relationship Type="http://schemas.openxmlformats.org/officeDocument/2006/relationships/slideLayout" Target="/ppt/slideLayouts/slideLayout4.xml" Id="R87e9fb12c0d84dcd" /><Relationship Type="http://schemas.openxmlformats.org/officeDocument/2006/relationships/slideLayout" Target="/ppt/slideLayouts/slideLayout5.xml" Id="R485d10bf408d4e64" /><Relationship Type="http://schemas.openxmlformats.org/officeDocument/2006/relationships/slideLayout" Target="/ppt/slideLayouts/slideLayout6.xml" Id="R2710ebec44694416" /><Relationship Type="http://schemas.openxmlformats.org/officeDocument/2006/relationships/slideLayout" Target="/ppt/slideLayouts/slideLayout7.xml" Id="R7019ddd5b23b4e1f" /><Relationship Type="http://schemas.openxmlformats.org/officeDocument/2006/relationships/slideLayout" Target="/ppt/slideLayouts/slideLayout8.xml" Id="R28f3d4c07d3142ed" /><Relationship Type="http://schemas.openxmlformats.org/officeDocument/2006/relationships/slideLayout" Target="/ppt/slideLayouts/slideLayout9.xml" Id="Rb9104d9cf15541a2" /><Relationship Type="http://schemas.openxmlformats.org/officeDocument/2006/relationships/slideLayout" Target="/ppt/slideLayouts/slideLayout10.xml" Id="R266f7e13fbf44893" /><Relationship Type="http://schemas.openxmlformats.org/officeDocument/2006/relationships/slideLayout" Target="/ppt/slideLayouts/slideLayout11.xml" Id="Rdd7739f1a0934f8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2D176B5-3D4E-4B2B-9448-0C4AA5A56E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3CE1738-4FEF-45E9-9005-EFF839A75E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9559FD8-8DD9-4FCA-8C6D-9580B5787DF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8ED58A-B1EB-4E3E-B7E0-4BA3D0BB67E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81D475-BB21-4D60-AB0A-5073A5C44D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afead08dea4eb8"/>
    <p:sldLayoutId xmlns:r="http://schemas.openxmlformats.org/officeDocument/2006/relationships" id="2147483650" r:id="Ra9a048198e724d42"/>
    <p:sldLayoutId xmlns:r="http://schemas.openxmlformats.org/officeDocument/2006/relationships" id="2147483651" r:id="R54ae26d464d94249"/>
    <p:sldLayoutId xmlns:r="http://schemas.openxmlformats.org/officeDocument/2006/relationships" id="2147483652" r:id="R87e9fb12c0d84dcd"/>
    <p:sldLayoutId xmlns:r="http://schemas.openxmlformats.org/officeDocument/2006/relationships" id="2147483653" r:id="R485d10bf408d4e64"/>
    <p:sldLayoutId xmlns:r="http://schemas.openxmlformats.org/officeDocument/2006/relationships" id="2147483654" r:id="R2710ebec44694416"/>
    <p:sldLayoutId xmlns:r="http://schemas.openxmlformats.org/officeDocument/2006/relationships" id="2147483655" r:id="R7019ddd5b23b4e1f"/>
    <p:sldLayoutId xmlns:r="http://schemas.openxmlformats.org/officeDocument/2006/relationships" id="2147483656" r:id="R28f3d4c07d3142ed"/>
    <p:sldLayoutId xmlns:r="http://schemas.openxmlformats.org/officeDocument/2006/relationships" id="2147483657" r:id="Rb9104d9cf15541a2"/>
    <p:sldLayoutId xmlns:r="http://schemas.openxmlformats.org/officeDocument/2006/relationships" id="2147483658" r:id="R266f7e13fbf44893"/>
    <p:sldLayoutId xmlns:r="http://schemas.openxmlformats.org/officeDocument/2006/relationships" id="2147483659" r:id="Rdd7739f1a0934f81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2700a343da4894" /><Relationship Type="http://schemas.openxmlformats.org/officeDocument/2006/relationships/image" Target="/ppt/media/image.jpeg" Id="R899bde51b1d647d1" /><Relationship Type="http://schemas.openxmlformats.org/officeDocument/2006/relationships/notesSlide" Target="/ppt/notesSlides/notesSlide1.xml" Id="Rf4a8bf1c96ec46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6b681e91064e84" /><Relationship Type="http://schemas.openxmlformats.org/officeDocument/2006/relationships/notesSlide" Target="/ppt/notesSlides/notesSlide2.xml" Id="R59eb4a0e6c4c4e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212cbb947044df5" /><Relationship Type="http://schemas.openxmlformats.org/officeDocument/2006/relationships/notesSlide" Target="/ppt/notesSlides/notesSlide3.xml" Id="R38b3bb2704974e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edf54b251e4f52" /><Relationship Type="http://schemas.openxmlformats.org/officeDocument/2006/relationships/notesSlide" Target="/ppt/notesSlides/notesSlide4.xml" Id="R1e419ef0816746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7ec881b5be4455" /><Relationship Type="http://schemas.openxmlformats.org/officeDocument/2006/relationships/notesSlide" Target="/ppt/notesSlides/notesSlide5.xml" Id="Ree3a7ea20af34f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129cb48d5e4076" /><Relationship Type="http://schemas.openxmlformats.org/officeDocument/2006/relationships/notesSlide" Target="/ppt/notesSlides/notesSlide6.xml" Id="Rdeb960881e9f45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ee3eea60a148d3" /><Relationship Type="http://schemas.openxmlformats.org/officeDocument/2006/relationships/notesSlide" Target="/ppt/notesSlides/notesSlide7.xml" Id="R29fefb9392d44a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aecdfeccc84591" /><Relationship Type="http://schemas.openxmlformats.org/officeDocument/2006/relationships/notesSlide" Target="/ppt/notesSlides/notesSlide8.xml" Id="R09f23b593f8d42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671b1f0d25411d" /><Relationship Type="http://schemas.openxmlformats.org/officeDocument/2006/relationships/notesSlide" Target="/ppt/notesSlides/notesSlide9.xml" Id="R3f8312e76f834b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173b4a72c414610" /><Relationship Type="http://schemas.openxmlformats.org/officeDocument/2006/relationships/notesSlide" Target="/ppt/notesSlides/notesSlide10.xml" Id="R52d6de3e222046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9d1cd6d53414ede" /><Relationship Type="http://schemas.openxmlformats.org/officeDocument/2006/relationships/notesSlide" Target="/ppt/notesSlides/notesSlide11.xml" Id="R0d13528c34604c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ac562d0a334153" /><Relationship Type="http://schemas.openxmlformats.org/officeDocument/2006/relationships/notesSlide" Target="/ppt/notesSlides/notesSlide12.xml" Id="R1823142232da4fa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31212f9d5b4b45" /><Relationship Type="http://schemas.openxmlformats.org/officeDocument/2006/relationships/notesSlide" Target="/ppt/notesSlides/notesSlide13.xml" Id="R8062cd726fb846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16a5c4d90fd402d" /><Relationship Type="http://schemas.openxmlformats.org/officeDocument/2006/relationships/notesSlide" Target="/ppt/notesSlides/notesSlide14.xml" Id="R99766f0573384f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1fa59258034a5e" /><Relationship Type="http://schemas.openxmlformats.org/officeDocument/2006/relationships/notesSlide" Target="/ppt/notesSlides/notesSlide15.xml" Id="R79c3ad5be4184be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df4e12bf7e4137" /><Relationship Type="http://schemas.openxmlformats.org/officeDocument/2006/relationships/notesSlide" Target="/ppt/notesSlides/notesSlide16.xml" Id="Rcd091166cdae490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57043eab124dff" /><Relationship Type="http://schemas.openxmlformats.org/officeDocument/2006/relationships/notesSlide" Target="/ppt/notesSlides/notesSlide17.xml" Id="R37614649a9b54d4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3fe67ff48143fb" /><Relationship Type="http://schemas.openxmlformats.org/officeDocument/2006/relationships/notesSlide" Target="/ppt/notesSlides/notesSlide18.xml" Id="Rf48a513256ca4f2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6b2b110a7bc4b06" /><Relationship Type="http://schemas.openxmlformats.org/officeDocument/2006/relationships/notesSlide" Target="/ppt/notesSlides/notesSlide19.xml" Id="Rf750e7bfec8a45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E1DE4FA-EE5C-4D52-BEAE-869C3D23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CA83AD7-0820-4801-8DDC-7C6813DC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4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6C0EC95-0946-49DB-9AFE-5F7A199F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A34465E2-5F49-4154-AC79-5BC69EE7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-1371600"/>
            <a:ext cx="5486400" cy="548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52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8907DDD-ECEB-49C6-8CEA-05AD482F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03320"/>
            <a:ext cx="12191695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25FD387-4D62-4E90-AA35-1B9F1942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5196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340B705-0CA8-45CB-B0FE-5FD7E292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4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4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bde51b1d647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530352"/>
            <a:ext cx="2240280" cy="1502973"/>
          </a:xfrm>
          <a:prstGeom xmlns:a="http://schemas.openxmlformats.org/drawingml/2006/main" prst="rect">
            <a:avLst/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FAB17DA-869D-4C23-A1CD-525C107B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960120"/>
            <a:ext cx="6217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ConstruPilot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C27829D-0CB0-4F75-83C1-DBF3F9EE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463040"/>
            <a:ext cx="630936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Estime. Compare.
Construa.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E5F1003-A8B5-4E6C-B9C5-A8B7CF5F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880360"/>
            <a:ext cx="5852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/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plataforma SaaS tudo-em-um para a construção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EE58B52-BCE4-4CD5-AF22-99295F32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52800"/>
            <a:ext cx="708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IA · plantas e medições · orçamentos · margens · compras · prospeção · obras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BA879FC-B93B-4B8C-A515-06C45966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343400"/>
            <a:ext cx="196596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4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2117D38-D59B-4461-BF00-A646837E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471416"/>
            <a:ext cx="1965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FRANÇA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5950C757-5549-407B-807E-FB8FCD23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4343400"/>
            <a:ext cx="196596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10160">
            <a:solidFill>
              <a:srgbClr val="19A4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14B6232-C0E6-4FC6-A2B4-20F3EA90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4471416"/>
            <a:ext cx="1965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0B9E5A"/>
                </a:solidFill>
              </a:defRPr>
            </a:pPr>
            <a:r>
              <a:rPr sz="900" b="1">
                <a:solidFill>
                  <a:srgbClr val="0B9E5A"/>
                </a:solidFill>
                <a:latin typeface="Aptos"/>
                <a:ea typeface="Aptos"/>
                <a:cs typeface="Aptos"/>
              </a:rPr>
              <a:t>PORTUGAL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82C1988-F73A-495E-A8E3-84C0947B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589788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Brochura do produto · 2026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3624E37-1F1F-4EEC-8383-F8840E78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897880"/>
            <a:ext cx="3017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construpilot.fr  ·  construpilot.pt</a:t>
            </a:r>
          </a:p>
        </p:txBody>
      </p:sp>
    </p:spTree>
    <p:extLst>
      <p:ext uri="{BB962C8B-B14F-4D97-AF65-F5344CB8AC3E}">
        <p14:creationId xmlns:p14="http://schemas.microsoft.com/office/powerpoint/2010/main" val="1642839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B52CD7F4-8AA9-4913-99BE-E3C8BCF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"/>
            <a:ext cx="12191695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AC218CEF-5A0F-4D73-BDC7-6D7CCDD2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4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A353C92-F1D1-4374-B95C-23A3BAD1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E01DC6E-C035-4C9B-BEBF-D8E8BED2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E5D78D7-A459-4DFA-BEBC-266E352A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1" i="0">
                <a:solidFill>
                  <a:srgbClr val="19A460"/>
                </a:solidFill>
                <a:latin typeface="Aptos"/>
                <a:ea typeface="Aptos"/>
                <a:cs typeface="Aptos"/>
              </a:rPr>
              <a:t>APRESENTAÇÃO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0E1825F-4818-4D06-83BE-E40F2138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2300" b="1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Porquê o ConstruPilot?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4CE1A22-62D7-4B33-9594-DE34883C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 — Estime. Compare. Construa.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4407FC6-B470-4F15-A2C2-414F7003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914" y="6492240"/>
            <a:ext cx="29527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construpilot.fr · construpilot.pt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BDB38F7-89F1-458C-9753-71760DF8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0160"/>
            <a:ext cx="112471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4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O ConstruPilot é a plataforma SaaS tudo-em-um para a construção: estimativas de obras com IA, leitura de plantas DWG/DXF/PDF, orçamentos e faturas com margens, aprovisionamento, prospeção de obras, blog SEO e muito mais. Uma só aplicação para particulares que preparam as suas obras e para profissionais, PME e gabinetes de estudos que orçamentam, vendem e gerem obras.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40366A1-E00C-41FB-BFA5-B219AA64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2176272" cy="2926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1E5B490-DDAA-4133-BB81-5A5D8F7B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217627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2951237-1835-44B7-AA47-4CB4F1D1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0"/>
            <a:ext cx="19019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  <a:defRPr sz="1950"/>
            </a:pPr>
            <a:r>
              <a:rPr sz="1950" b="1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Particulares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7BF1EBA-B6C2-486C-8D9F-F62BB813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00"/>
            <a:ext cx="19019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  <a:defRPr sz="1350"/>
            </a:pPr>
            <a:r>
              <a:rPr sz="1350" b="1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Gratuito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D700E12-688E-4FC3-810A-72EC05D2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60520"/>
            <a:ext cx="1901952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05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Proprietários, futuros compradores, adeptos do faça você mesmo
Tudo para preparar uma obra: estimar, comparar e compreender em 30 segundos.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58E44E0-50E4-4B18-9592-67A6415E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3017520"/>
            <a:ext cx="2176272" cy="2926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197326D-A697-4D75-B54D-3CACD76F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3017520"/>
            <a:ext cx="217627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34D8A9E-61CC-45CA-909C-FF21908E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72" y="3200400"/>
            <a:ext cx="19019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  <a:defRPr sz="1950"/>
            </a:pPr>
            <a:r>
              <a:rPr sz="1950" b="1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Project Pass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C942589-2F65-412F-964B-ABDBED8B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72" y="3657600"/>
            <a:ext cx="19019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  <a:defRPr sz="1350"/>
            </a:pPr>
            <a:r>
              <a:rPr sz="1350" b="1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50 € uma só vez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08E721D-B23C-4CA8-962A-555FFACC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72" y="4160520"/>
            <a:ext cx="1901952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05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Uma renovação pontual
Acesso a um projeto completo com um único pagamento, ideal para uma renovação pontual.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6914F1A-9C71-42B9-9C73-0DED9DE5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624" y="3017520"/>
            <a:ext cx="2176272" cy="2926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C314FE9-3955-4F43-A2CE-B94B4567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624" y="3017520"/>
            <a:ext cx="217627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C70A366-F8A7-43DD-A562-3A174DB7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784" y="3200400"/>
            <a:ext cx="19019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  <a:defRPr sz="1950"/>
            </a:pPr>
            <a:r>
              <a:rPr sz="1950" b="1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Premium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FD369EA-A682-44FC-8306-C0AAD09B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784" y="3657600"/>
            <a:ext cx="19019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  <a:defRPr sz="1350"/>
            </a:pPr>
            <a:r>
              <a:rPr sz="1350" b="1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19 € / mês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D1515D0-3305-4611-A557-3C1010E3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784" y="4160520"/>
            <a:ext cx="1901952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05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Particulares com vários projetos, investidores, senhorios
O mais popular: projetos ilimitados, IA completa e comparação avançada de preços.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4D457EE3-CCB7-4E7D-A019-025E911F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3017520"/>
            <a:ext cx="2176272" cy="2926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E5F892C-CF96-4922-9406-4567A677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3017520"/>
            <a:ext cx="217627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297039A-64A5-4BCE-95B2-51DBFDE9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496" y="3200400"/>
            <a:ext cx="19019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  <a:defRPr sz="1950"/>
            </a:pPr>
            <a:r>
              <a:rPr sz="1950" b="1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Pro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B27B16C-C26C-42E1-AFA6-0F09BEFE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496" y="3657600"/>
            <a:ext cx="19019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  <a:defRPr sz="1350"/>
            </a:pPr>
            <a:r>
              <a:rPr sz="1350" b="1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149 € sem IVA / mês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A88DD70-DD55-400F-8917-5F712947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496" y="4160520"/>
            <a:ext cx="1901952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05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Profissionais, independentes, microempresas de construção
Orçamente a partir de plantas, cadernos de encargos, fotos ou voz, aplique as suas margens e recolha assinaturas online.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F374A129-C099-4FC4-92D7-27AD7CE6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8" y="3017520"/>
            <a:ext cx="2176272" cy="2926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F3DA124-1EE6-4888-8941-9C8FC8EA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8" y="3017520"/>
            <a:ext cx="217627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43C246E6-C6E8-45F7-8E5A-8BBA3ADE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208" y="3200400"/>
            <a:ext cx="19019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  <a:defRPr sz="1950"/>
            </a:pPr>
            <a:r>
              <a:rPr sz="1950" b="1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Pro Business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BC934C3-03A1-4C37-8635-3F0BDBAF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208" y="3657600"/>
            <a:ext cx="19019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  <a:defRPr sz="1350"/>
            </a:pPr>
            <a:r>
              <a:rPr sz="1350" b="1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249 € sem IVA / mês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A740A1F9-EBAC-4837-857E-1D7DEA68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208" y="4160520"/>
            <a:ext cx="1901952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05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PME de construção, empreiteiros gerais, gabinetes de estudos
Tudo do Pro + equipas, RH e registo de horas, acompanhamento de obras com custos reais, relatórios e automatizações.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B1EE93E9-403D-4AE1-A4C2-C31B27A4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73368"/>
            <a:ext cx="111556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5D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4019813E-F5A3-43FF-9077-1FBC868E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5B6C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0BC7661D-98FF-46F7-A992-B8A4D372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925312"/>
            <a:ext cx="1655064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5064DDB0-DE97-4C29-9C9C-5CEACDCC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016752"/>
            <a:ext cx="150876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PARTICULARES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49D99F75-91A1-44B6-A9DE-83429133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584" y="5925312"/>
            <a:ext cx="10515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AA90C2BE-0191-4502-B30A-F7F39CC5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6016752"/>
            <a:ext cx="905255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PRO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8AA6C604-3B9A-4198-8741-C5C2E5F5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5925312"/>
            <a:ext cx="146304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B68CFA5B-68AF-466D-BA14-1BD61DCE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024" y="6016752"/>
            <a:ext cx="1316736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EMPRESAS</a:t>
            </a:r>
          </a:p>
        </p:txBody>
      </p:sp>
    </p:spTree>
    <p:extLst>
      <p:ext uri="{BB962C8B-B14F-4D97-AF65-F5344CB8AC3E}">
        <p14:creationId xmlns:p14="http://schemas.microsoft.com/office/powerpoint/2010/main" val="12996706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79F3A5F-0890-41D4-87B0-7F264A81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"/>
            <a:ext cx="12191695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73E7A10-5992-4B32-991E-E94CB888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4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4BB24E3-F444-4459-9F48-7328C397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EDDF104-BC08-460C-8E8D-665B58C3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223990A-9F84-439B-AC86-8D6EAA3C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1" i="0">
                <a:solidFill>
                  <a:srgbClr val="19A460"/>
                </a:solidFill>
                <a:latin typeface="Aptos"/>
                <a:ea typeface="Aptos"/>
                <a:cs typeface="Aptos"/>
              </a:rPr>
              <a:t>PLANO · PROPRIETÁRIOS, FUTUROS COMPRADORES, ADEPTOS DO FAÇA VOCÊ MESMO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E95D4AD-6FAB-4187-8C87-9A686D5D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8C9A66E-B256-488C-BB34-F9608616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 — Estime. Compare. Construa.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7D7540A-2E50-4F47-9BF7-A27D54B0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914" y="6492240"/>
            <a:ext cx="29527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construpilot.fr · construpilot.pt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E69C7F7-1C30-41A7-A90E-BE55865F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11277295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94E8B56-C2CC-4460-B4FC-C0826B1E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Particulares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9A9CB22-2826-4F46-8FA7-A69D18BE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66928"/>
            <a:ext cx="37490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Gratuito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D83C322-757D-4B8B-8C3B-2A8BA00A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156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1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0 € — sem compromisso · 2 projetos ativos · 3 estimativas detalhadas / mês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0E498B0-FB3F-4951-8F22-ACE45F0E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200" b="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Tudo para preparar uma obra: estimar, comparar e compreender em 30 segundos.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9F0FFAD-F898-4846-96BD-130E1F2C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676656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589DDBB-EE43-4658-AFF2-671ADCC4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600" b="1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O essencial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01E247F-0817-485F-922B-AFEB030E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68880"/>
            <a:ext cx="6400800" cy="3749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Estimador com 3 gamas (económica / standard / premium) por tipo de projeto e região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Smart Project: descrição ou ditado por voz → lotes, materiais e orçamento com IA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Análise de fotos com IA, assistente de obras com IA, conselheiro faça você mesmo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Calculadoras de materiais (tinta, revestimentos cerâmicos, betão, alvenaria…)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Consulta de preços: 322 trabalhos com preços baixo / mediano / alto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Pedido de orçamentos a profissionais verificados, avaliações de clientes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Conta segura (Google, 2FA), PWA móvel, FR / PT, blog e newsletter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F44D01D7-A955-45EA-BDE0-7EA064EA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1920240"/>
            <a:ext cx="42062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AD99FBF-33D2-41CC-AC6F-883A6444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2103120"/>
            <a:ext cx="374903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Para quem?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827F342-77AC-4162-82AB-A9E088D1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2560320"/>
            <a:ext cx="3749039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Proprietários, futuros compradores, adeptos do faça você mesmo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F3A2CA8-FC7B-4F7F-AFB5-D0658E6D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3749039"/>
            <a:ext cx="374903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Preço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F4A3C24-E6D5-44F4-B4A3-64CC1CC4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4206240"/>
            <a:ext cx="3749039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Gratuito
0 € — sem compromisso · 2 projetos ativos · 3 estimativas detalhadas / mês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2114C46-92DD-40D7-B86D-DA853724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73368"/>
            <a:ext cx="111556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5D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090599F-EA7C-4DF6-8926-2EA8EEAD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5B6C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973157B0-6926-4969-932A-03C9E83A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925312"/>
            <a:ext cx="1175004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74DB4064-8BB4-407C-B0E4-AB892EDE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016752"/>
            <a:ext cx="102870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ESTIMAR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C7E41E8-EB55-4C72-9925-6AF8CEA4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524" y="5925312"/>
            <a:ext cx="127101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D7F416A7-5E11-43A8-8E64-6366E0DA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676" y="6016752"/>
            <a:ext cx="1124712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COMPARAR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BB69096-DE9D-4C28-9A6F-4CD3F5AA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7268" y="5925312"/>
            <a:ext cx="146304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FF88463-8AEC-4495-A07A-54F6FB95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420" y="6016752"/>
            <a:ext cx="1316736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COMPREENDER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EDC89710-FE74-4C08-A9E3-A4B594EB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353312"/>
            <a:ext cx="1874519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10160">
            <a:solidFill>
              <a:srgbClr val="DAE5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6DD75392-2B7B-4287-9A7E-213BAA18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1527048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0B9E5A"/>
                </a:solidFill>
              </a:defRPr>
            </a:pPr>
            <a:r>
              <a:rPr sz="1800" b="1">
                <a:solidFill>
                  <a:srgbClr val="0B9E5A"/>
                </a:solidFill>
                <a:latin typeface="Aptos"/>
                <a:ea typeface="Aptos"/>
                <a:cs typeface="Aptos"/>
              </a:rPr>
              <a:t>0 €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9572D326-ABD9-459D-A9C7-848A3923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1856231"/>
            <a:ext cx="164592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0B9E5A"/>
                </a:solidFill>
              </a:defRPr>
            </a:pPr>
            <a:r>
              <a:rPr sz="800" b="0">
                <a:solidFill>
                  <a:srgbClr val="0B9E5A"/>
                </a:solidFill>
                <a:latin typeface="Aptos"/>
                <a:ea typeface="Aptos"/>
                <a:cs typeface="Aptos"/>
              </a:rPr>
              <a:t>Gratuito</a:t>
            </a:r>
          </a:p>
        </p:txBody>
      </p:sp>
    </p:spTree>
    <p:extLst>
      <p:ext uri="{BB962C8B-B14F-4D97-AF65-F5344CB8AC3E}">
        <p14:creationId xmlns:p14="http://schemas.microsoft.com/office/powerpoint/2010/main" val="2186328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B014027-9576-4AD7-91D8-C4119654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"/>
            <a:ext cx="12191695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8820791-F892-42B0-ADFF-AF4E0772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4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98004B5-83A1-40A2-99CE-15D55B6C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498B720-C2A5-4A8E-9453-0991E767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03CEF9E-2EFC-4221-89B0-03B10245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1" i="0">
                <a:solidFill>
                  <a:srgbClr val="19A460"/>
                </a:solidFill>
                <a:latin typeface="Aptos"/>
                <a:ea typeface="Aptos"/>
                <a:cs typeface="Aptos"/>
              </a:rPr>
              <a:t>PLANO · PROPRIETÁRIOS, FUTUROS COMPRADORES, ADEPTOS DO FAÇA VOCÊ MESMO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66B30F1-36B9-4722-97CA-4DC56B69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7D804D4-FE78-41D1-9D9B-8C81E3DE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 — Estime. Compare. Construa.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CF6EEE2-D380-44A2-8A48-95E8BEB6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914" y="6492240"/>
            <a:ext cx="29527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construpilot.fr · construpilot.pt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032F124-76EA-4A7D-919C-463BD2AA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11277295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A9EF9AB-4892-42DF-ABE8-BE837612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Particulares — em detalhe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63869C2-D8F0-4F26-A6FE-E7E22EB4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66928"/>
            <a:ext cx="37490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Gratuito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1800973-5121-4CF8-BB18-C90A6010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156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985FFB0-1168-427E-A5DA-C4AE46AC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200" b="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Tudo para preparar uma obra: estimar, comparar e compreender em 30 segundos.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469457C-693F-4FD2-9B99-D4DF2A5A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554720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Estimativas e cálculo de custos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Estimador de obras: renovação, construção de moradia, ampliação, piscina… por tipo de projeto, estado do imóvel e região (coeficientes de mercado de 2026, 16 distritos PT)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3 gamas de preços — Económica / Standard / Premium — materiais + mão de obra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Detalhe por especialidade, planeamento das fases, exportação PDF (com IVA de 6 % / 23 % em Portugal)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Smart Project: descreva «renovar casa de banho de 8 m²» ou dite por voz → lotes, materiais e orçamento gerados pela IA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Carrinho de compras de materiais otimizado (bloco/tijolo, argamassa, cola, reboco de fachada…)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Comparação de propostas e preços, valores indicativos em €/m² por cidade (páginas locais «orçamentos de obras»)</a:t>
            </a:r>
          </a:p>
          <a:p xmlns:a="http://schemas.openxmlformats.org/drawingml/2006/main"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Encontrar um profissional e gerir a conta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Pedido de orçamentos a profissionais verificados (K-bis, SIRET, seguro decenal) — perfil público «Profissional verificado» e avaliações de clientes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Conta segura: e-mail ou início de sessão com Google, autenticação de dois fatores por e-mail, dispositivos ligados, exportação dos meus dados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Programa de recomendações com recompensas, aplicação móvel (PWA) instalável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Interface FR / PT-PT, blog e newsletter com conselhos para obras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8CBC929-0231-447F-B750-7D9B995C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7" y="1920240"/>
            <a:ext cx="554720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Ferramentas de IA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Análise de fotos: envie uma fotografia de uma divisão ou de um defeito e a IA sugere soluções e prioridades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Assistente de obras com IA: responde às suas perguntas sobre obras em francês (conselhos limitados no plano gratuito)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Conselheiro faça você mesmo: fazer sozinho ou contratar um profissional? Segurança primeiro (gás, eletricidade, paredes estruturais → encaminhamento para um profissional)</a:t>
            </a:r>
          </a:p>
          <a:p xmlns:a="http://schemas.openxmlformats.org/drawingml/2006/main"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Calculadoras e preços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Calculadoras de materiais: tinta, revestimentos cerâmicos (cola, betume de juntas, cruzetas, membrana, perfis), betão, alvenaria (bloco/tijolo, argamassa, cola, espuma PU, reboco), áreas, volumes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Fichas de cálculo partilháveis por ligação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Pesquisa de preços: consulta da biblioteca de 322 trabalhos orçamentados (preços baixo, mediano e alto)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5DAECEE-B5ED-43B3-A12A-F9257F4A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73368"/>
            <a:ext cx="111556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5D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CAF0363-7B8E-468F-BA66-6AEBB751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5B6C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913642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04945AD-0D22-47F2-A757-6BDBFF91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"/>
            <a:ext cx="12191695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C7860F8-7072-45B3-9F5B-41CCBF9F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4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A2E960B-9314-4F1C-92CA-209B8BE3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F37B3C8-69AB-43C7-8D44-99552B59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F84B113-0CA5-4E7F-8B91-C515B7C8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1" i="0">
                <a:solidFill>
                  <a:srgbClr val="19A460"/>
                </a:solidFill>
                <a:latin typeface="Aptos"/>
                <a:ea typeface="Aptos"/>
                <a:cs typeface="Aptos"/>
              </a:rPr>
              <a:t>PLANO · UMA RENOVAÇÃO PONTUAL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84E600B-1DDC-411C-A38A-9E6957FF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62DBDE6-3F82-471F-B5D1-0166F26A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 — Estime. Compare. Construa.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9F7CB33-6C28-4618-9D60-B7DE2C0E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914" y="6492240"/>
            <a:ext cx="29527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construpilot.fr · construpilot.pt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0A4FD56-03FE-4930-877C-4BF614BE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11277295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8BF3006-C537-489F-9DC7-3556197C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 Pass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AC09104-D26A-4DAB-B50E-7EFF906F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66928"/>
            <a:ext cx="37490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50 € uma só vez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95D463C-3E10-43AA-8F23-D363FD3A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156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1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Pagamento único · 1 projeto completo · válido por 90 dias · sem subscrição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50DF92C-F382-4A12-B14E-D49E7DCB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200" b="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Acesso a um projeto completo com um único pagamento, ideal para uma renovação pontual.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24DCEF9-771B-445A-9FF2-859ADB1D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676656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08D7D3F-70F5-4AC5-A147-4A10E7A2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600" b="1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O essencial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C48DC1A-C1C7-4D06-A225-468D4663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68880"/>
            <a:ext cx="6400800" cy="3749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Estimativa completa, detalhe por especialidade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Materiais, quantidades, preços e carrinho otimizado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Planeamento + orçamento, PDF profissional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Análise de 3 orçamentos de profissionais com IA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Planta 2D + 3 imagens 3D incluídas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Válido por 90 dias, sem subscrição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55226CB8-886F-4932-B4A3-CE7AF3DC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1920240"/>
            <a:ext cx="42062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18616D9-153F-446D-AE4C-38ECFED0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2103120"/>
            <a:ext cx="374903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Para quem?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65D5D07-A955-4425-9FEA-4BDEB233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2560320"/>
            <a:ext cx="3749039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Uma renovação pontual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D8A3555-6551-46CE-B653-B3869728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3749039"/>
            <a:ext cx="374903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Preço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CDA8784-E474-4EBC-9EA9-7A2FB37E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4206240"/>
            <a:ext cx="3749039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50 € uma só vez
Pagamento único · 1 projeto completo · válido por 90 dias · sem subscrição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019EAAB-68A7-4AC2-B82F-C3A52F11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73368"/>
            <a:ext cx="111556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5D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3C8183D-2EA7-4286-8412-C7ED773C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5B6C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DC5283B-8309-466C-875C-F5ABE07F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925312"/>
            <a:ext cx="127101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C9E1DF5-8220-43D3-80BD-02EFF539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016752"/>
            <a:ext cx="1124712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1 PROJETO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3855548-7F2B-4412-A0F1-16B513B5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536" y="5925312"/>
            <a:ext cx="127101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18CC69F-F485-48C4-B908-22571F32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688" y="6016752"/>
            <a:ext cx="1124712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90 DIAS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FF577FF-6B32-4FDE-AC06-F1480CDC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5925312"/>
            <a:ext cx="19431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9E3A4348-94E5-4B7C-8D05-5BA7533D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6016752"/>
            <a:ext cx="1796796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SEM SUBSCRIÇÃO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AA5B655-89EC-4777-9F38-7345E92B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353312"/>
            <a:ext cx="1874519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10160">
            <a:solidFill>
              <a:srgbClr val="DAE5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257C68E-CFA7-4FC5-ABC6-75B70811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1527048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0B9E5A"/>
                </a:solidFill>
              </a:defRPr>
            </a:pPr>
            <a:r>
              <a:rPr sz="1800" b="1">
                <a:solidFill>
                  <a:srgbClr val="0B9E5A"/>
                </a:solidFill>
                <a:latin typeface="Aptos"/>
                <a:ea typeface="Aptos"/>
                <a:cs typeface="Aptos"/>
              </a:rPr>
              <a:t>50 €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70ABD47-16A2-499E-9618-61FEF3F4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1856231"/>
            <a:ext cx="164592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0B9E5A"/>
                </a:solidFill>
              </a:defRPr>
            </a:pPr>
            <a:r>
              <a:rPr sz="800" b="0">
                <a:solidFill>
                  <a:srgbClr val="0B9E5A"/>
                </a:solidFill>
                <a:latin typeface="Aptos"/>
                <a:ea typeface="Aptos"/>
                <a:cs typeface="Aptos"/>
              </a:rPr>
              <a:t>uma só vez</a:t>
            </a:r>
          </a:p>
        </p:txBody>
      </p:sp>
    </p:spTree>
    <p:extLst>
      <p:ext uri="{BB962C8B-B14F-4D97-AF65-F5344CB8AC3E}">
        <p14:creationId xmlns:p14="http://schemas.microsoft.com/office/powerpoint/2010/main" val="5179906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8EC3E73-C84E-4FA5-A0C3-D9A519CA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"/>
            <a:ext cx="12191695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8458E73-D5E2-4A41-9CAE-56362627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4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F3F586F-42B4-421D-B500-E36E4D7A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33A7E61-02EF-4C9E-84B4-55E0CE39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870FB25-29FD-4791-97CC-E56E12A1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1" i="0">
                <a:solidFill>
                  <a:srgbClr val="19A460"/>
                </a:solidFill>
                <a:latin typeface="Aptos"/>
                <a:ea typeface="Aptos"/>
                <a:cs typeface="Aptos"/>
              </a:rPr>
              <a:t>PLANO · UMA RENOVAÇÃO PONTUAL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BAC55B0-835F-4800-AD65-9B54ADA0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15AFF28-B2F3-4127-8AB0-48E933DC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 — Estime. Compare. Construa.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4948F77-C184-47E4-8694-EEB95044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914" y="6492240"/>
            <a:ext cx="29527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construpilot.fr · construpilot.pt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0571705-B579-4B03-AC10-0E9781B1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11277295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B475925-9629-404D-8185-12CAAD90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 Pass — em detalhe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4E6BD6D-4864-45E6-B37B-12EE92BD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66928"/>
            <a:ext cx="37490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50 € uma só vez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12EC047-1D18-407C-81D6-56315330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156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A4D8E97-CBBF-4C5C-B946-680DB103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200" b="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Acesso a um projeto completo com um único pagamento, ideal para uma renovação pontual.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BF03208-0EB8-4800-8F4D-4E9A0A65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554720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Incluído no Pass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Estimativa completa com detalhe por especialidade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Materiais, quantidades e preços + carrinho otimizado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Conselheiro faça você mesmo e IA avançada dedicados a este projeto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Planeamento + orçamento, PDF profissional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Análise de 3 orçamentos de profissionais: explicação e verificação dos valores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Acesso à planta 2D + 3 imagens 3D com IA incluídas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0C44408-C99E-4C5C-B73E-247A0398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7" y="1920240"/>
            <a:ext cx="554720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</a:pPr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DC2F59A-A2F0-4B0F-AA5E-28D8C3A4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73368"/>
            <a:ext cx="111556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5D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3555322-4C89-4FB8-9666-C77572FD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5B6C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672091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32DDDD9-A980-4D9C-A21C-89518BB7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"/>
            <a:ext cx="12191695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1FF2DE7-0A93-4F99-98DA-BDA55013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4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069B6F-4BB5-4F4D-8B21-3BAF3B97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7728AB6-AB8F-4D5B-B60C-92459120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9DC256D-8B58-40E0-8F52-3DEC34FD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1" i="0">
                <a:solidFill>
                  <a:srgbClr val="19A460"/>
                </a:solidFill>
                <a:latin typeface="Aptos"/>
                <a:ea typeface="Aptos"/>
                <a:cs typeface="Aptos"/>
              </a:rPr>
              <a:t>PLANO · PARTICULARES COM VÁRIOS PROJETOS, INVESTIDORES, SENHORIOS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C40DD29-73B9-4CD4-ADD1-B57713E7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6FF5C87-BEC2-45E6-A91C-09EA729C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 — Estime. Compare. Construa.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39DE8E-BBC1-4B22-81D3-CF8AA850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914" y="6492240"/>
            <a:ext cx="29527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construpilot.fr · construpilot.pt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696213A-0D16-4DC6-A54D-862853D1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11277295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C8C1A50-B3B3-4A76-A521-0D92DE43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Premium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70C560F-31A8-42DC-AEDF-C59B9E11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66928"/>
            <a:ext cx="37490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19 € / mês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54F5F3A-F27A-46D4-B861-B7CAFE00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156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1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ou 190 € / ano (−17 %) · 7 dias de teste · projetos e estimativas ilimitados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085C37F-1C95-492D-A197-9273CE0C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200" b="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 mais popular: projetos ilimitados, IA completa e comparação avançada de preços.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FBCE32D-420B-426E-A907-718F6EA0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676656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00FCADB-02CA-4EEC-B0CF-21F1D679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600" b="1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O essencial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075977E-07E6-4D67-AB0D-79FC4A2C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68880"/>
            <a:ext cx="6400800" cy="3749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Projetos e estimativas ilimitados, AI Advisor completo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Análise ilimitada de orçamentos: a IA explica e verifica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Comparação avançada, histórico e alertas de preços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Orçamento inteligente, planeamento, controlo de despesas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Recomendações personalizadas, conselhos avançados de faça você mesmo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Imagens 3D, vídeo 3D e maquete interativa (créditos)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9B7B4B2-D154-4406-ABF6-33FDC3D8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1920240"/>
            <a:ext cx="42062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A96A842-314C-4AD0-BB04-122C88A5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2103120"/>
            <a:ext cx="374903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Para quem?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BEC54CA-FA00-4C85-8D4E-0091CF09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2560320"/>
            <a:ext cx="3749039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Particulares com vários projetos, investidores, senhorios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F538854-0829-43B3-8A2C-AAF985C7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3749039"/>
            <a:ext cx="374903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Preço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B57A29A-627B-4A0D-88FE-4C4D50F9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4206240"/>
            <a:ext cx="3749039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19 € / mês
ou 190 € / ano (−17 %) · 7 dias de teste · projetos e estimativas ilimitados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124AE009-76CC-4B60-A3E5-8648FB87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73368"/>
            <a:ext cx="111556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5D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1D2D231-0AE8-469C-9A45-7FA097C9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5B6C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9C95330C-9ABB-4775-AD81-5265103B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925312"/>
            <a:ext cx="127101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A039BB27-72B3-4E80-BB9C-A8BD47E0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016752"/>
            <a:ext cx="1124712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ILIMITADO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E3FF4C6-5E00-43B6-8B83-657D7163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536" y="5925312"/>
            <a:ext cx="10515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B8D09EE-69F8-4527-9F66-9E8524E9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688" y="6016752"/>
            <a:ext cx="905255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IA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3CC44B4C-F3E2-404D-8FE4-000F5CB2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5925312"/>
            <a:ext cx="10515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D2D89B1-8E13-462D-8FCE-1BD59668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976" y="6016752"/>
            <a:ext cx="905255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PREÇOS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EA8BD68-4A9C-4C30-BBB3-7E65A3CF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353312"/>
            <a:ext cx="1874519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10160">
            <a:solidFill>
              <a:srgbClr val="DAE5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F5E5BCC5-612F-4961-B1BE-73955D2A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1527048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0B9E5A"/>
                </a:solidFill>
              </a:defRPr>
            </a:pPr>
            <a:r>
              <a:rPr sz="1800" b="1">
                <a:solidFill>
                  <a:srgbClr val="0B9E5A"/>
                </a:solidFill>
                <a:latin typeface="Aptos"/>
                <a:ea typeface="Aptos"/>
                <a:cs typeface="Aptos"/>
              </a:rPr>
              <a:t>19 €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8A6D83A-FDBB-43A0-B9CC-30400BCE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1856231"/>
            <a:ext cx="164592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0B9E5A"/>
                </a:solidFill>
              </a:defRPr>
            </a:pPr>
            <a:r>
              <a:rPr sz="800" b="0">
                <a:solidFill>
                  <a:srgbClr val="0B9E5A"/>
                </a:solidFill>
                <a:latin typeface="Aptos"/>
                <a:ea typeface="Aptos"/>
                <a:cs typeface="Aptos"/>
              </a:rPr>
              <a:t>/ mês</a:t>
            </a:r>
          </a:p>
        </p:txBody>
      </p:sp>
    </p:spTree>
    <p:extLst>
      <p:ext uri="{BB962C8B-B14F-4D97-AF65-F5344CB8AC3E}">
        <p14:creationId xmlns:p14="http://schemas.microsoft.com/office/powerpoint/2010/main" val="7810052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9B9FB38-2840-43AF-ABBE-016DC3E3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"/>
            <a:ext cx="12191695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61E0264-C3FF-4259-B6B7-469FFF3E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4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85DD8CF-71B3-4E91-A641-EE527B97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5643DB1-2C30-4FE1-AEC1-0E71C8D8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0916791-67CD-4B4D-82BF-61D5B4B0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1" i="0">
                <a:solidFill>
                  <a:srgbClr val="19A460"/>
                </a:solidFill>
                <a:latin typeface="Aptos"/>
                <a:ea typeface="Aptos"/>
                <a:cs typeface="Aptos"/>
              </a:rPr>
              <a:t>PLANO · PARTICULARES COM VÁRIOS PROJETOS, INVESTIDORES, SENHORIOS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A5DF579-3CA3-45C2-B430-482536D9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E218D8D-F61B-410F-A904-86CE7218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 — Estime. Compare. Construa.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0DE4F00-47DE-48B6-8D73-A0B294F3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914" y="6492240"/>
            <a:ext cx="29527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construpilot.fr · construpilot.pt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9F13B0A-57E1-4A2D-A93B-883910C7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11277295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E16D59E-11F4-4E09-96A5-3DF5B72C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Premium — em detalhe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0DBC585-17EF-425D-8AD5-B1F765E0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66928"/>
            <a:ext cx="37490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19 € / mês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FE7EE11-DE10-4EB6-AE35-B27234BB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156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FD5D963-2EBF-4BD3-8F5F-CD6A9EDD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200" b="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 mais popular: projetos ilimitados, IA completa e comparação avançada de preços.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5CB5901-6E00-48C9-9503-4EF5CAC1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554720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Tudo do plano Particulares, sem limites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Projetos ilimitados, estimativas detalhadas ilimitadas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ConstruPilot AI Advisor completo (assistente de IA sem limites)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Análise ilimitada de orçamentos (leitura de PDF: a IA explica e verifica os valores)</a:t>
            </a:r>
          </a:p>
          <a:p xmlns:a="http://schemas.openxmlformats.org/drawingml/2006/main"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3D e visualização (créditos)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Imagem 3D fotorrealista com IA (5 €), vídeo 3D (10 €), maquete 3D interativa navegável (5 €), partilha por ligação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E46FF90-37A1-4B85-A237-D66399CE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7" y="1920240"/>
            <a:ext cx="554720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Preços e orçamento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Comparação avançada de preços e histórico de preços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Alertas de preços, otimização do carrinho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Orçamento inteligente + planeamento, controlo de despesas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Recomendações personalizadas, conselhos avançados de faça você mesmo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Exportação de todos os documentos em PDF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4FF76D6-5CE0-455B-90EC-7004F45E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73368"/>
            <a:ext cx="111556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5D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3C019F0-F550-4300-A5AE-4557D579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5B6C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428513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B5DF6BD-C3B0-4209-B48F-975EB847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"/>
            <a:ext cx="12191695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B814EA6-52AE-4096-BC7C-9952FF0E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4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00413A4-2C2F-413B-A134-1374A7BE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3D45F4-0575-4CA9-95BE-D287859A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9AB463E-E857-4EA8-8334-B925519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1" i="0">
                <a:solidFill>
                  <a:srgbClr val="19A460"/>
                </a:solidFill>
                <a:latin typeface="Aptos"/>
                <a:ea typeface="Aptos"/>
                <a:cs typeface="Aptos"/>
              </a:rPr>
              <a:t>PLANO · PROFISSIONAIS, INDEPENDENTES, MICROEMPRESAS DE CONSTRUÇÃO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8BDAB98-D461-4990-8037-78529C34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DE6FA07-0DBD-4EF1-9138-5D4F31F1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 — Estime. Compare. Construa.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81C31EF-F8FE-41B5-A809-87CE17CC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914" y="6492240"/>
            <a:ext cx="29527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construpilot.fr · construpilot.pt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9C45107-6832-4C81-BE89-614D28B7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11277295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AADBA23-11DC-441B-8FE2-92DD8910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6E61707-8A7C-4225-BAB9-F3E100D0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6928"/>
            <a:ext cx="295275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149 € sem IVA / mês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9AE4B8F-156A-44FD-8C83-223F8658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156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1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ou 1 570 € / ano · 7 dias de teste · 1 utilizador · projetos ilimitados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9F2D55E-92FA-48AD-B6C4-55D9C040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200" b="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Orçamente a partir de plantas, cadernos de encargos, fotos ou voz, aplique as suas margens e recolha assinaturas online.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8637A41-D4CE-4CB0-8108-EA32F0A7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676656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478E6B5-7FD0-4278-8DD0-2B507B0C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600" b="1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O essencial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6103748-8C9B-4E50-83AC-0398AE61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68880"/>
            <a:ext cx="6400800" cy="3749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Editor de orçamentos + biblioteca de 322 trabalhos + biblioteca própria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Orçamentos a partir de plantas, CCTP (IA + OCR), fotos, vídeo ou voz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Margens por linha e lote, margem-alvo, alerta de margem baixa, PDF interno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PDF com o seu logótipo, envio por e-mail, assinatura online, adiantamento Stripe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Plantas DWG / DXF / PDF: medições de betão, escadas, lajes, estudo de licenciamento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Aprovisionamento: aço, impermeabilização, coberturas, infraestruturas, notas de encomenda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Radar de Obras: licenças de construção, carta + QR, envio postal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CRM de clientes, potenciais clientes, avaliações, selo Profissional verificado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2C4B053-789C-4311-B83C-660A2264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1920240"/>
            <a:ext cx="42062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BF8621D-0858-4EE8-8D65-30EB49D0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2103120"/>
            <a:ext cx="374903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Para quem?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EFDF495-C13A-48D9-AE9C-BB7423EC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2560320"/>
            <a:ext cx="3749039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Profissionais, independentes, microempresas de construção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EC0B89B-DA42-43E6-9246-8BEF405C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3749039"/>
            <a:ext cx="374903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Preço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AE15917-7C4C-42D0-9B2E-756BBC13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4206240"/>
            <a:ext cx="3749039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149 € sem IVA / mês
ou 1 570 € / ano · 7 dias de teste · 1 utilizador · projetos ilimitados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DBFD9B0-963C-41FB-9873-CD6407CF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73368"/>
            <a:ext cx="111556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5D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4C97361-17B1-49C7-946A-0F9D1CDF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5B6C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473DF0F4-670D-4D91-8E27-4662C7AA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925312"/>
            <a:ext cx="10515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9F83E4E-3866-4B95-A7C6-26D3938C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016752"/>
            <a:ext cx="905255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PLANTA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02E2AEC-70C5-46D7-A545-53AB44F4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5925312"/>
            <a:ext cx="1367028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54B9F72F-98BD-4F65-B7FA-63308DF0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232" y="6016752"/>
            <a:ext cx="1220724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CÁLCULO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7EEB53E-DD67-4E46-886F-A37A267D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836" y="5925312"/>
            <a:ext cx="10515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0AC4B65B-6A83-4EE1-90EE-00669264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988" y="6016752"/>
            <a:ext cx="905255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ORÇAMENTO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070DC5F-44E4-4917-8F2F-FC34CD73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353312"/>
            <a:ext cx="1874519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10160">
            <a:solidFill>
              <a:srgbClr val="DAE5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219A56FD-37A3-407D-A7E2-E87F39BB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1527048"/>
            <a:ext cx="1645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0B9E5A"/>
                </a:solidFill>
              </a:defRPr>
            </a:pPr>
            <a:r>
              <a:rPr sz="1500" b="1">
                <a:solidFill>
                  <a:srgbClr val="0B9E5A"/>
                </a:solidFill>
                <a:latin typeface="Aptos"/>
                <a:ea typeface="Aptos"/>
                <a:cs typeface="Aptos"/>
              </a:rPr>
              <a:t>149 € sem IVA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1C15C0F0-94A8-4B40-BF74-EA73BBDC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1856231"/>
            <a:ext cx="164592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0B9E5A"/>
                </a:solidFill>
              </a:defRPr>
            </a:pPr>
            <a:r>
              <a:rPr sz="800" b="0">
                <a:solidFill>
                  <a:srgbClr val="0B9E5A"/>
                </a:solidFill>
                <a:latin typeface="Aptos"/>
                <a:ea typeface="Aptos"/>
                <a:cs typeface="Aptos"/>
              </a:rPr>
              <a:t>/ mês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6DDB33DB-30AE-47CE-BAFF-87D3AD42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22392"/>
            <a:ext cx="1783080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A4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E893404C-13BB-466A-BF63-B7281F87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550408"/>
            <a:ext cx="1673352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PLANTA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7140BEE5-3F6A-42AF-A0A8-E5A9ADC7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5513832"/>
            <a:ext cx="3108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5B6C7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4239C825-1787-4666-BCE8-EE4A92DB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5422392"/>
            <a:ext cx="1783080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A4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13D2AAC5-AEDE-41E6-88CC-56FC412F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5550408"/>
            <a:ext cx="1673352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MEDIÇÕES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01180928-1DA5-4180-9804-2D6B90AB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5513832"/>
            <a:ext cx="3108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5B6C7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E5F8E085-366F-4CC2-BA45-73968BD4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5422392"/>
            <a:ext cx="1783080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A4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12E083A4-1974-4ACC-A6E8-1E25C555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5550408"/>
            <a:ext cx="1673352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PREÇOS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DDEFFC4F-13D6-41E0-8E93-A254BD49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513832"/>
            <a:ext cx="3108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5B6C7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826FAAC8-C965-48D3-B39D-0458305E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422392"/>
            <a:ext cx="1783080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A4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9398267F-1146-497D-AE7B-B1411B86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5550408"/>
            <a:ext cx="1673352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0B9E5A"/>
                </a:solidFill>
              </a:defRPr>
            </a:pPr>
            <a:r>
              <a:rPr sz="800" b="1">
                <a:solidFill>
                  <a:srgbClr val="0B9E5A"/>
                </a:solidFill>
                <a:latin typeface="Aptos"/>
                <a:ea typeface="Aptos"/>
                <a:cs typeface="Aptos"/>
              </a:rPr>
              <a:t>MARGEM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030B1E6F-3B53-45AD-A2E7-FC8C293C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5513832"/>
            <a:ext cx="3108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4EB8C43D-D304-4F20-9F31-FCCD91F5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5422392"/>
            <a:ext cx="1783080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A4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32CC53E0-0B53-4784-BA69-03D7B7C8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5550408"/>
            <a:ext cx="1673352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0B9E5A"/>
                </a:solidFill>
              </a:defRPr>
            </a:pPr>
            <a:r>
              <a:rPr sz="800" b="1">
                <a:solidFill>
                  <a:srgbClr val="0B9E5A"/>
                </a:solidFill>
                <a:latin typeface="Aptos"/>
                <a:ea typeface="Aptos"/>
                <a:cs typeface="Aptos"/>
              </a:rPr>
              <a:t>ASSINATURA</a:t>
            </a:r>
          </a:p>
        </p:txBody>
      </p:sp>
    </p:spTree>
    <p:extLst>
      <p:ext uri="{BB962C8B-B14F-4D97-AF65-F5344CB8AC3E}">
        <p14:creationId xmlns:p14="http://schemas.microsoft.com/office/powerpoint/2010/main" val="4758631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8B1DB41-4765-4E6B-A478-DA85FC96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"/>
            <a:ext cx="12191695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5E0A139-D2EF-4FEF-8BF4-3CC0BFD2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4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E99F087-C269-439B-A7E6-87726D44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9A61067-B7E1-48D4-93FF-CB3C0061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349E85-BDDE-468E-AF30-02A17FC9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1" i="0">
                <a:solidFill>
                  <a:srgbClr val="19A460"/>
                </a:solidFill>
                <a:latin typeface="Aptos"/>
                <a:ea typeface="Aptos"/>
                <a:cs typeface="Aptos"/>
              </a:rPr>
              <a:t>PLANO · PROFISSIONAIS, INDEPENDENTES, MICROEMPRESAS DE CONSTRUÇÃO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6BC5B15-38FC-4187-83C5-AD697994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98C496F-C609-493B-86F7-3CBC5AE7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 — Estime. Compare. Construa.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19C0543-E63F-4047-A5B5-106A7E7F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914" y="6492240"/>
            <a:ext cx="29527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construpilot.fr · construpilot.pt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34225F9-DE42-4B32-9DFE-C386AC73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11277295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FEB829E-1BD7-4DC0-AA90-64063ABD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 — em detalhe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A2F3F65-3739-4839-B2CB-A49D08E0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6928"/>
            <a:ext cx="295275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149 € sem IVA / mês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F1D9912-2D52-4A86-9380-C054D8E4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156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4B96C4B-2A72-423F-A783-8EC0BF7E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200" b="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Orçamente a partir de plantas, cadernos de encargos, fotos ou voz, aplique as suas margens e recolha assinaturas online.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F1DC53D-5B6F-4E2A-BB52-055756B4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3637178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1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Orçamentos e faturas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9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Editor de orçamentos: lotes, linhas, IVA de 0 / 5,5 / 10 / 20 % (PT: 0 / 6 / 13 / 23 %, regra de IVA a 6 % na reabilitação), descontos, notas, gravação automática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9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Biblioteca de preços partilhada (322 trabalhos FR, 3 gamas) + biblioteca da empresa (importação Excel / mapa de preços unitários / antigos orçamentos PDF), trabalhos compostos, sugestões de IA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9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Orçamentos a partir de: texto ou ditado (Whisper), foto / vídeo da obra, planta (medições → orçamento), CCTP / DPGF (IA + OCR de PDF digitalizados, vários lotes, memória dos lotes a manter)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9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Orçamento consolidado de várias plantas (estrutura, moradia, armaduras) com subcontratação a IVA de 0 %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9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PDF com o logótipo da empresa (cores, SIRET, IVA, dados bancários; NIF / Alvará em Portugal), envio por e-mail via SMTP próprio ou ConstruPilot, anexos, modelos de mensagens, seguimento de aberturas e lembretes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9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Assinatura eletrónica online (assinatura desenhada) + adiantamento Stripe na assinatura (30 %, configurável)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9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Extra Faturação (5 €/mês): faturas, adiantamentos, autos de medição, saldo, conta final, notas de crédito, controlo de pagamentos, faturação eletrónica Factur-X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21D185F-62C4-4443-8A83-EB4052CD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258" y="1920240"/>
            <a:ext cx="3637178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1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Margens e rentabilidade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9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Custo por linha, margem em € e % por linha e lote, sinalização de linhas com prejuízo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9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Margem-alvo global e por lote (cálculo automático do preço de venda), alerta de margem baixa antes do envio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9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PDF interno «não enviar ao cliente»: custos, margens por lote, síntese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9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Análise de rentabilidade, IA profissional</a:t>
            </a:r>
          </a:p>
          <a:p xmlns:a="http://schemas.openxmlformats.org/drawingml/2006/main"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1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Aprovisionamento e fornecedores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9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Armaduras / aço: leitura de plantas com IA → mapa HA6…HA32, malhas, tonelagem, quantidades para encomenda (desperdícios, comprimento das barras)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9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Impermeabilização (cobertura em terraço), coberturas (telhas, ardósia, chapa de aço…), arruamentos / redes e valas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9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Fornecedores (agência, n.º de cliente, categorias), exportação CSV, notas de encomenda, consolidação de várias plantas, estados rascunho / enviado / confirmado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9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Orçamentação DPGF automática: prioridade aos seus preços, IA como alternativa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DAD1446-D177-4053-8ADF-B88F7E82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316" y="1920240"/>
            <a:ext cx="3637178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1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Plantas e medições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9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Importação DWG (conversão automática) / DXF / PDF / imagens: representação fiel (cotas, textos, legenda), calibração automática da escala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9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Deteção com IA de divisões, paredes, vãos, pilares, vigas e lajes; medições da estrutura de betão por camadas (paredes, lajes, escadas, vigas, pilares → m³, cofragem, aço, €)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9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Ferramentas de medição (distância, área de polígonos, histórico), ecrã inteiro, contraste, comparação de 2 versões de plantas, assistente de edição com IA em linguagem natural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9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Medição em fotografias, estimativa por divisão (pintura, pavimentos, canalização, alvenaria…) com escolha do bloco e reboco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9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Estudo de estrutura a partir do projeto de licenciamento: estimativa por piso, Gantt, meteorologia, comparação de fornecedores, nota de encomenda, envio e assinatura do cliente, lembretes automáticos</a:t>
            </a:r>
          </a:p>
          <a:p xmlns:a="http://schemas.openxmlformats.org/drawingml/2006/main"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1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Clientes, potenciais clientes e reputação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9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CRM de clientes e projetos, seguimento de orçamentos (vistos, assinados, lembretes), portal do cliente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9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Os meus pedidos: potenciais clientes particulares com pontuação, notificações, e-mail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9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Avaliações de clientes recolhidas por ligação, selo «Profissional verificado» (KYC K-bis + SIRET + seguro decenal)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9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Radar de Obras, imagens 3D, acesso à API para programadores (ver páginas seguintes)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34EDB1E-2D44-4DD1-B5DC-45143A7C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73368"/>
            <a:ext cx="111556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5D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7548D23-1CFB-44DB-9A39-8D1EC5E9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5B6C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085961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45511F41-BB0F-4062-88E3-A3607D1C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"/>
            <a:ext cx="12191695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7E5BAA0-D32E-41C5-B903-AC9B076D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4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A1624E6-065F-4139-87A5-53074B8B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984D194-3EF3-4A71-B819-7FA9595F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4CAE2D6-805F-4B64-B0D8-C8598EF3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1" i="0">
                <a:solidFill>
                  <a:srgbClr val="19A460"/>
                </a:solidFill>
                <a:latin typeface="Aptos"/>
                <a:ea typeface="Aptos"/>
                <a:cs typeface="Aptos"/>
              </a:rPr>
              <a:t>PLANO · PME DE CONSTRUÇÃO, EMPREITEIROS GERAIS, GABINETES DE ESTUDOS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8092270-8317-4085-918F-147B20F5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35173C2-CA69-497A-A6A5-3A16FFB6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 — Estime. Compare. Construa.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6D9A867-7A65-4DEC-B30D-4536E7E3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914" y="6492240"/>
            <a:ext cx="29527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construpilot.fr · construpilot.pt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2C8D40B-BABA-41B3-8DD1-2C5F1875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11277295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8A5B150-FF91-4FCE-88C8-23C52304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 Business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29F0B1C-967E-4F43-BFED-AC6B8C92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6928"/>
            <a:ext cx="295275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249 € sem IVA / mês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E1F1DEB-A9C3-4F41-B07E-55FB7562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156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1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ou 2 490 € / ano · 7 dias de teste · 5 utilizadores incluídos · Faturação e Factur-X incluídas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120FE63-086C-41E1-A049-54AFA49B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200" b="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Tudo do Pro + equipas, RH e registo de horas, acompanhamento de obras com custos reais, relatórios e automatizações.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38489B2-6174-4702-99A4-F9A50B66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676656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E68B944-86F4-4014-BF7A-1DD24F80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600" b="1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O essencial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8A9D575-B8D0-4E92-94A9-60916C08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68880"/>
            <a:ext cx="6400800" cy="3749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Tudo do Pro + 5 utilizadores, permissões e convites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Faturação e Factur-X incluídas: adiantamentos, autos de medição, saldo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RH, registo de horas dos trabalhadores no telemóvel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Acompanhamento de obras: fotos, custos reais vs orçamento, partilha com o cliente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Planeamento Gantt, relatórios, rentabilidade por obra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3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Automatizações (lembretes, relatórios), visualização 3D interativa incluída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ABFB166C-E718-4443-810C-0D197FB6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1920240"/>
            <a:ext cx="42062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7C35957-411F-42DF-9941-D687E789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2103120"/>
            <a:ext cx="374903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Para quem?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4F7911B-BFF1-4395-8397-6354A065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2560320"/>
            <a:ext cx="3749039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PME de construção, empreiteiros gerais, gabinetes de estudos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48736EF-4CA2-4CAE-ABB1-6F5B6574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3749039"/>
            <a:ext cx="374903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Preço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20D3B3B-56D5-406B-9A25-0FFC41D9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4206240"/>
            <a:ext cx="3749039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249 € sem IVA / mês
ou 2 490 € / ano · 7 dias de teste · 5 utilizadores incluídos · Faturação e Factur-X incluídas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A6178B4-904F-4F8F-A8C1-41FA8571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73368"/>
            <a:ext cx="111556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5D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DFA9595-120F-4EDD-863E-95A69B9C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5B6C7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59D8062-9FB8-4ABE-9025-EAC3128C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925312"/>
            <a:ext cx="1078992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3E2C691-863C-412A-8C33-EBC8DF88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016752"/>
            <a:ext cx="9326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EQUIPA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AB4AD34-CACE-4299-93CA-B2EF29E7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5925312"/>
            <a:ext cx="127101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ED9E290-4495-4FD9-AF87-608F0F53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64" y="6016752"/>
            <a:ext cx="1124712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OBRA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53012A30-0AF8-4BF8-8F5B-5E491F4E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256" y="5925312"/>
            <a:ext cx="1367028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48045026-1FB3-48A2-B7AA-EF57B2BC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6016752"/>
            <a:ext cx="1220724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RELATÓRIOS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ADEAF051-C2E9-4C29-BA22-6DD9ADBE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353312"/>
            <a:ext cx="1874519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10160">
            <a:solidFill>
              <a:srgbClr val="DAE5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8E93E422-BB34-415D-B694-9C8DAF4E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1527048"/>
            <a:ext cx="1645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0B9E5A"/>
                </a:solidFill>
              </a:defRPr>
            </a:pPr>
            <a:r>
              <a:rPr sz="1500" b="1">
                <a:solidFill>
                  <a:srgbClr val="0B9E5A"/>
                </a:solidFill>
                <a:latin typeface="Aptos"/>
                <a:ea typeface="Aptos"/>
                <a:cs typeface="Aptos"/>
              </a:rPr>
              <a:t>249 € sem IVA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FC961A9A-1A4D-406E-9498-D907C55A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1856231"/>
            <a:ext cx="164592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0B9E5A"/>
                </a:solidFill>
              </a:defRPr>
            </a:pPr>
            <a:r>
              <a:rPr sz="800" b="0">
                <a:solidFill>
                  <a:srgbClr val="0B9E5A"/>
                </a:solidFill>
                <a:latin typeface="Aptos"/>
                <a:ea typeface="Aptos"/>
                <a:cs typeface="Aptos"/>
              </a:rPr>
              <a:t>/ mês</a:t>
            </a:r>
          </a:p>
        </p:txBody>
      </p:sp>
    </p:spTree>
    <p:extLst>
      <p:ext uri="{BB962C8B-B14F-4D97-AF65-F5344CB8AC3E}">
        <p14:creationId xmlns:p14="http://schemas.microsoft.com/office/powerpoint/2010/main" val="5930833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5A6B15C-81B4-47ED-8C06-9148DD97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"/>
            <a:ext cx="12191695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FA294E8-CA3B-448C-9527-608068E1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4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F96E830-9766-4B9D-AEB2-A15062B2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F2E8070-3A9B-4158-87AB-49B1B764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75A4DF5-6BFC-41B7-A4E9-964AD40E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1" i="0">
                <a:solidFill>
                  <a:srgbClr val="19A460"/>
                </a:solidFill>
                <a:latin typeface="Aptos"/>
                <a:ea typeface="Aptos"/>
                <a:cs typeface="Aptos"/>
              </a:rPr>
              <a:t>PLANO · PME DE CONSTRUÇÃO, EMPREITEIROS GERAIS, GABINETES DE ESTUDOS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937295D-CA59-4603-B5E8-1FE63515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6604B2C-55AF-4397-BBCF-4688EA1A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 — Estime. Compare. Construa.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350BF44-03AD-40D6-9837-8BDD34C5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914" y="6492240"/>
            <a:ext cx="29527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construpilot.fr · construpilot.pt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30FF4D3-7FC9-421B-993C-57EF5572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11277295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20109C0-E7D4-48DE-A92E-BA7E97CD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 Business — em detalhe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A7FCA78-A265-4C3B-984F-77E29084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6928"/>
            <a:ext cx="295275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249 € sem IVA / mês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863059C-DF80-4744-851E-8005747E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156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8370A7F-B20A-45BC-A2B3-5EF8183E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200" b="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Tudo do Pro + equipas, RH e registo de horas, acompanhamento de obras com custos reais, relatórios e automatizações.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8FEB370-10FD-40D7-873C-C91E66D2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554720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Equipa e organização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Até 5 utilizadores, permissões (administrador, colaborador, apenas leitura), convites por ligação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Área da Empresa: identificação, logótipo, SMTP, dados bancários, definições Factur-X, identidade visual dos documentos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Portal Pro e relatório semanal automático</a:t>
            </a:r>
          </a:p>
          <a:p xmlns:a="http://schemas.openxmlformats.org/drawingml/2006/main"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Gestão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Planeamento + Gantt, relatórios e análises, rentabilidade por obra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Automatizações: lembretes de orçamentos / adiantamentos, notificações de abertura, relatórios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Medições profissionais em plantas 2D, visualização 3D interativa + vídeo 3D incluídos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A72F07A-3AA9-4845-B56A-2A952C5D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7" y="1920240"/>
            <a:ext cx="5547207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RH, registo de horas e obra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Módulo RH: trabalhadores, contratos, ausências; aplicação móvel para registo de horas dos trabalhadores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Acompanhamento de obras: progresso, fotografias, custos reais vs orçamento, partilha com o cliente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0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Autos de medição, fatura de saldo, conta final — Extra Faturação incluído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1E3C9F1-706B-46CC-8D75-2A135A7A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73368"/>
            <a:ext cx="111556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5D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D7D4D6B-4AE4-418D-8B72-D806EBEF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5B6C7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809644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6427A9B-2F81-4549-A0DE-287722A9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"/>
            <a:ext cx="12191695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A4261CC-7E50-4F04-8390-A2044CFA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4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D4E6AA5-4F52-4005-95AB-753CFD10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5D3018E-60B4-4F2A-B41B-FBE415FC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3F0CB26-F065-4004-9B7F-FFB93762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1" i="0">
                <a:solidFill>
                  <a:srgbClr val="19A460"/>
                </a:solidFill>
                <a:latin typeface="Aptos"/>
                <a:ea typeface="Aptos"/>
                <a:cs typeface="Aptos"/>
              </a:rPr>
              <a:t>MÓDULO TRANSVERSAL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10BFD70-4397-4FD4-8EC8-C1A41751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C184F37-4227-44AC-97BD-C918D95F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 — Estime. Compare. Construa.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4DB83FC-9A81-4A08-857B-63CA8E3A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914" y="6492240"/>
            <a:ext cx="29527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construpilot.fr · construpilot.pt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AABF649-10EE-4AF4-8992-301A7222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11277295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E9A769B-2494-4F19-B743-5A2EB76C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Radar de Obras e prospeção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17E3639-6F98-4D1E-8C1A-E4D5E300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66928"/>
            <a:ext cx="37490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C78AE93-621F-41EE-92FC-F57F88EF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156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F23D5DA-9D41-47F9-BA2D-F6F5F6C0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200" b="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Encontre obras antes dos concorrentes e faça prospeção com 1 clique (Pro e Pro Business).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0033922-489C-4215-8B63-197B01CA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557784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Deteção de oportunidades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Mapa de licenças de construção (dados SITADEL) na sua zona, com filtros por especialidade e raio de atuação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Perfil Radar: especialidades da empresa, zona ajustável no mapa, indicadores de desempenho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Captação e seguimento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Página pública dedicada a cada carta (QR / ligação) → o potencial cliente deixa os seus contactos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Criação automática do contacto em «Os meus pedidos», notificação + e-mail, proteção contra spam e duplicados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Acompanhamento de campanhas: aberturas, respostas, taxas por carta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EAA49ED-A56B-478B-9C38-ECA06882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20240"/>
            <a:ext cx="557784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Cartas de prospeção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Carta PDF personalizada (cabeçalho da empresa, referência da licença, intervalo de preços, RGPD) + código QR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Assistente de redação com IA: tom formal / cordial / direto / comercial, extensão à escolha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Envio postal a partir da aplicação (Merci Facteur): carta simples, com seguimento ou registada com aviso de receção, desde ≈ 2,26 € com IVA, acompanhamento da entrega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40A5F01-A2B0-4D1F-B1CC-960F44F9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73368"/>
            <a:ext cx="111556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5D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FF9FB3F-87D6-4AB6-B0F8-0381054D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5B6C7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4714C0E-C750-4F08-9307-7F495BE4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925312"/>
            <a:ext cx="127101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24D5A10-D8D8-4129-8384-5A4AE425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016752"/>
            <a:ext cx="1124712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DETETAR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44E4569-E919-4A90-AACA-BEC2E230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536" y="5925312"/>
            <a:ext cx="1367028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392460B-AAB4-4102-AAE9-0F2BCA3E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688" y="6016752"/>
            <a:ext cx="1220724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CONTACTAR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3CDA0D4-E0F4-4945-8E63-EE836E02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292" y="5925312"/>
            <a:ext cx="1367028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504CF93-BFAC-4EBF-8431-2BE60B3A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444" y="6016752"/>
            <a:ext cx="1220724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CONVERTER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9F95E73-10B4-4CA6-AA36-62FA5C8D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681728"/>
            <a:ext cx="141732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5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01CAC674-5797-4165-BACF-665D13C8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59" y="4828032"/>
            <a:ext cx="2560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C830E7A6-A33B-4241-9B9D-F0A85635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791456"/>
            <a:ext cx="93268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Licença detetada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BE348E31-B2AE-4485-AEA3-661530FD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4681728"/>
            <a:ext cx="141732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5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B436C38-1E5F-4BAF-B62A-7BFFB40D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4828032"/>
            <a:ext cx="2560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49FBB19-9A19-4BD6-80BB-2D4902C3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4791456"/>
            <a:ext cx="9326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Carta + QR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BE013EFA-7197-414D-B0D4-16F207C4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681728"/>
            <a:ext cx="141732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5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A2A8DEDF-182B-48E9-BAAC-F6164922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224" y="4828032"/>
            <a:ext cx="2560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DE7B3528-5859-40B1-8C2E-FD27C41E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544" y="4791456"/>
            <a:ext cx="93268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Contacto CRM</a:t>
            </a:r>
          </a:p>
        </p:txBody>
      </p:sp>
    </p:spTree>
    <p:extLst>
      <p:ext uri="{BB962C8B-B14F-4D97-AF65-F5344CB8AC3E}">
        <p14:creationId xmlns:p14="http://schemas.microsoft.com/office/powerpoint/2010/main" val="5823338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C32282F-1517-4B17-94E3-3D9A879F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"/>
            <a:ext cx="12191695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3EE42F9-DB37-4A4A-B7E7-3317C9A3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4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C93421F-74C4-450D-A6F5-6B29683F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68ACCDC-6BED-4302-A52B-24E64709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7FDD391-0953-4BEC-BBD1-8DADBD4D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1" i="0">
                <a:solidFill>
                  <a:srgbClr val="19A460"/>
                </a:solidFill>
                <a:latin typeface="Aptos"/>
                <a:ea typeface="Aptos"/>
                <a:cs typeface="Aptos"/>
              </a:rPr>
              <a:t>MÓDULO TRANSVERSAL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9CE922E-F9CA-473F-B8C1-0BF3F98C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FD1BCFE-BC89-4317-AB50-236A6761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 — Estime. Compare. Construa.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585DEE2-EF4A-429A-9036-68D0122D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914" y="6492240"/>
            <a:ext cx="29527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construpilot.fr · construpilot.pt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8F72D9A-0294-483F-ABF8-2F303EC8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11277295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C7DA306-5547-4CC4-989F-87E95E79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Blog, SEO e newsletter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E154EE0-9D35-4D98-A367-3C2D7246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66928"/>
            <a:ext cx="37490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9719A5E-06C1-460F-82AA-F72D9345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156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C249118-D547-484F-8155-B6DF0219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200" b="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Um blog de conselhos para obras em FR e PT, atualizado automaticamente e otimizado para o Google.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3135DA2-BCEC-4630-8D4E-C5B59E43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557784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Conteúdo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Blog integrado: artigos FR (preços, apoios, regulamentação, métodos) e PT-PT (licenciamento, IVA a 6 %, custos por distrito)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Geração automática de artigos SEO (BabyLoveGrowth): sincronização a cada 2 h + webhook em tempo real, imagem de capa, perguntas frequentes estruturadas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«Leia também» (artigos relacionados) e ligações internas para o estimador, as calculadoras e os preços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49C1254-547E-4B2D-84D7-6E2DCB17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20240"/>
            <a:ext cx="557784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Otimização para motores de pesquisa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Mapa do site dinâmico (índice + páginas + artigos), JSON-LD BlogPosting / FAQ, Open Graph, robots.txt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Páginas locais «Orçamentos de obras {cidade}», páginas /particuliers, /metre, /portugal, /investisseurs, vídeos de demonstração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Newsletter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Subscrição sob cada artigo e no blog, e-mail de boas-vindas, notificação de cada novo artigo, cancelamento com 1 clique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Estatísticas de subscritores na administração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841F737-66DF-47BD-95E7-4D3413DE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73368"/>
            <a:ext cx="111556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5D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1728205-70F0-4603-8E6E-7054DF29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5B6C7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EC204B3-A556-4678-8205-1E53F981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925312"/>
            <a:ext cx="1175004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F858AA1-3995-4861-AEC4-B05C1170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016752"/>
            <a:ext cx="102870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CONTEÚDO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E0BA3235-4D44-4C46-A544-8915DACA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524" y="5925312"/>
            <a:ext cx="10515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E07805D-5321-4F35-BB74-2A5C9820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676" y="6016752"/>
            <a:ext cx="905255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SEO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9CAC7F8-96E7-41B0-9D2B-300D15FD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812" y="5925312"/>
            <a:ext cx="146304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7699AC6-376E-4EFC-BDF6-BC282A40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964" y="6016752"/>
            <a:ext cx="131673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NEWSLETTER</a:t>
            </a:r>
          </a:p>
        </p:txBody>
      </p:sp>
    </p:spTree>
    <p:extLst>
      <p:ext uri="{BB962C8B-B14F-4D97-AF65-F5344CB8AC3E}">
        <p14:creationId xmlns:p14="http://schemas.microsoft.com/office/powerpoint/2010/main" val="5832887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CFAD4BE-3842-4A65-BCFA-2D2F2CAC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"/>
            <a:ext cx="12191695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9CB1F5E-4A8B-4C60-8571-9A4F4C6D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4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6AACD8E-0315-4263-A022-5E4465A2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5D95314-21A6-41A3-9086-EA882C25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6EE5E00-DF0B-4403-9601-1FC1ED9D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1" i="0">
                <a:solidFill>
                  <a:srgbClr val="19A460"/>
                </a:solidFill>
                <a:latin typeface="Aptos"/>
                <a:ea typeface="Aptos"/>
                <a:cs typeface="Aptos"/>
              </a:rPr>
              <a:t>MÓDULO TRANSVERSAL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BE6779E-C035-4A54-BBA0-450EB9D5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2EA8656-7D33-418F-859C-A19ADB47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 — Estime. Compare. Construa.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001D6B3-996F-4818-B3FA-C19AE795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914" y="6492240"/>
            <a:ext cx="29527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construpilot.fr · construpilot.pt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7F229A9-C89A-49E4-8F1B-9706B8C9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11277295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7782B66-518C-4249-B05F-478E50E7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Captação, e-mail e fidelização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768F97B-1E36-42C5-A6C7-E6490ED4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66928"/>
            <a:ext cx="37490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C871445-FDB0-49FE-8D88-193ABEC6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156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D56AB72-A7DB-41E0-BE48-8086B586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200" b="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Ferramentas de marketing integradas que transformam visitantes em subscritores.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5A64667-37E8-49E0-810F-7BA83C92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557784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Campanhas de e-mail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Campanhas de e-mail (Resend) com acompanhamento de envios e falhas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Contactos automáticos aos dias D+3 e D+10 para contas gratuitas (Pro 149 € / Premium 19 €), código promocional semanal de −20 % × 3 meses aplicado automaticamente no pagamento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Seguimento semanal da conversão: envios → subscrições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73B2907-82E2-40AB-A9B3-B21ECD53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20240"/>
            <a:ext cx="557784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Crescimento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Teste gratuito de 7 dias, códigos promocionais Stripe, pagamento mensal ou anual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Programas de recomendações e afiliação com recompensas, página «Passe para Pro» para particulares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Plataforma de profissionais verificados (ativável), avaliações públicas de clientes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1A34379-4E1A-4176-86F3-463E3AC9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73368"/>
            <a:ext cx="111556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5D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1564A75-915A-4CB0-BE81-84E5C040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5B6C7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84E5F08C-F0D2-4B87-A1CD-FB1CEB30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925312"/>
            <a:ext cx="1078992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124DFBA-33E9-40D5-854E-06F671BF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016752"/>
            <a:ext cx="93268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E-MAIL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59F23CD-FFC1-4EC9-AFAC-C65A332A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5925312"/>
            <a:ext cx="1175004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A578C97-7ED0-4722-A79E-B3CFB21F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64" y="6016752"/>
            <a:ext cx="102870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SEGUIMENTO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A041BE0-7D9F-403F-A876-0675FF91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244" y="5925312"/>
            <a:ext cx="146304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AB20C75-4DD2-404F-8E3F-B726644F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396" y="6016752"/>
            <a:ext cx="1316736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CONVERSÃO</a:t>
            </a:r>
          </a:p>
        </p:txBody>
      </p:sp>
    </p:spTree>
    <p:extLst>
      <p:ext uri="{BB962C8B-B14F-4D97-AF65-F5344CB8AC3E}">
        <p14:creationId xmlns:p14="http://schemas.microsoft.com/office/powerpoint/2010/main" val="5997970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95F8A70-9504-4D1A-A202-100D2D8B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"/>
            <a:ext cx="12191695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89237F5-1C99-480D-BE37-CA183869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4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9F96C74-52F4-4C3E-9D70-2607FC62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A53CC2F-D8E0-4151-8FC4-A52C651C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F7F0604-90F3-4D37-BD7A-95097A48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1" i="0">
                <a:solidFill>
                  <a:srgbClr val="19A460"/>
                </a:solidFill>
                <a:latin typeface="Aptos"/>
                <a:ea typeface="Aptos"/>
                <a:cs typeface="Aptos"/>
              </a:rPr>
              <a:t>MÓDULO TRANSVERSAL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F6154F2-F245-400C-A875-67131743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6327358-7887-443A-A414-8A1CD1E8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 — Estime. Compare. Construa.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803F086-FD72-4567-8A0A-FACFC672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914" y="6492240"/>
            <a:ext cx="29527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construpilot.fr · construpilot.pt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131D137-472D-422F-8134-B337AAE5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11277295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5539421-95C4-4B23-B543-930C67A2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Extras, API e Empresas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C2D0921-A772-4415-A74B-A2DBA685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66928"/>
            <a:ext cx="37490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4829C8B-A9BD-4EE4-A204-CD835172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156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E91E05F-C35A-424D-AD26-2499A8FA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200" b="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Complemente o seu plano com extras ou integre o motor ConstruPilot nas suas ferramentas.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C3C93F2-64C2-45D5-924C-4AC8718C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557784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Extras avulso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Extra Faturação: 5 €/mês (incluído no Pro Business)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Imagem 3D com IA: 5 € · Vídeo 3D: 10 € · Maquete 3D interativa: 5 €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Enterprise e segurança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Plano Enterprise sob orçamento (volumes, SSO, marca branca em preparação)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Segurança: 2FA por e-mail, alerta de acesso do administrador, dispositivos ligados, armazenamento privado de documentos KYC, RGPD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4AB6CE3-5ACC-4177-A7A1-32C7909D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20240"/>
            <a:ext cx="557784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API comercial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API Starter 99 €/mês: 1 000 chamadas, motor de estimativas, calculadoras de materiais, análise de preços (demonstração)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API Business 299 €/mês: 10 000 chamadas, conselheiro de renovação com IA, webhooks, apoio prioritário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API Scale 999 €/mês: 100 000 chamadas, SLA de 99,9 %, SSO, endpoints dedicados, gestor de conta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Área de programadores: chaves API, documentação, portal do fornecedor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E58A2CC-8B3F-4A01-8D2E-E3FBC903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73368"/>
            <a:ext cx="111556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5D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DEAA515-AC63-4C79-8A55-BF24119D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5B6C7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84CDF749-C4DF-4075-A773-6C02BD06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925312"/>
            <a:ext cx="1175004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20AD83C-1F37-4C5D-9F56-71273BC1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016752"/>
            <a:ext cx="102870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EXTRAS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B4B0E85-63B1-48F0-B765-16629656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524" y="5925312"/>
            <a:ext cx="10515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B97268E-F44D-4F99-8531-9A1575AD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676" y="6016752"/>
            <a:ext cx="905255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3D2BE64-56B4-4E4E-9EDB-00C2CDF4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812" y="5925312"/>
            <a:ext cx="127101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7E49AB4-9139-44B0-AFD8-EC074983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964" y="6016752"/>
            <a:ext cx="1124712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SEGURANÇA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F5E4AEF2-1632-4E1D-9296-90012AD1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54880"/>
            <a:ext cx="1444752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5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F1B1F04-D572-423B-B220-090EFF49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901184"/>
            <a:ext cx="12984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5B6C72"/>
                </a:solidFill>
                <a:latin typeface="Aptos"/>
                <a:ea typeface="Aptos"/>
                <a:cs typeface="Aptos"/>
              </a:rPr>
              <a:t>STARTER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D6046B8B-C825-442E-A8DA-53893E97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5111496"/>
            <a:ext cx="12984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99 €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C32F5AC-4889-4F42-9ACD-DFB409CE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5376672"/>
            <a:ext cx="129844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5B6C72"/>
                </a:solidFill>
                <a:latin typeface="Aptos"/>
                <a:ea typeface="Aptos"/>
                <a:cs typeface="Aptos"/>
              </a:rPr>
              <a:t>1 mil chamadas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55E26A7D-B4ED-4ECF-9D2C-3A6E9EF0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1" y="4754880"/>
            <a:ext cx="1444752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5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787C48C9-DF58-47CB-A6EC-2D96FA42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3" y="4901184"/>
            <a:ext cx="12984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5B6C72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E3D65CE7-028A-42EA-9A41-14557025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3" y="5111496"/>
            <a:ext cx="12984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299 €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E93F64BC-FBC6-4851-B22B-37C1F64A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3" y="5376672"/>
            <a:ext cx="129844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5B6C72"/>
                </a:solidFill>
                <a:latin typeface="Aptos"/>
                <a:ea typeface="Aptos"/>
                <a:cs typeface="Aptos"/>
              </a:rPr>
              <a:t>10 mil chamadas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7FB5FAC-ABA8-4CE3-8E69-8D7D39AF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064" y="4754880"/>
            <a:ext cx="1444752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5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4C1D035-9C33-4024-B971-7D482853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4901184"/>
            <a:ext cx="12984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5B6C72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139A5202-BDF6-4340-9B6A-2654199F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5111496"/>
            <a:ext cx="12984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999 €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E32E097-8D84-4000-B3D9-78C7280A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5376672"/>
            <a:ext cx="129844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5B6C72"/>
                </a:solidFill>
                <a:latin typeface="Aptos"/>
                <a:ea typeface="Aptos"/>
                <a:cs typeface="Aptos"/>
              </a:rPr>
              <a:t>100 mil chamadas</a:t>
            </a:r>
          </a:p>
        </p:txBody>
      </p:sp>
    </p:spTree>
    <p:extLst>
      <p:ext uri="{BB962C8B-B14F-4D97-AF65-F5344CB8AC3E}">
        <p14:creationId xmlns:p14="http://schemas.microsoft.com/office/powerpoint/2010/main" val="17383504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FB9C305-B816-4C6A-BB30-05AC7E2F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"/>
            <a:ext cx="12191695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AB016E2-BCEF-491E-AD9D-8B6A2F20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4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AC0D1BB-AE08-43E4-91F2-17B89A7C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C032D8A-8582-4AF8-BD9F-FE71D605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BA6AA95-39A0-4885-B861-F6E64F3B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1" i="0">
                <a:solidFill>
                  <a:srgbClr val="19A460"/>
                </a:solidFill>
                <a:latin typeface="Aptos"/>
                <a:ea typeface="Aptos"/>
                <a:cs typeface="Aptos"/>
              </a:rPr>
              <a:t>MÓDULO TRANSVERSAL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047461F-D321-4C55-8374-7A0E3861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CD098A4-DD89-4A14-A3A7-F69277A4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 — Estime. Compare. Construa.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F4E3EA6-9AEB-4C44-AC10-0967B87D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914" y="6492240"/>
            <a:ext cx="29527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construpilot.fr · construpilot.pt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E3480B6-CE79-4EDF-A912-A10F6E0B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11277295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B2FF4DB-6E65-460C-BA7F-B9EE0FF4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Administração do ConstruPilot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C014282-0E49-4719-A1CF-7681E72B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66928"/>
            <a:ext cx="37490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2E17367-7215-492A-BA3B-BCF53D74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156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DC956B1-1CBD-4FE1-B3BF-ACA0E2B3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200" b="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Uma área de administração completa para gerir a plataforma.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2BC5A88-F1D6-4DE0-9AA7-CDFA496D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557784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Gestão e verificação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Gestão de utilizadores, subscrições e receitas, sincronização dos planos de pagamento na Stripe e desativação da autenticação de dois fatores.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Verificação documental dos profissionais: registo comercial e identificação do estabelecimento em França, seguro de responsabilidade na construção com cobertura de dez anos. Aprovação ou recusa com justificação.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98A52CB-5551-4E38-A5DF-7CA8EEF6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20240"/>
            <a:ext cx="557784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r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192A32"/>
                </a:solidFill>
                <a:latin typeface="Aptos"/>
                <a:ea typeface="Aptos"/>
                <a:cs typeface="Aptos"/>
              </a:rPr>
              <a:t>Dados e conteúdo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Biblioteca de preços partilhada: importação e exportação em Excel, inclusão de elementos em falta e atualização de preços, em francês e português.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Alvenaria: coeficientes de cálculo, blocos e preços. Importação da base francesa de licenças de construção, através de ficheiros de dados com coordenadas geográficas. Gestão dos artigos e da visibilidade nos motores de pesquisa: sincronização, notificações automáticas entre sistemas e eliminação de conteúdos.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150">
                <a:solidFill>
                  <a:srgbClr val="192A32"/>
                </a:solidFill>
                <a:latin typeface="Aptos"/>
                <a:ea typeface="Aptos"/>
                <a:cs typeface="Aptos"/>
              </a:rPr>
              <a:t>•  Campanhas de correio eletrónico: pré-visualização, envio ao 3.º e ao 10.º dia, estatísticas de conversão em subscrições.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00A1B58-CD0E-47C8-B280-FE591C30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73368"/>
            <a:ext cx="111556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5D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5288A16-D69D-4519-9381-FD7FDFAA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5B6C72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0BC398D1-4EC7-4AB2-8073-7A5D763A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925312"/>
            <a:ext cx="10515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C12C8FA-3053-4909-B8F8-A404AD29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016752"/>
            <a:ext cx="905255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/>
            </a:pPr>
            <a:r>
              <a:rPr sz="713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UTILIZADORES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B786A90-9E76-4B96-B415-77D441FA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5925312"/>
            <a:ext cx="10515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584D556-105D-42E9-805B-13F403D3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232" y="6016752"/>
            <a:ext cx="905255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VALIDAÇÃO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13312FF6-D0D5-4FC6-A04D-3BBD826B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5925312"/>
            <a:ext cx="10515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59928C7-2D83-4234-B813-68212854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6016752"/>
            <a:ext cx="905255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DADOS</a:t>
            </a:r>
          </a:p>
        </p:txBody>
      </p:sp>
    </p:spTree>
    <p:extLst>
      <p:ext uri="{BB962C8B-B14F-4D97-AF65-F5344CB8AC3E}">
        <p14:creationId xmlns:p14="http://schemas.microsoft.com/office/powerpoint/2010/main" val="72740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F4EEE6C-647A-4034-934E-A6C6BB93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"/>
            <a:ext cx="12191695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A2AB67B-1902-4363-8C24-F3A76AC7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4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CB73AD-EC79-4E28-A55D-E710BE4C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542960F-D8CB-4BA5-996D-EB6B62F0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79B9D08-C1FA-4682-B5A9-4115A4BC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1" i="0">
                <a:solidFill>
                  <a:srgbClr val="19A460"/>
                </a:solidFill>
                <a:latin typeface="Aptos"/>
                <a:ea typeface="Aptos"/>
                <a:cs typeface="Aptos"/>
              </a:rPr>
              <a:t>SÍNTESE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20A53DE-74D9-4A56-81F5-5C32F5AA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2300" b="1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Comparação dos planos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3E33A8F-25E2-4018-8B90-0BCCE0AB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 — Estime. Compare. Construa.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AA0D53B-2C22-4306-86F5-52984496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914" y="6492240"/>
            <a:ext cx="29527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900" b="0" i="0">
                <a:solidFill>
                  <a:srgbClr val="192A32"/>
                </a:solidFill>
                <a:latin typeface="Aptos"/>
                <a:ea typeface="Aptos"/>
                <a:cs typeface="Aptos"/>
              </a:rPr>
              <a:t>construpilot.fr · construpilot.pt</a:t>
            </a:r>
          </a:p>
        </p:txBody>
      </p:sp>
      <p:graphicFrame>
        <p:nvGraphicFramePr>
          <p:cNvPr id="28" name="Table 7"/>
          <p:cNvGraphicFramePr/>
          <p:nvPr/>
        </p:nvGraphicFramePr>
        <p:xfrm>
          <a:off xmlns:a="http://schemas.openxmlformats.org/drawingml/2006/main" x="457200" y="1234440"/>
          <a:ext xmlns:a="http://schemas.openxmlformats.org/drawingml/2006/main" cx="11247120" cy="4764024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/>
                <a:gridCol w="1645920"/>
                <a:gridCol w="1645920"/>
                <a:gridCol w="164592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Função</a:t>
                      </a:r>
                    </a:p>
                  </a:txBody>
                  <a:tcPr marL="91440" marR="91440" marT="45720" marB="45720">
                    <a:solidFill>
                      <a:srgbClr val="0412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Particulares</a:t>
                      </a:r>
                    </a:p>
                  </a:txBody>
                  <a:tcPr marL="91440" marR="91440" marT="45720" marB="45720">
                    <a:solidFill>
                      <a:srgbClr val="0412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Premium</a:t>
                      </a:r>
                    </a:p>
                  </a:txBody>
                  <a:tcPr marL="91440" marR="91440" marT="45720" marB="45720">
                    <a:solidFill>
                      <a:srgbClr val="0412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</a:t>
                      </a:r>
                    </a:p>
                  </a:txBody>
                  <a:tcPr marL="91440" marR="91440" marT="45720" marB="45720">
                    <a:solidFill>
                      <a:srgbClr val="0412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 Business</a:t>
                      </a:r>
                    </a:p>
                  </a:txBody>
                  <a:tcPr marL="91440" marR="91440" marT="45720" marB="45720">
                    <a:solidFill>
                      <a:srgbClr val="04120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Estimador com 3 gamas + calculadoras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 (3/mês)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Ilimitado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Ilimitado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Ilimitado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Smart Project, fotos com IA, assistente IA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Limitado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Leitura / análise de orçamentos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Ilimitado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Histórico e alertas de preços, controlo de despesas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Imagem 3D / vídeo / maquete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Créditos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Créditos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Incluído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Editor de orçamentos + biblioteca de 322 trabalhos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Margens por lote, PDF interno, alerta de margem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Orçamentos a partir de planta / CCTP / voz / foto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Assinatura online + adiantamento Stripe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Faturas, autos de medição, Factur-X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Extra 5 €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Incluído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Plantas DWG/DXF/PDF, medições de betão, estudo de licenciamento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Aprovisionamento (aço, coberturas, infraestruturas)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Radar de Obras + envio postal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CRM de clientes, contactos, avaliações, Profissional verificado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Equipa (5 utilizadores), permissões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1 utilizador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RH, registo de horas, acompanhamento da obra e custos reais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Gantt, relatórios, automatizações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Blog, newsletter, FR / PT, PWA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50">
                          <a:solidFill>
                            <a:srgbClr val="1F2A24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91440" marR="91440" marT="20000" marB="20000">
                    <a:solidFill>
                      <a:srgbClr val="EAF3EE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0D3FB1A-5B54-4F27-8D85-B8EB586E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73368"/>
            <a:ext cx="111556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5D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C09C053-A5C9-4030-AAFA-8CEF3406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5B6C72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1B19B67-9832-44A8-874E-6325EBE4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925312"/>
            <a:ext cx="1078992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A3821AD-7BEB-45A7-AAA6-B73DB5A1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016752"/>
            <a:ext cx="9326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PLANOS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AF63746-42A7-4314-89DB-FCFEDB1E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5925312"/>
            <a:ext cx="1367028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390A639-37F0-4097-8646-515D43AF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64" y="6016752"/>
            <a:ext cx="1220724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FUNÇÕES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28CD0A8-B901-4457-836E-18949C39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7268" y="5925312"/>
            <a:ext cx="1078992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8D4DB79-DE42-4F7B-A33B-5BD8CC94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420" y="6016752"/>
            <a:ext cx="9326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9A460"/>
                </a:solidFill>
                <a:latin typeface="Aptos"/>
                <a:ea typeface="Aptos"/>
                <a:cs typeface="Aptos"/>
              </a:rPr>
              <a:t>PREÇOS</a:t>
            </a:r>
          </a:p>
        </p:txBody>
      </p:sp>
    </p:spTree>
    <p:extLst>
      <p:ext uri="{BB962C8B-B14F-4D97-AF65-F5344CB8AC3E}">
        <p14:creationId xmlns:p14="http://schemas.microsoft.com/office/powerpoint/2010/main" val="8422353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D4A0A38-6C74-4972-82CD-8519E423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F063F7A-B2C5-492B-A9B0-D8037CFB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4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95B613D-863B-47D1-B34E-C66BB8FB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2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B61CE18-F8AC-41DA-9AFD-FEC40CC9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4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F3055BD-DC7C-407C-AAC8-8249B9AD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3152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ConstruPilot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7C73DCD-8B56-42C5-927A-474D34A7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17320"/>
            <a:ext cx="658368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Passe do projeto
à gestão da obra.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7D0A95F-62E5-4D8F-AE7B-E5A1B920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52928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Uma plataforma intuitiva para estimar, comparar, orçamentar e acompanhar obras.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35A7DBD-8C7C-4983-BED9-2F2F60E8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40480"/>
            <a:ext cx="28346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4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1ED46B6-8447-46C2-9AFD-5F14E7A3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05072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construpilot.fr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AFEF16A-356E-42CE-A438-3E85AA34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3840480"/>
            <a:ext cx="28346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10160">
            <a:solidFill>
              <a:srgbClr val="19A4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ED917DC-CD49-4781-9C1C-3A516207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4005072"/>
            <a:ext cx="2560320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0B9E5A"/>
                </a:solidFill>
              </a:defRPr>
            </a:pPr>
            <a:r>
              <a:rPr sz="1100" b="1">
                <a:solidFill>
                  <a:srgbClr val="0B9E5A"/>
                </a:solidFill>
                <a:latin typeface="Aptos"/>
                <a:ea typeface="Aptos"/>
                <a:cs typeface="Aptos"/>
              </a:rPr>
              <a:t>construpilot.pt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B085AA4-B5F7-41BC-B173-9D4FF3A3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54880"/>
            <a:ext cx="594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Teste gratuito de 7 dias nos planos pagos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E79670F-97F8-4D0A-B777-50149745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0"/>
            <a:ext cx="45720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Estime. Compare. Construa.</a:t>
            </a:r>
          </a:p>
        </p:txBody>
      </p:sp>
    </p:spTree>
    <p:extLst>
      <p:ext uri="{BB962C8B-B14F-4D97-AF65-F5344CB8AC3E}">
        <p14:creationId xmlns:p14="http://schemas.microsoft.com/office/powerpoint/2010/main" val="76168223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2026-09-14T17:23:21.4640000Z</dcterms:created>
  <dcterms:modified xsi:type="dcterms:W3CDTF">2026-09-14T17:23:21.4640000Z</dcterms:modified>
</coreProperties>
</file>