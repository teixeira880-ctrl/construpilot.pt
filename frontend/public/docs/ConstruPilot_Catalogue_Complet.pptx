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85455" y="-1371600"/>
            <a:ext cx="5486400" cy="5486400"/>
          </a:xfrm>
          <a:prstGeom prst="ellipse">
            <a:avLst/>
          </a:prstGeom>
          <a:solidFill>
            <a:srgbClr val="243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03320"/>
            <a:ext cx="12191695" cy="45720"/>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strupilot-logo.png"/>
          <p:cNvPicPr>
            <a:picLocks noChangeAspect="1"/>
          </p:cNvPicPr>
          <p:nvPr/>
        </p:nvPicPr>
        <p:blipFill>
          <a:blip r:embed="rId2"/>
          <a:stretch>
            <a:fillRect/>
          </a:stretch>
        </p:blipFill>
        <p:spPr>
          <a:xfrm>
            <a:off x="548640" y="457200"/>
            <a:ext cx="1908163" cy="1280160"/>
          </a:xfrm>
          <a:prstGeom prst="rect">
            <a:avLst/>
          </a:prstGeom>
        </p:spPr>
      </p:pic>
      <p:sp>
        <p:nvSpPr>
          <p:cNvPr id="6" name="TextBox 5"/>
          <p:cNvSpPr txBox="1"/>
          <p:nvPr/>
        </p:nvSpPr>
        <p:spPr>
          <a:xfrm>
            <a:off x="548640" y="2103120"/>
            <a:ext cx="9144000" cy="914400"/>
          </a:xfrm>
          <a:prstGeom prst="rect">
            <a:avLst/>
          </a:prstGeom>
          <a:noFill/>
        </p:spPr>
        <p:txBody>
          <a:bodyPr wrap="square" anchor="t" lIns="45720" rIns="45720" tIns="18288" bIns="18288">
            <a:spAutoFit/>
          </a:bodyPr>
          <a:lstStyle/>
          <a:p>
            <a:pPr algn="l"/>
            <a:r>
              <a:rPr sz="4800" b="1" i="0">
                <a:solidFill>
                  <a:srgbClr val="FFFFFF"/>
                </a:solidFill>
                <a:latin typeface="Calibri"/>
              </a:rPr>
              <a:t>ConstruPilot</a:t>
            </a:r>
          </a:p>
        </p:txBody>
      </p:sp>
      <p:sp>
        <p:nvSpPr>
          <p:cNvPr id="7" name="TextBox 6"/>
          <p:cNvSpPr txBox="1"/>
          <p:nvPr/>
        </p:nvSpPr>
        <p:spPr>
          <a:xfrm>
            <a:off x="548640" y="2926080"/>
            <a:ext cx="9144000" cy="548640"/>
          </a:xfrm>
          <a:prstGeom prst="rect">
            <a:avLst/>
          </a:prstGeom>
          <a:noFill/>
        </p:spPr>
        <p:txBody>
          <a:bodyPr wrap="square" anchor="t" lIns="45720" rIns="45720" tIns="18288" bIns="18288">
            <a:spAutoFit/>
          </a:bodyPr>
          <a:lstStyle/>
          <a:p>
            <a:pPr algn="l"/>
            <a:r>
              <a:rPr sz="2000" b="0" i="0">
                <a:solidFill>
                  <a:srgbClr val="A3E635"/>
                </a:solidFill>
                <a:latin typeface="Calibri"/>
              </a:rPr>
              <a:t>Estimez. Comparez. Construisez.</a:t>
            </a:r>
          </a:p>
        </p:txBody>
      </p:sp>
      <p:sp>
        <p:nvSpPr>
          <p:cNvPr id="8" name="TextBox 7"/>
          <p:cNvSpPr txBox="1"/>
          <p:nvPr/>
        </p:nvSpPr>
        <p:spPr>
          <a:xfrm>
            <a:off x="548640" y="3931920"/>
            <a:ext cx="10058400" cy="640080"/>
          </a:xfrm>
          <a:prstGeom prst="rect">
            <a:avLst/>
          </a:prstGeom>
          <a:noFill/>
        </p:spPr>
        <p:txBody>
          <a:bodyPr wrap="square" anchor="t" lIns="45720" rIns="45720" tIns="18288" bIns="18288">
            <a:spAutoFit/>
          </a:bodyPr>
          <a:lstStyle/>
          <a:p>
            <a:pPr algn="l"/>
            <a:r>
              <a:rPr sz="2600" b="1" i="0">
                <a:solidFill>
                  <a:srgbClr val="FFFFFF"/>
                </a:solidFill>
                <a:latin typeface="Calibri"/>
              </a:rPr>
              <a:t>Catalogue exhaustif des fonctionnalités</a:t>
            </a:r>
          </a:p>
        </p:txBody>
      </p:sp>
      <p:sp>
        <p:nvSpPr>
          <p:cNvPr id="9" name="TextBox 8"/>
          <p:cNvSpPr txBox="1"/>
          <p:nvPr/>
        </p:nvSpPr>
        <p:spPr>
          <a:xfrm>
            <a:off x="548640" y="4663440"/>
            <a:ext cx="10058400" cy="1097280"/>
          </a:xfrm>
          <a:prstGeom prst="rect">
            <a:avLst/>
          </a:prstGeom>
          <a:noFill/>
        </p:spPr>
        <p:txBody>
          <a:bodyPr wrap="square" anchor="t" lIns="45720" rIns="45720" tIns="18288" bIns="18288">
            <a:spAutoFit/>
          </a:bodyPr>
          <a:lstStyle/>
          <a:p>
            <a:pPr algn="l"/>
            <a:r>
              <a:rPr sz="1300" b="0" i="0">
                <a:solidFill>
                  <a:srgbClr val="EAF3EE"/>
                </a:solidFill>
                <a:latin typeface="Calibri"/>
              </a:rPr>
              <a:t>Particuliers · Project Pass · Premium · Pro · Pro Business
Blog &amp; SEO · Radar Chantiers &amp; prospection · API · Administration
Édition juin 2026 — document en français</a:t>
            </a:r>
          </a:p>
        </p:txBody>
      </p:sp>
      <p:sp>
        <p:nvSpPr>
          <p:cNvPr id="10" name="TextBox 9"/>
          <p:cNvSpPr txBox="1"/>
          <p:nvPr/>
        </p:nvSpPr>
        <p:spPr>
          <a:xfrm>
            <a:off x="548640" y="6309360"/>
            <a:ext cx="7315200" cy="365760"/>
          </a:xfrm>
          <a:prstGeom prst="rect">
            <a:avLst/>
          </a:prstGeom>
          <a:noFill/>
        </p:spPr>
        <p:txBody>
          <a:bodyPr wrap="square" anchor="t" lIns="45720" rIns="45720" tIns="18288" bIns="18288">
            <a:spAutoFit/>
          </a:bodyPr>
          <a:lstStyle/>
          <a:p>
            <a:pPr algn="l"/>
            <a:r>
              <a:rPr sz="1100" b="0" i="0">
                <a:solidFill>
                  <a:srgbClr val="8BA396"/>
                </a:solidFill>
                <a:latin typeface="Calibri"/>
              </a:rPr>
              <a:t>construpilot.fr · construpilot.pt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PRÉSENTATION</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Pourquoi ConstruPilot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TextBox 7"/>
          <p:cNvSpPr txBox="1"/>
          <p:nvPr/>
        </p:nvSpPr>
        <p:spPr>
          <a:xfrm>
            <a:off x="457200" y="1280160"/>
            <a:ext cx="11247120" cy="1371600"/>
          </a:xfrm>
          <a:prstGeom prst="rect">
            <a:avLst/>
          </a:prstGeom>
          <a:noFill/>
        </p:spPr>
        <p:txBody>
          <a:bodyPr wrap="square" anchor="t" lIns="45720" rIns="45720" tIns="18288" bIns="18288">
            <a:spAutoFit/>
          </a:bodyPr>
          <a:lstStyle/>
          <a:p>
            <a:pPr algn="l"/>
            <a:r>
              <a:rPr sz="1400" b="0" i="0">
                <a:solidFill>
                  <a:srgbClr val="1F2A24"/>
                </a:solidFill>
                <a:latin typeface="Calibri"/>
              </a:rPr>
              <a:t>ConstruPilot est la plateforme SaaS BTP tout-en-un : estimation de travaux par IA, lecture de plans DWG/DXF/PDF, devis &amp; factures avec marges, approvisionnement, prospection de chantiers, blog SEO et bien plus. Une seule application pour les particuliers qui préparent leurs travaux et pour les artisans, PME et bureaux d'études qui chiffrent, vendent et pilotent leurs chantiers.</a:t>
            </a:r>
          </a:p>
        </p:txBody>
      </p:sp>
      <p:sp>
        <p:nvSpPr>
          <p:cNvPr id="9" name="Rounded Rectangle 8"/>
          <p:cNvSpPr/>
          <p:nvPr/>
        </p:nvSpPr>
        <p:spPr>
          <a:xfrm>
            <a:off x="457200"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Particuliers</a:t>
            </a:r>
          </a:p>
        </p:txBody>
      </p:sp>
      <p:sp>
        <p:nvSpPr>
          <p:cNvPr id="12" name="TextBox 11"/>
          <p:cNvSpPr txBox="1"/>
          <p:nvPr/>
        </p:nvSpPr>
        <p:spPr>
          <a:xfrm>
            <a:off x="594360"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Gratuit</a:t>
            </a:r>
          </a:p>
        </p:txBody>
      </p:sp>
      <p:sp>
        <p:nvSpPr>
          <p:cNvPr id="13" name="TextBox 12"/>
          <p:cNvSpPr txBox="1"/>
          <p:nvPr/>
        </p:nvSpPr>
        <p:spPr>
          <a:xfrm>
            <a:off x="594360"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Propriétaires, futurs acquéreurs, bricoleurs
Tout pour préparer un projet de travaux : estimer, comparer, comprendre — en 30 secondes.</a:t>
            </a:r>
          </a:p>
        </p:txBody>
      </p:sp>
      <p:sp>
        <p:nvSpPr>
          <p:cNvPr id="14" name="Rounded Rectangle 13"/>
          <p:cNvSpPr/>
          <p:nvPr/>
        </p:nvSpPr>
        <p:spPr>
          <a:xfrm>
            <a:off x="2724912"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24912"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62072"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Project Pass</a:t>
            </a:r>
          </a:p>
        </p:txBody>
      </p:sp>
      <p:sp>
        <p:nvSpPr>
          <p:cNvPr id="17" name="TextBox 16"/>
          <p:cNvSpPr txBox="1"/>
          <p:nvPr/>
        </p:nvSpPr>
        <p:spPr>
          <a:xfrm>
            <a:off x="2862072"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50 € une fois</a:t>
            </a:r>
          </a:p>
        </p:txBody>
      </p:sp>
      <p:sp>
        <p:nvSpPr>
          <p:cNvPr id="18" name="TextBox 17"/>
          <p:cNvSpPr txBox="1"/>
          <p:nvPr/>
        </p:nvSpPr>
        <p:spPr>
          <a:xfrm>
            <a:off x="2862072"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Une rénovation ponctuelle
Un projet complet, débloqué en une fois — idéal pour une rénovation ponctuelle.</a:t>
            </a:r>
          </a:p>
        </p:txBody>
      </p:sp>
      <p:sp>
        <p:nvSpPr>
          <p:cNvPr id="19" name="Rounded Rectangle 18"/>
          <p:cNvSpPr/>
          <p:nvPr/>
        </p:nvSpPr>
        <p:spPr>
          <a:xfrm>
            <a:off x="4992624"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92624"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9784"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Premium</a:t>
            </a:r>
          </a:p>
        </p:txBody>
      </p:sp>
      <p:sp>
        <p:nvSpPr>
          <p:cNvPr id="22" name="TextBox 21"/>
          <p:cNvSpPr txBox="1"/>
          <p:nvPr/>
        </p:nvSpPr>
        <p:spPr>
          <a:xfrm>
            <a:off x="5129784"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19 € / mois</a:t>
            </a:r>
          </a:p>
        </p:txBody>
      </p:sp>
      <p:sp>
        <p:nvSpPr>
          <p:cNvPr id="23" name="TextBox 22"/>
          <p:cNvSpPr txBox="1"/>
          <p:nvPr/>
        </p:nvSpPr>
        <p:spPr>
          <a:xfrm>
            <a:off x="5129784"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Particuliers multi-projets, investisseurs, bailleurs
Le plus populaire : projets illimités, IA complète et comparaison avancée des prix.</a:t>
            </a:r>
          </a:p>
        </p:txBody>
      </p:sp>
      <p:sp>
        <p:nvSpPr>
          <p:cNvPr id="24" name="Rounded Rectangle 23"/>
          <p:cNvSpPr/>
          <p:nvPr/>
        </p:nvSpPr>
        <p:spPr>
          <a:xfrm>
            <a:off x="7260336"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0336"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97496"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a:t>
            </a:r>
          </a:p>
        </p:txBody>
      </p:sp>
      <p:sp>
        <p:nvSpPr>
          <p:cNvPr id="27" name="TextBox 26"/>
          <p:cNvSpPr txBox="1"/>
          <p:nvPr/>
        </p:nvSpPr>
        <p:spPr>
          <a:xfrm>
            <a:off x="7397496"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149 € HT / mois</a:t>
            </a:r>
          </a:p>
        </p:txBody>
      </p:sp>
      <p:sp>
        <p:nvSpPr>
          <p:cNvPr id="28" name="TextBox 27"/>
          <p:cNvSpPr txBox="1"/>
          <p:nvPr/>
        </p:nvSpPr>
        <p:spPr>
          <a:xfrm>
            <a:off x="7397496"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Artisans, indépendants, TPE du bâtiment
Chiffrez à partir d'un plan, d'un CCTP, d'une photo ou de la voix, vendez avec vos marges, faites signer en ligne.</a:t>
            </a:r>
          </a:p>
        </p:txBody>
      </p:sp>
      <p:sp>
        <p:nvSpPr>
          <p:cNvPr id="29" name="Rounded Rectangle 28"/>
          <p:cNvSpPr/>
          <p:nvPr/>
        </p:nvSpPr>
        <p:spPr>
          <a:xfrm>
            <a:off x="9528048"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28048"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65208"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 Business</a:t>
            </a:r>
          </a:p>
        </p:txBody>
      </p:sp>
      <p:sp>
        <p:nvSpPr>
          <p:cNvPr id="32" name="TextBox 31"/>
          <p:cNvSpPr txBox="1"/>
          <p:nvPr/>
        </p:nvSpPr>
        <p:spPr>
          <a:xfrm>
            <a:off x="9665208"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249 € HT / mois</a:t>
            </a:r>
          </a:p>
        </p:txBody>
      </p:sp>
      <p:sp>
        <p:nvSpPr>
          <p:cNvPr id="33" name="TextBox 32"/>
          <p:cNvSpPr txBox="1"/>
          <p:nvPr/>
        </p:nvSpPr>
        <p:spPr>
          <a:xfrm>
            <a:off x="9665208"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PME du bâtiment, entreprises générales, bureaux d'études
Tout Pro + équipes, RH &amp; pointage, suivi de chantier avec coûts réels, reporting et automatisations.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CATALOGUE</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Sommaire</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TextBox 7"/>
          <p:cNvSpPr txBox="1"/>
          <p:nvPr/>
        </p:nvSpPr>
        <p:spPr>
          <a:xfrm>
            <a:off x="457200" y="1371600"/>
            <a:ext cx="10972800" cy="5029200"/>
          </a:xfrm>
          <a:prstGeom prst="rect">
            <a:avLst/>
          </a:prstGeom>
          <a:noFill/>
        </p:spPr>
        <p:txBody>
          <a:bodyPr wrap="square" lIns="45720" rIns="45720">
            <a:normAutofit/>
          </a:bodyPr>
          <a:lstStyle/>
          <a:p>
            <a:pPr>
              <a:spcAft>
                <a:spcPts val="800"/>
              </a:spcAft>
            </a:pPr>
            <a:r>
              <a:rPr sz="1500">
                <a:solidFill>
                  <a:srgbClr val="1F2A24"/>
                </a:solidFill>
                <a:latin typeface="Calibri"/>
              </a:rPr>
              <a:t>•  1. Particuliers — Gratuit</a:t>
            </a:r>
          </a:p>
          <a:p>
            <a:pPr>
              <a:spcAft>
                <a:spcPts val="800"/>
              </a:spcAft>
            </a:pPr>
            <a:r>
              <a:rPr sz="1500">
                <a:solidFill>
                  <a:srgbClr val="1F2A24"/>
                </a:solidFill>
                <a:latin typeface="Calibri"/>
              </a:rPr>
              <a:t>•  2. Project Pass — 50 € une fois</a:t>
            </a:r>
          </a:p>
          <a:p>
            <a:pPr>
              <a:spcAft>
                <a:spcPts val="800"/>
              </a:spcAft>
            </a:pPr>
            <a:r>
              <a:rPr sz="1500">
                <a:solidFill>
                  <a:srgbClr val="1F2A24"/>
                </a:solidFill>
                <a:latin typeface="Calibri"/>
              </a:rPr>
              <a:t>•  3. Premium — 19 € / mois</a:t>
            </a:r>
          </a:p>
          <a:p>
            <a:pPr>
              <a:spcAft>
                <a:spcPts val="800"/>
              </a:spcAft>
            </a:pPr>
            <a:r>
              <a:rPr sz="1500">
                <a:solidFill>
                  <a:srgbClr val="1F2A24"/>
                </a:solidFill>
                <a:latin typeface="Calibri"/>
              </a:rPr>
              <a:t>•  4. Pro — 149 € HT / mois</a:t>
            </a:r>
          </a:p>
          <a:p>
            <a:pPr>
              <a:spcAft>
                <a:spcPts val="800"/>
              </a:spcAft>
            </a:pPr>
            <a:r>
              <a:rPr sz="1500">
                <a:solidFill>
                  <a:srgbClr val="1F2A24"/>
                </a:solidFill>
                <a:latin typeface="Calibri"/>
              </a:rPr>
              <a:t>•  5. Pro Business — 249 € HT / mois</a:t>
            </a:r>
          </a:p>
          <a:p>
            <a:pPr>
              <a:spcAft>
                <a:spcPts val="800"/>
              </a:spcAft>
            </a:pPr>
            <a:r>
              <a:rPr sz="1500">
                <a:solidFill>
                  <a:srgbClr val="1F2A24"/>
                </a:solidFill>
                <a:latin typeface="Calibri"/>
              </a:rPr>
              <a:t>•  6. Radar Chantiers &amp; prospection</a:t>
            </a:r>
          </a:p>
          <a:p>
            <a:pPr>
              <a:spcAft>
                <a:spcPts val="800"/>
              </a:spcAft>
            </a:pPr>
            <a:r>
              <a:rPr sz="1500">
                <a:solidFill>
                  <a:srgbClr val="1F2A24"/>
                </a:solidFill>
                <a:latin typeface="Calibri"/>
              </a:rPr>
              <a:t>•  7. Blog, SEO &amp; newsletter</a:t>
            </a:r>
          </a:p>
          <a:p>
            <a:pPr>
              <a:spcAft>
                <a:spcPts val="800"/>
              </a:spcAft>
            </a:pPr>
            <a:r>
              <a:rPr sz="1500">
                <a:solidFill>
                  <a:srgbClr val="1F2A24"/>
                </a:solidFill>
                <a:latin typeface="Calibri"/>
              </a:rPr>
              <a:t>•  8. Acquisition, e-mailing &amp; fidélisation</a:t>
            </a:r>
          </a:p>
          <a:p>
            <a:pPr>
              <a:spcAft>
                <a:spcPts val="800"/>
              </a:spcAft>
            </a:pPr>
            <a:r>
              <a:rPr sz="1500">
                <a:solidFill>
                  <a:srgbClr val="1F2A24"/>
                </a:solidFill>
                <a:latin typeface="Calibri"/>
              </a:rPr>
              <a:t>•  9. Options, API &amp; Entreprise</a:t>
            </a:r>
          </a:p>
          <a:p>
            <a:pPr>
              <a:spcAft>
                <a:spcPts val="800"/>
              </a:spcAft>
            </a:pPr>
            <a:r>
              <a:rPr sz="1500">
                <a:solidFill>
                  <a:srgbClr val="1F2A24"/>
                </a:solidFill>
                <a:latin typeface="Calibri"/>
              </a:rPr>
              <a:t>•  10. Administration ConstruPilot</a:t>
            </a:r>
          </a:p>
          <a:p>
            <a:pPr>
              <a:spcAft>
                <a:spcPts val="800"/>
              </a:spcAft>
            </a:pPr>
            <a:r>
              <a:rPr sz="1500">
                <a:solidFill>
                  <a:srgbClr val="1F2A24"/>
                </a:solidFill>
                <a:latin typeface="Calibri"/>
              </a:rPr>
              <a:t>•  11. Comparatif des offres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0 € — SANS ENGAGEMENT · 2 PROJETS ACTIFS · 3 ESTIMATIONS DÉTAILLÉES / MOIS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1. Particuliers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Gratuit</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pour préparer un projet de travaux : estimer, comparer, comprendre — en 30 secondes.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Estimation &amp; chiffrage</a:t>
            </a:r>
          </a:p>
          <a:p>
            <a:pPr>
              <a:spcAft>
                <a:spcPts val="500"/>
              </a:spcAft>
            </a:pPr>
            <a:r>
              <a:rPr sz="1150">
                <a:solidFill>
                  <a:srgbClr val="1F2A24"/>
                </a:solidFill>
                <a:latin typeface="Calibri"/>
              </a:rPr>
              <a:t>•  Estimateur de travaux : rénovation, construction maison, extension, piscine… par type de projet, état du bien et région (coefficients de marché 2026, 16 districts PT)</a:t>
            </a:r>
          </a:p>
          <a:p>
            <a:pPr>
              <a:spcAft>
                <a:spcPts val="500"/>
              </a:spcAft>
            </a:pPr>
            <a:r>
              <a:rPr sz="1150">
                <a:solidFill>
                  <a:srgbClr val="1F2A24"/>
                </a:solidFill>
                <a:latin typeface="Calibri"/>
              </a:rPr>
              <a:t>•  3 gammes de prix — Économique / Standard / Premium — matériaux + main-d'œuvre</a:t>
            </a:r>
          </a:p>
          <a:p>
            <a:pPr>
              <a:spcAft>
                <a:spcPts val="500"/>
              </a:spcAft>
            </a:pPr>
            <a:r>
              <a:rPr sz="1150">
                <a:solidFill>
                  <a:srgbClr val="1F2A24"/>
                </a:solidFill>
                <a:latin typeface="Calibri"/>
              </a:rPr>
              <a:t>•  Détail par corps de métier, planning des phases, export PDF (avec TVA 6 % / 23 % au Portugal)</a:t>
            </a:r>
          </a:p>
          <a:p>
            <a:pPr>
              <a:spcAft>
                <a:spcPts val="500"/>
              </a:spcAft>
            </a:pPr>
            <a:r>
              <a:rPr sz="1150">
                <a:solidFill>
                  <a:srgbClr val="1F2A24"/>
                </a:solidFill>
                <a:latin typeface="Calibri"/>
              </a:rPr>
              <a:t>•  Smart Project : décrivez « rénover salle de bain 8 m² » ou dictez à la voix → lots, matériaux et budget générés par l'IA</a:t>
            </a:r>
          </a:p>
          <a:p>
            <a:pPr>
              <a:spcAft>
                <a:spcPts val="500"/>
              </a:spcAft>
            </a:pPr>
            <a:r>
              <a:rPr sz="1150">
                <a:solidFill>
                  <a:srgbClr val="1F2A24"/>
                </a:solidFill>
                <a:latin typeface="Calibri"/>
              </a:rPr>
              <a:t>•  Panier d'achats matériaux optimisé (parpaing/brique, mortier, colle, enduit de façade…)</a:t>
            </a:r>
          </a:p>
          <a:p>
            <a:pPr>
              <a:spcAft>
                <a:spcPts val="500"/>
              </a:spcAft>
            </a:pPr>
            <a:r>
              <a:rPr sz="1150">
                <a:solidFill>
                  <a:srgbClr val="1F2A24"/>
                </a:solidFill>
                <a:latin typeface="Calibri"/>
              </a:rPr>
              <a:t>•  Comparatif des offres et des prix, ordres de grandeur €/m² par ville (pages locales « devis travaux »)</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Outils IA</a:t>
            </a:r>
          </a:p>
          <a:p>
            <a:pPr>
              <a:spcAft>
                <a:spcPts val="500"/>
              </a:spcAft>
            </a:pPr>
            <a:r>
              <a:rPr sz="1150">
                <a:solidFill>
                  <a:srgbClr val="1F2A24"/>
                </a:solidFill>
                <a:latin typeface="Calibri"/>
              </a:rPr>
              <a:t>•  Analyse de photo : envoyez une photo d'une pièce ou d'un défaut, l'IA propose des pistes et des priorités</a:t>
            </a:r>
          </a:p>
          <a:p>
            <a:pPr>
              <a:spcAft>
                <a:spcPts val="500"/>
              </a:spcAft>
            </a:pPr>
            <a:r>
              <a:rPr sz="1150">
                <a:solidFill>
                  <a:srgbClr val="1F2A24"/>
                </a:solidFill>
                <a:latin typeface="Calibri"/>
              </a:rPr>
              <a:t>•  Coach IA travaux : un assistant qui répond à vos questions chantier en français (conseils limités en gratuit)</a:t>
            </a:r>
          </a:p>
          <a:p>
            <a:pPr>
              <a:spcAft>
                <a:spcPts val="500"/>
              </a:spcAft>
            </a:pPr>
            <a:r>
              <a:rPr sz="1150">
                <a:solidFill>
                  <a:srgbClr val="1F2A24"/>
                </a:solidFill>
                <a:latin typeface="Calibri"/>
              </a:rPr>
              <a:t>•  DIY Advisor : faisable soi-même ou par un pro ? Sécurité d'abord (gaz, électricité, murs porteurs → orientation vers un professionnel)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0 € — SANS ENGAGEMENT · 2 PROJETS ACTIFS · 3 ESTIMATIONS DÉTAILLÉES / MOIS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1. Particuliers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pour préparer un projet de travaux : estimer, comparer, comprendre — en 30 secondes.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Calculateurs &amp; prix</a:t>
            </a:r>
          </a:p>
          <a:p>
            <a:pPr>
              <a:spcAft>
                <a:spcPts val="500"/>
              </a:spcAft>
            </a:pPr>
            <a:r>
              <a:rPr sz="1150">
                <a:solidFill>
                  <a:srgbClr val="1F2A24"/>
                </a:solidFill>
                <a:latin typeface="Calibri"/>
              </a:rPr>
              <a:t>•  Calculateurs de matériaux : peinture, carrelage (colle, joint, croisillons, natte, profilés), béton, maçonnerie (parpaing/brique, mortier, colle, mousse PU, enduit), surfaces, volumes</a:t>
            </a:r>
          </a:p>
          <a:p>
            <a:pPr>
              <a:spcAft>
                <a:spcPts val="500"/>
              </a:spcAft>
            </a:pPr>
            <a:r>
              <a:rPr sz="1150">
                <a:solidFill>
                  <a:srgbClr val="1F2A24"/>
                </a:solidFill>
                <a:latin typeface="Calibri"/>
              </a:rPr>
              <a:t>•  Fiches de calcul partageables par lien</a:t>
            </a:r>
          </a:p>
          <a:p>
            <a:pPr>
              <a:spcAft>
                <a:spcPts val="500"/>
              </a:spcAft>
            </a:pPr>
            <a:r>
              <a:rPr sz="1150">
                <a:solidFill>
                  <a:srgbClr val="1F2A24"/>
                </a:solidFill>
                <a:latin typeface="Calibri"/>
              </a:rPr>
              <a:t>•  Recherche de prix : aperçu de la bibliothèque de 322 ouvrages chiffrés (prix bas, médian, haut)</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Trouver un pro &amp; compte</a:t>
            </a:r>
          </a:p>
          <a:p>
            <a:pPr>
              <a:spcAft>
                <a:spcPts val="500"/>
              </a:spcAft>
            </a:pPr>
            <a:r>
              <a:rPr sz="1150">
                <a:solidFill>
                  <a:srgbClr val="1F2A24"/>
                </a:solidFill>
                <a:latin typeface="Calibri"/>
              </a:rPr>
              <a:t>•  Demande de devis auprès de pros vérifiés (K-bis, SIRET, décennale) — profil public « Pro vérifié » et avis clients</a:t>
            </a:r>
          </a:p>
          <a:p>
            <a:pPr>
              <a:spcAft>
                <a:spcPts val="500"/>
              </a:spcAft>
            </a:pPr>
            <a:r>
              <a:rPr sz="1150">
                <a:solidFill>
                  <a:srgbClr val="1F2A24"/>
                </a:solidFill>
                <a:latin typeface="Calibri"/>
              </a:rPr>
              <a:t>•  Compte sécurisé : e-mail ou Google Sign-In, double authentification par e-mail, appareils connectés, export de mes données</a:t>
            </a:r>
          </a:p>
          <a:p>
            <a:pPr>
              <a:spcAft>
                <a:spcPts val="500"/>
              </a:spcAft>
            </a:pPr>
            <a:r>
              <a:rPr sz="1150">
                <a:solidFill>
                  <a:srgbClr val="1F2A24"/>
                </a:solidFill>
                <a:latin typeface="Calibri"/>
              </a:rPr>
              <a:t>•  Parrainage avec récompenses, application mobile (PWA) installable</a:t>
            </a:r>
          </a:p>
          <a:p>
            <a:pPr>
              <a:spcAft>
                <a:spcPts val="500"/>
              </a:spcAft>
            </a:pPr>
            <a:r>
              <a:rPr sz="1150">
                <a:solidFill>
                  <a:srgbClr val="1F2A24"/>
                </a:solidFill>
                <a:latin typeface="Calibri"/>
              </a:rPr>
              <a:t>•  Interface FR / PT-PT, blog et newsletter conseils travaux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PAIEMENT UNIQUE · 1 PROJET COMPLET · VALABLE 90 JOURS · SANS ABONNEMENT</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2. Project Pass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50 € une fois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projet complet, débloqué en une fois — idéal pour une rénovation ponctuelle.</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Inclus dans le Pass</a:t>
            </a:r>
          </a:p>
          <a:p>
            <a:pPr>
              <a:spcAft>
                <a:spcPts val="600"/>
              </a:spcAft>
            </a:pPr>
            <a:r>
              <a:rPr sz="1250">
                <a:solidFill>
                  <a:srgbClr val="1F2A24"/>
                </a:solidFill>
                <a:latin typeface="Calibri"/>
              </a:rPr>
              <a:t>•  Estimation complète avec détail par corps de métier</a:t>
            </a:r>
          </a:p>
          <a:p>
            <a:pPr>
              <a:spcAft>
                <a:spcPts val="600"/>
              </a:spcAft>
            </a:pPr>
            <a:r>
              <a:rPr sz="1250">
                <a:solidFill>
                  <a:srgbClr val="1F2A24"/>
                </a:solidFill>
                <a:latin typeface="Calibri"/>
              </a:rPr>
              <a:t>•  Matériaux, quantités et prix + panier optimisé</a:t>
            </a:r>
          </a:p>
          <a:p>
            <a:pPr>
              <a:spcAft>
                <a:spcPts val="600"/>
              </a:spcAft>
            </a:pPr>
            <a:r>
              <a:rPr sz="1250">
                <a:solidFill>
                  <a:srgbClr val="1F2A24"/>
                </a:solidFill>
                <a:latin typeface="Calibri"/>
              </a:rPr>
              <a:t>•  DIY Advisor et IA avancée dédiés à ce projet</a:t>
            </a:r>
          </a:p>
          <a:p>
            <a:pPr>
              <a:spcAft>
                <a:spcPts val="600"/>
              </a:spcAft>
            </a:pPr>
            <a:r>
              <a:rPr sz="1250">
                <a:solidFill>
                  <a:srgbClr val="1F2A24"/>
                </a:solidFill>
                <a:latin typeface="Calibri"/>
              </a:rPr>
              <a:t>•  Planning + budget, PDF professionnel</a:t>
            </a:r>
          </a:p>
          <a:p>
            <a:pPr>
              <a:spcAft>
                <a:spcPts val="600"/>
              </a:spcAft>
            </a:pPr>
            <a:r>
              <a:rPr sz="1250">
                <a:solidFill>
                  <a:srgbClr val="1F2A24"/>
                </a:solidFill>
                <a:latin typeface="Calibri"/>
              </a:rPr>
              <a:t>•  Analyse (scanner) de 3 devis d'artisans : explication, vérification des montants</a:t>
            </a:r>
          </a:p>
          <a:p>
            <a:pPr>
              <a:spcAft>
                <a:spcPts val="600"/>
              </a:spcAft>
            </a:pPr>
            <a:r>
              <a:rPr sz="1250">
                <a:solidFill>
                  <a:srgbClr val="1F2A24"/>
                </a:solidFill>
                <a:latin typeface="Calibri"/>
              </a:rPr>
              <a:t>•  Accès Plan 2D + 3 rendus 3D IA offerts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190 € / AN (−17 %) · 7 JOURS D'ESSAI · PROJETS ET ESTIMATIONS ILLIMITÉS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3. Premium</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19 €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plus populaire : projets illimités, IA complète et comparaison avancée des prix.</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Tout Particuliers, sans limite</a:t>
            </a:r>
          </a:p>
          <a:p>
            <a:pPr>
              <a:spcAft>
                <a:spcPts val="500"/>
              </a:spcAft>
            </a:pPr>
            <a:r>
              <a:rPr sz="1150">
                <a:solidFill>
                  <a:srgbClr val="1F2A24"/>
                </a:solidFill>
                <a:latin typeface="Calibri"/>
              </a:rPr>
              <a:t>•  Projets illimités, estimations détaillées illimitées</a:t>
            </a:r>
          </a:p>
          <a:p>
            <a:pPr>
              <a:spcAft>
                <a:spcPts val="500"/>
              </a:spcAft>
            </a:pPr>
            <a:r>
              <a:rPr sz="1150">
                <a:solidFill>
                  <a:srgbClr val="1F2A24"/>
                </a:solidFill>
                <a:latin typeface="Calibri"/>
              </a:rPr>
              <a:t>•  ConstruPilot AI Advisor complet (coach IA sans limite)</a:t>
            </a:r>
          </a:p>
          <a:p>
            <a:pPr>
              <a:spcAft>
                <a:spcPts val="500"/>
              </a:spcAft>
            </a:pPr>
            <a:r>
              <a:rPr sz="1150">
                <a:solidFill>
                  <a:srgbClr val="1F2A24"/>
                </a:solidFill>
                <a:latin typeface="Calibri"/>
              </a:rPr>
              <a:t>•  Analyse de devis illimitée (scanner de devis PDF : l'IA explique et vérifie les montants)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Prix &amp; budget</a:t>
            </a:r>
          </a:p>
          <a:p>
            <a:pPr>
              <a:spcAft>
                <a:spcPts val="500"/>
              </a:spcAft>
            </a:pPr>
            <a:r>
              <a:rPr sz="1150">
                <a:solidFill>
                  <a:srgbClr val="1F2A24"/>
                </a:solidFill>
                <a:latin typeface="Calibri"/>
              </a:rPr>
              <a:t>•  Comparaison avancée des prix et historique des prix</a:t>
            </a:r>
          </a:p>
          <a:p>
            <a:pPr>
              <a:spcAft>
                <a:spcPts val="500"/>
              </a:spcAft>
            </a:pPr>
            <a:r>
              <a:rPr sz="1150">
                <a:solidFill>
                  <a:srgbClr val="1F2A24"/>
                </a:solidFill>
                <a:latin typeface="Calibri"/>
              </a:rPr>
              <a:t>•  Alertes prix, optimisation du panier</a:t>
            </a:r>
          </a:p>
          <a:p>
            <a:pPr>
              <a:spcAft>
                <a:spcPts val="500"/>
              </a:spcAft>
            </a:pPr>
            <a:r>
              <a:rPr sz="1150">
                <a:solidFill>
                  <a:srgbClr val="1F2A24"/>
                </a:solidFill>
                <a:latin typeface="Calibri"/>
              </a:rPr>
              <a:t>•  Budget intelligent + planning, suivi des dépenses</a:t>
            </a:r>
          </a:p>
          <a:p>
            <a:pPr>
              <a:spcAft>
                <a:spcPts val="500"/>
              </a:spcAft>
            </a:pPr>
            <a:r>
              <a:rPr sz="1150">
                <a:solidFill>
                  <a:srgbClr val="1F2A24"/>
                </a:solidFill>
                <a:latin typeface="Calibri"/>
              </a:rPr>
              <a:t>•  Recommandations personnalisées, conseils DIY avancés</a:t>
            </a:r>
          </a:p>
          <a:p>
            <a:pPr>
              <a:spcAft>
                <a:spcPts val="500"/>
              </a:spcAft>
            </a:pPr>
            <a:r>
              <a:rPr sz="1150">
                <a:solidFill>
                  <a:srgbClr val="1F2A24"/>
                </a:solidFill>
                <a:latin typeface="Calibri"/>
              </a:rPr>
              <a:t>•  Export PDF de tous les documents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190 € / AN (−17 %) · 7 JOURS D'ESSAI · PROJETS ET ESTIMATIONS ILLIMITÉS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3. Premium</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plus populaire : projets illimités, IA complète et comparaison avancée des prix.</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3D &amp; visualisation (crédits)</a:t>
            </a:r>
          </a:p>
          <a:p>
            <a:pPr>
              <a:spcAft>
                <a:spcPts val="600"/>
              </a:spcAft>
            </a:pPr>
            <a:r>
              <a:rPr sz="1250">
                <a:solidFill>
                  <a:srgbClr val="1F2A24"/>
                </a:solidFill>
                <a:latin typeface="Calibri"/>
              </a:rPr>
              <a:t>•  Rendu 3D IA photoréaliste (5 €), vidéo 3D (10 €), maquette 3D interactive navigable (5 €), partage par lien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1 570 € / AN · 7 JOURS D'ESSAI · 1 UTILISATEUR · PROJETS ILLIMITÉS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4. Pro</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Chiffrez à partir d'un plan, d'un CCTP, d'une photo ou de la voix, vendez avec vos marges, faites signer en ligne.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Devis &amp; factures</a:t>
            </a:r>
          </a:p>
          <a:p>
            <a:pPr>
              <a:spcAft>
                <a:spcPts val="500"/>
              </a:spcAft>
            </a:pPr>
            <a:r>
              <a:rPr sz="1150">
                <a:solidFill>
                  <a:srgbClr val="1F2A24"/>
                </a:solidFill>
                <a:latin typeface="Calibri"/>
              </a:rPr>
              <a:t>•  Éditeur de devis : lots, lignes, TVA 0 / 5,5 / 10 / 20 % (PT : 0 / 6 / 13 / 23 %, règle IVA 6 % réhabilitation), remises, notes, auto-sauvegarde</a:t>
            </a:r>
          </a:p>
          <a:p>
            <a:pPr>
              <a:spcAft>
                <a:spcPts val="500"/>
              </a:spcAft>
            </a:pPr>
            <a:r>
              <a:rPr sz="1150">
                <a:solidFill>
                  <a:srgbClr val="1F2A24"/>
                </a:solidFill>
                <a:latin typeface="Calibri"/>
              </a:rPr>
              <a:t>•  Bibliothèque de prix partagée (322 ouvrages FR, 3 gammes) + ma bibliothèque entreprise (import Excel / BPU / anciens devis PDF), ouvrages composés, suggestions IA</a:t>
            </a:r>
          </a:p>
          <a:p>
            <a:pPr>
              <a:spcAft>
                <a:spcPts val="500"/>
              </a:spcAft>
            </a:pPr>
            <a:r>
              <a:rPr sz="1150">
                <a:solidFill>
                  <a:srgbClr val="1F2A24"/>
                </a:solidFill>
                <a:latin typeface="Calibri"/>
              </a:rPr>
              <a:t>•  Devis depuis : texte ou dictée vocale (Whisper), photo / vidéo du chantier, plan (métré → devis), CCTP / DPGF (IA + OCR des PDF scannés, multi-lots, mémoire des lots à garder)</a:t>
            </a:r>
          </a:p>
          <a:p>
            <a:pPr>
              <a:spcAft>
                <a:spcPts val="500"/>
              </a:spcAft>
            </a:pPr>
            <a:r>
              <a:rPr sz="1150">
                <a:solidFill>
                  <a:srgbClr val="1F2A24"/>
                </a:solidFill>
                <a:latin typeface="Calibri"/>
              </a:rPr>
              <a:t>•  Devis multi-plans consolidé (gros œuvre, maison, ferraillage) avec sous-traitance TVA 0 %</a:t>
            </a:r>
          </a:p>
          <a:p>
            <a:pPr>
              <a:spcAft>
                <a:spcPts val="500"/>
              </a:spcAft>
            </a:pPr>
            <a:r>
              <a:rPr sz="1150">
                <a:solidFill>
                  <a:srgbClr val="1F2A24"/>
                </a:solidFill>
                <a:latin typeface="Calibri"/>
              </a:rPr>
              <a:t>•  PDF au logo de l'entreprise (couleurs, SIRET, TVA, RIB ; NIF / Alvará au Portugal), envoi par e-mail via votre SMTP ou ConstruPilot, pièces jointes, modèles de messages, suivi d'ouverture, relances</a:t>
            </a:r>
          </a:p>
          <a:p>
            <a:pPr>
              <a:spcAft>
                <a:spcPts val="500"/>
              </a:spcAft>
            </a:pPr>
            <a:r>
              <a:rPr sz="1150">
                <a:solidFill>
                  <a:srgbClr val="1F2A24"/>
                </a:solidFill>
                <a:latin typeface="Calibri"/>
              </a:rPr>
              <a:t>•  Signature électronique en ligne (signature dessinée) + acompte Stripe à la signature (30 % paramétrable)</a:t>
            </a:r>
          </a:p>
          <a:p>
            <a:pPr>
              <a:spcAft>
                <a:spcPts val="500"/>
              </a:spcAft>
            </a:pPr>
            <a:r>
              <a:rPr sz="1150">
                <a:solidFill>
                  <a:srgbClr val="1F2A24"/>
                </a:solidFill>
                <a:latin typeface="Calibri"/>
              </a:rPr>
              <a:t>•  Option Facturation (5 €/mois) : factures, acompte, situations, solde, décompte général, avoirs, suivi des paiements, facturation électronique Factur-X</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Marges &amp; rentabilité</a:t>
            </a:r>
          </a:p>
          <a:p>
            <a:pPr>
              <a:spcAft>
                <a:spcPts val="500"/>
              </a:spcAft>
            </a:pPr>
            <a:r>
              <a:rPr sz="1150">
                <a:solidFill>
                  <a:srgbClr val="1F2A24"/>
                </a:solidFill>
                <a:latin typeface="Calibri"/>
              </a:rPr>
              <a:t>•  Coût de revient par ligne, marge € et % par ligne et par lot, lignes « à perte » signalées</a:t>
            </a:r>
          </a:p>
          <a:p>
            <a:pPr>
              <a:spcAft>
                <a:spcPts val="500"/>
              </a:spcAft>
            </a:pPr>
            <a:r>
              <a:rPr sz="1150">
                <a:solidFill>
                  <a:srgbClr val="1F2A24"/>
                </a:solidFill>
                <a:latin typeface="Calibri"/>
              </a:rPr>
              <a:t>•  Marge cible globale et par lot (calcul automatique du prix de vente), alerte marge faible avant envoi</a:t>
            </a:r>
          </a:p>
          <a:p>
            <a:pPr>
              <a:spcAft>
                <a:spcPts val="500"/>
              </a:spcAft>
            </a:pPr>
            <a:r>
              <a:rPr sz="1150">
                <a:solidFill>
                  <a:srgbClr val="1F2A24"/>
                </a:solidFill>
                <a:latin typeface="Calibri"/>
              </a:rPr>
              <a:t>•  PDF interne « ne pas transmettre au client » : coûts, marges par lot, synthèse</a:t>
            </a:r>
          </a:p>
          <a:p>
            <a:pPr>
              <a:spcAft>
                <a:spcPts val="500"/>
              </a:spcAft>
            </a:pPr>
            <a:r>
              <a:rPr sz="1150">
                <a:solidFill>
                  <a:srgbClr val="1F2A24"/>
                </a:solidFill>
                <a:latin typeface="Calibri"/>
              </a:rPr>
              <a:t>•  Analyse de rentabilité, IA professionnelle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1 570 € / AN · 7 JOURS D'ESSAI · 1 UTILISATEUR · PROJETS ILLIMITÉS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4. Pro</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Chiffrez à partir d'un plan, d'un CCTP, d'une photo ou de la voix, vendez avec vos marges, faites signer en ligne.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Plans &amp; métré</a:t>
            </a:r>
          </a:p>
          <a:p>
            <a:pPr>
              <a:spcAft>
                <a:spcPts val="500"/>
              </a:spcAft>
            </a:pPr>
            <a:r>
              <a:rPr sz="1150">
                <a:solidFill>
                  <a:srgbClr val="1F2A24"/>
                </a:solidFill>
                <a:latin typeface="Calibri"/>
              </a:rPr>
              <a:t>•  Import DWG (conversion automatique) / DXF / PDF / images : rendu fidèle (cotes, textes, cartouche), calibration automatique de l'échelle</a:t>
            </a:r>
          </a:p>
          <a:p>
            <a:pPr>
              <a:spcAft>
                <a:spcPts val="500"/>
              </a:spcAft>
            </a:pPr>
            <a:r>
              <a:rPr sz="1150">
                <a:solidFill>
                  <a:srgbClr val="1F2A24"/>
                </a:solidFill>
                <a:latin typeface="Calibri"/>
              </a:rPr>
              <a:t>•  Détection IA des pièces, murs, ouvertures, poteaux, poutres, dalles ; métré structure béton par calques (murs, planchers, escaliers, poutres, poteaux → m³, coffrage, aciers, €)</a:t>
            </a:r>
          </a:p>
          <a:p>
            <a:pPr>
              <a:spcAft>
                <a:spcPts val="500"/>
              </a:spcAft>
            </a:pPr>
            <a:r>
              <a:rPr sz="1150">
                <a:solidFill>
                  <a:srgbClr val="1F2A24"/>
                </a:solidFill>
                <a:latin typeface="Calibri"/>
              </a:rPr>
              <a:t>•  Outils de mesure (distance, surface polygone, historique), plein écran, contraste, comparaison de 2 versions de plan, assistant IA d'édition en langage naturel</a:t>
            </a:r>
          </a:p>
          <a:p>
            <a:pPr>
              <a:spcAft>
                <a:spcPts val="500"/>
              </a:spcAft>
            </a:pPr>
            <a:r>
              <a:rPr sz="1150">
                <a:solidFill>
                  <a:srgbClr val="1F2A24"/>
                </a:solidFill>
                <a:latin typeface="Calibri"/>
              </a:rPr>
              <a:t>•  Mesure sur photo, estimation par pièce (peinture, sol, plomberie, maçonnerie…) avec choix du bloc et enduit</a:t>
            </a:r>
          </a:p>
          <a:p>
            <a:pPr>
              <a:spcAft>
                <a:spcPts val="500"/>
              </a:spcAft>
            </a:pPr>
            <a:r>
              <a:rPr sz="1150">
                <a:solidFill>
                  <a:srgbClr val="1F2A24"/>
                </a:solidFill>
                <a:latin typeface="Calibri"/>
              </a:rPr>
              <a:t>•  Étude Permis de Construire gros œuvre : estimation par niveau, planning Gantt, météo, comparateur négoces, bon de commande, envoi et signature client, relances automatiques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Approvisionnement &amp; fournisseurs</a:t>
            </a:r>
          </a:p>
          <a:p>
            <a:pPr>
              <a:spcAft>
                <a:spcPts val="500"/>
              </a:spcAft>
            </a:pPr>
            <a:r>
              <a:rPr sz="1150">
                <a:solidFill>
                  <a:srgbClr val="1F2A24"/>
                </a:solidFill>
                <a:latin typeface="Calibri"/>
              </a:rPr>
              <a:t>•  Ferraillage / acier : lecture IA des plans → bordereau HA6…HA32, treillis, tonnage, quantités commandables (pertes, longueur de barre)</a:t>
            </a:r>
          </a:p>
          <a:p>
            <a:pPr>
              <a:spcAft>
                <a:spcPts val="500"/>
              </a:spcAft>
            </a:pPr>
            <a:r>
              <a:rPr sz="1150">
                <a:solidFill>
                  <a:srgbClr val="1F2A24"/>
                </a:solidFill>
                <a:latin typeface="Calibri"/>
              </a:rPr>
              <a:t>•  Étanchéité (toiture-terrasse), toiture (tuiles, ardoises, bac acier…), VRD / réseaux et tranchées</a:t>
            </a:r>
          </a:p>
          <a:p>
            <a:pPr>
              <a:spcAft>
                <a:spcPts val="500"/>
              </a:spcAft>
            </a:pPr>
            <a:r>
              <a:rPr sz="1150">
                <a:solidFill>
                  <a:srgbClr val="1F2A24"/>
                </a:solidFill>
                <a:latin typeface="Calibri"/>
              </a:rPr>
              <a:t>•  Fournisseurs (agence, n° client, catégories), export CSV, bons de commande, fusion multi-plans, statuts brouillon / envoyé / confirmé</a:t>
            </a:r>
          </a:p>
          <a:p>
            <a:pPr>
              <a:spcAft>
                <a:spcPts val="500"/>
              </a:spcAft>
            </a:pPr>
            <a:r>
              <a:rPr sz="1150">
                <a:solidFill>
                  <a:srgbClr val="1F2A24"/>
                </a:solidFill>
                <a:latin typeface="Calibri"/>
              </a:rPr>
              <a:t>•  Chiffrage DPGF automatique : vos prix d'abord, l'IA en repli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1 570 € / AN · 7 JOURS D'ESSAI · 1 UTILISATEUR · PROJETS ILLIMITÉS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4. Pro</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Chiffrez à partir d'un plan, d'un CCTP, d'une photo ou de la voix, vendez avec vos marges, faites signer en ligne.</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Clients, leads &amp; réputation</a:t>
            </a:r>
          </a:p>
          <a:p>
            <a:pPr>
              <a:spcAft>
                <a:spcPts val="600"/>
              </a:spcAft>
            </a:pPr>
            <a:r>
              <a:rPr sz="1250">
                <a:solidFill>
                  <a:srgbClr val="1F2A24"/>
                </a:solidFill>
                <a:latin typeface="Calibri"/>
              </a:rPr>
              <a:t>•  CRM clients et projets, suivi des devis (vus, signés, relances), portail client</a:t>
            </a:r>
          </a:p>
          <a:p>
            <a:pPr>
              <a:spcAft>
                <a:spcPts val="600"/>
              </a:spcAft>
            </a:pPr>
            <a:r>
              <a:rPr sz="1250">
                <a:solidFill>
                  <a:srgbClr val="1F2A24"/>
                </a:solidFill>
                <a:latin typeface="Calibri"/>
              </a:rPr>
              <a:t>•  Mes demandes : leads de particuliers avec scoring, notifications, e-mail</a:t>
            </a:r>
          </a:p>
          <a:p>
            <a:pPr>
              <a:spcAft>
                <a:spcPts val="600"/>
              </a:spcAft>
            </a:pPr>
            <a:r>
              <a:rPr sz="1250">
                <a:solidFill>
                  <a:srgbClr val="1F2A24"/>
                </a:solidFill>
                <a:latin typeface="Calibri"/>
              </a:rPr>
              <a:t>•  Avis clients collectés par lien, badge « Pro vérifié » (KYC K-bis + SIRET + décennale)</a:t>
            </a:r>
          </a:p>
          <a:p>
            <a:pPr>
              <a:spcAft>
                <a:spcPts val="600"/>
              </a:spcAft>
            </a:pPr>
            <a:r>
              <a:rPr sz="1250">
                <a:solidFill>
                  <a:srgbClr val="1F2A24"/>
                </a:solidFill>
                <a:latin typeface="Calibri"/>
              </a:rPr>
              <a:t>•  Radar Chantiers, rendus 3D, accès API développeurs (voir pages suivantes)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2 490 € / AN · 7 JOURS D'ESSAI · 5 UTILISATEURS INCLUS · FACTURATION &amp; FACTUR-X INCLUSES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5. Pro Business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249 €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Pro + équipes, RH &amp; pointage, suivi de chantier avec coûts réels, reporting et automatisations.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Équipe &amp; organisation</a:t>
            </a:r>
          </a:p>
          <a:p>
            <a:pPr>
              <a:spcAft>
                <a:spcPts val="500"/>
              </a:spcAft>
            </a:pPr>
            <a:r>
              <a:rPr sz="1150">
                <a:solidFill>
                  <a:srgbClr val="1F2A24"/>
                </a:solidFill>
                <a:latin typeface="Calibri"/>
              </a:rPr>
              <a:t>•  Jusqu'à 5 utilisateurs, rôles (admin, collaborateur, lecture seule), invitations par lien</a:t>
            </a:r>
          </a:p>
          <a:p>
            <a:pPr>
              <a:spcAft>
                <a:spcPts val="500"/>
              </a:spcAft>
            </a:pPr>
            <a:r>
              <a:rPr sz="1150">
                <a:solidFill>
                  <a:srgbClr val="1F2A24"/>
                </a:solidFill>
                <a:latin typeface="Calibri"/>
              </a:rPr>
              <a:t>•  Espace Entreprise : identité, logo, SMTP, RIB, paramètres Factur-X, branding des documents</a:t>
            </a:r>
          </a:p>
          <a:p>
            <a:pPr>
              <a:spcAft>
                <a:spcPts val="500"/>
              </a:spcAft>
            </a:pPr>
            <a:r>
              <a:rPr sz="1150">
                <a:solidFill>
                  <a:srgbClr val="1F2A24"/>
                </a:solidFill>
                <a:latin typeface="Calibri"/>
              </a:rPr>
              <a:t>•  Portail Pro et rapport hebdomadaire automatique</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RH, pointage &amp; chantier</a:t>
            </a:r>
          </a:p>
          <a:p>
            <a:pPr>
              <a:spcAft>
                <a:spcPts val="500"/>
              </a:spcAft>
            </a:pPr>
            <a:r>
              <a:rPr sz="1150">
                <a:solidFill>
                  <a:srgbClr val="1F2A24"/>
                </a:solidFill>
                <a:latin typeface="Calibri"/>
              </a:rPr>
              <a:t>•  Module RH : salariés, contrats, absences ; application ouvrier de pointage sur mobile</a:t>
            </a:r>
          </a:p>
          <a:p>
            <a:pPr>
              <a:spcAft>
                <a:spcPts val="500"/>
              </a:spcAft>
            </a:pPr>
            <a:r>
              <a:rPr sz="1150">
                <a:solidFill>
                  <a:srgbClr val="1F2A24"/>
                </a:solidFill>
                <a:latin typeface="Calibri"/>
              </a:rPr>
              <a:t>•  Suivi de chantier : avancement, photos de chantier, coûts réels vs devis, partage au client</a:t>
            </a:r>
          </a:p>
          <a:p>
            <a:pPr>
              <a:spcAft>
                <a:spcPts val="500"/>
              </a:spcAft>
            </a:pPr>
            <a:r>
              <a:rPr sz="1150">
                <a:solidFill>
                  <a:srgbClr val="1F2A24"/>
                </a:solidFill>
                <a:latin typeface="Calibri"/>
              </a:rPr>
              <a:t>•  Situations de travaux, facture de solde, décompte général — Option Facturation incluse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OU 2 490 € / AN · 7 JOURS D'ESSAI · 5 UTILISATEURS INCLUS · FACTURATION &amp; FACTUR-X INCLUSES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5. Pro Business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Pro + équipes, RH &amp; pointage, suivi de chantier avec coûts réels, reporting et automatisations.</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Pilotage</a:t>
            </a:r>
          </a:p>
          <a:p>
            <a:pPr>
              <a:spcAft>
                <a:spcPts val="600"/>
              </a:spcAft>
            </a:pPr>
            <a:r>
              <a:rPr sz="1250">
                <a:solidFill>
                  <a:srgbClr val="1F2A24"/>
                </a:solidFill>
                <a:latin typeface="Calibri"/>
              </a:rPr>
              <a:t>•  Planning + Gantt, reporting &amp; analytics, rentabilité par chantier</a:t>
            </a:r>
          </a:p>
          <a:p>
            <a:pPr>
              <a:spcAft>
                <a:spcPts val="600"/>
              </a:spcAft>
            </a:pPr>
            <a:r>
              <a:rPr sz="1250">
                <a:solidFill>
                  <a:srgbClr val="1F2A24"/>
                </a:solidFill>
                <a:latin typeface="Calibri"/>
              </a:rPr>
              <a:t>•  Automatisations : relances devis / acomptes, notifications d'ouverture, rapports</a:t>
            </a:r>
          </a:p>
          <a:p>
            <a:pPr>
              <a:spcAft>
                <a:spcPts val="600"/>
              </a:spcAft>
            </a:pPr>
            <a:r>
              <a:rPr sz="1250">
                <a:solidFill>
                  <a:srgbClr val="1F2A24"/>
                </a:solidFill>
                <a:latin typeface="Calibri"/>
              </a:rPr>
              <a:t>•  Plan 2D takeoff professionnel, rendu 3D interactif + vidéo 3D inclus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6. Radar Chantiers &amp; prospection</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Trouvez les chantiers avant vos concurrents et prospectez en 1 clic (Pro &amp; Pro Business).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Détection d'opportunités</a:t>
            </a:r>
          </a:p>
          <a:p>
            <a:pPr>
              <a:spcAft>
                <a:spcPts val="500"/>
              </a:spcAft>
            </a:pPr>
            <a:r>
              <a:rPr sz="1150">
                <a:solidFill>
                  <a:srgbClr val="1F2A24"/>
                </a:solidFill>
                <a:latin typeface="Calibri"/>
              </a:rPr>
              <a:t>•  Carte des permis de construire (données SITADEL) autour de votre base, filtrés par vos métiers et votre rayon</a:t>
            </a:r>
          </a:p>
          <a:p>
            <a:pPr>
              <a:spcAft>
                <a:spcPts val="500"/>
              </a:spcAft>
            </a:pPr>
            <a:r>
              <a:rPr sz="1150">
                <a:solidFill>
                  <a:srgbClr val="1F2A24"/>
                </a:solidFill>
                <a:latin typeface="Calibri"/>
              </a:rPr>
              <a:t>•  Profil Radar : métiers de l'entreprise, zone repositionnable sur la carte, KPIs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Courrier de prospection</a:t>
            </a:r>
          </a:p>
          <a:p>
            <a:pPr>
              <a:spcAft>
                <a:spcPts val="500"/>
              </a:spcAft>
            </a:pPr>
            <a:r>
              <a:rPr sz="1150">
                <a:solidFill>
                  <a:srgbClr val="1F2A24"/>
                </a:solidFill>
                <a:latin typeface="Calibri"/>
              </a:rPr>
              <a:t>•  Courrier PDF personnalisé (en-tête entreprise, référence du permis, fourchette de prix, RGPD) + QR code</a:t>
            </a:r>
          </a:p>
          <a:p>
            <a:pPr>
              <a:spcAft>
                <a:spcPts val="500"/>
              </a:spcAft>
            </a:pPr>
            <a:r>
              <a:rPr sz="1150">
                <a:solidFill>
                  <a:srgbClr val="1F2A24"/>
                </a:solidFill>
                <a:latin typeface="Calibri"/>
              </a:rPr>
              <a:t>•  Assistant IA de rédaction : ton formel / chaleureux / direct / commercial, longueur au choix</a:t>
            </a:r>
          </a:p>
          <a:p>
            <a:pPr>
              <a:spcAft>
                <a:spcPts val="500"/>
              </a:spcAft>
            </a:pPr>
            <a:r>
              <a:rPr sz="1150">
                <a:solidFill>
                  <a:srgbClr val="1F2A24"/>
                </a:solidFill>
                <a:latin typeface="Calibri"/>
              </a:rPr>
              <a:t>•  Envoi postal réel depuis l'app (Merci Facteur) : lettre simple, suivie ou LRAR — dès ≈ 2,26 € TTC, suivi de distribution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6. Radar Chantiers &amp; prospection</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Trouvez les chantiers avant vos concurrents et prospectez en 1 clic (Pro &amp; Pro Business).</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Capture &amp; suivi</a:t>
            </a:r>
          </a:p>
          <a:p>
            <a:pPr>
              <a:spcAft>
                <a:spcPts val="600"/>
              </a:spcAft>
            </a:pPr>
            <a:r>
              <a:rPr sz="1250">
                <a:solidFill>
                  <a:srgbClr val="1F2A24"/>
                </a:solidFill>
                <a:latin typeface="Calibri"/>
              </a:rPr>
              <a:t>•  Landing publique dédiée par courrier (QR / lien) → le prospect laisse ses coordonnées</a:t>
            </a:r>
          </a:p>
          <a:p>
            <a:pPr>
              <a:spcAft>
                <a:spcPts val="600"/>
              </a:spcAft>
            </a:pPr>
            <a:r>
              <a:rPr sz="1250">
                <a:solidFill>
                  <a:srgbClr val="1F2A24"/>
                </a:solidFill>
                <a:latin typeface="Calibri"/>
              </a:rPr>
              <a:t>•  Lead créé automatiquement dans « Mes demandes », notification + e-mail, anti-spam et anti-doublons</a:t>
            </a:r>
          </a:p>
          <a:p>
            <a:pPr>
              <a:spcAft>
                <a:spcPts val="600"/>
              </a:spcAft>
            </a:pPr>
            <a:r>
              <a:rPr sz="1250">
                <a:solidFill>
                  <a:srgbClr val="1F2A24"/>
                </a:solidFill>
                <a:latin typeface="Calibri"/>
              </a:rPr>
              <a:t>•  Suivi de campagne : ouvertures, réponses, taux par courrier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7. Blog, SEO &amp; newsletter</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blog conseils travaux FR &amp; PT alimenté automatiquement, optimisé pour Google.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Contenu</a:t>
            </a:r>
          </a:p>
          <a:p>
            <a:pPr>
              <a:spcAft>
                <a:spcPts val="500"/>
              </a:spcAft>
            </a:pPr>
            <a:r>
              <a:rPr sz="1150">
                <a:solidFill>
                  <a:srgbClr val="1F2A24"/>
                </a:solidFill>
                <a:latin typeface="Calibri"/>
              </a:rPr>
              <a:t>•  Blog natif : articles FR (prix, aides, réglementation, méthodes) et PT-PT (licenciamento, IVA 6 %, custos por distrito)</a:t>
            </a:r>
          </a:p>
          <a:p>
            <a:pPr>
              <a:spcAft>
                <a:spcPts val="500"/>
              </a:spcAft>
            </a:pPr>
            <a:r>
              <a:rPr sz="1150">
                <a:solidFill>
                  <a:srgbClr val="1F2A24"/>
                </a:solidFill>
                <a:latin typeface="Calibri"/>
              </a:rPr>
              <a:t>•  Génération automatique d'articles SEO (BabyLoveGrowth) : synchronisation toutes les 2 h + webhook temps réel, image de couverture, FAQ structurée</a:t>
            </a:r>
          </a:p>
          <a:p>
            <a:pPr>
              <a:spcAft>
                <a:spcPts val="500"/>
              </a:spcAft>
            </a:pPr>
            <a:r>
              <a:rPr sz="1150">
                <a:solidFill>
                  <a:srgbClr val="1F2A24"/>
                </a:solidFill>
                <a:latin typeface="Calibri"/>
              </a:rPr>
              <a:t>•  « À lire aussi » (articles liés) et maillage interne vers l'estimateur, les calculateurs et les prix</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Référencement</a:t>
            </a:r>
          </a:p>
          <a:p>
            <a:pPr>
              <a:spcAft>
                <a:spcPts val="500"/>
              </a:spcAft>
            </a:pPr>
            <a:r>
              <a:rPr sz="1150">
                <a:solidFill>
                  <a:srgbClr val="1F2A24"/>
                </a:solidFill>
                <a:latin typeface="Calibri"/>
              </a:rPr>
              <a:t>•  Sitemap dynamique (index + pages + articles), JSON-LD BlogPosting / FAQ, Open Graph, robots.txt</a:t>
            </a:r>
          </a:p>
          <a:p>
            <a:pPr>
              <a:spcAft>
                <a:spcPts val="500"/>
              </a:spcAft>
            </a:pPr>
            <a:r>
              <a:rPr sz="1150">
                <a:solidFill>
                  <a:srgbClr val="1F2A24"/>
                </a:solidFill>
                <a:latin typeface="Calibri"/>
              </a:rPr>
              <a:t>•  Pages locales « Devis travaux {ville} », landings /particuliers, /metre, /portugal, /investisseurs, vidéos de démonstration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7. Blog, SEO &amp; newsletter</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blog conseils travaux FR &amp; PT alimenté automatiquement, optimisé pour Google.</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Newsletter</a:t>
            </a:r>
          </a:p>
          <a:p>
            <a:pPr>
              <a:spcAft>
                <a:spcPts val="600"/>
              </a:spcAft>
            </a:pPr>
            <a:r>
              <a:rPr sz="1250">
                <a:solidFill>
                  <a:srgbClr val="1F2A24"/>
                </a:solidFill>
                <a:latin typeface="Calibri"/>
              </a:rPr>
              <a:t>•  Inscription sous chaque article et sur le blog, e-mail de bienvenue, notification à chaque nouvel article, désinscription 1 clic</a:t>
            </a:r>
          </a:p>
          <a:p>
            <a:pPr>
              <a:spcAft>
                <a:spcPts val="600"/>
              </a:spcAft>
            </a:pPr>
            <a:r>
              <a:rPr sz="1250">
                <a:solidFill>
                  <a:srgbClr val="1F2A24"/>
                </a:solidFill>
                <a:latin typeface="Calibri"/>
              </a:rPr>
              <a:t>•  Statistiques d'abonnés dans l'administration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8. Acquisition, e-mailing &amp; fidélisation</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Les outils marketing intégrés qui transforment les visiteurs en abonnés.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E-mailing</a:t>
            </a:r>
          </a:p>
          <a:p>
            <a:pPr>
              <a:spcAft>
                <a:spcPts val="500"/>
              </a:spcAft>
            </a:pPr>
            <a:r>
              <a:rPr sz="1150">
                <a:solidFill>
                  <a:srgbClr val="1F2A24"/>
                </a:solidFill>
                <a:latin typeface="Calibri"/>
              </a:rPr>
              <a:t>•  Campagnes e-mail (Resend) avec suivi des envois et des échecs</a:t>
            </a:r>
          </a:p>
          <a:p>
            <a:pPr>
              <a:spcAft>
                <a:spcPts val="500"/>
              </a:spcAft>
            </a:pPr>
            <a:r>
              <a:rPr sz="1150">
                <a:solidFill>
                  <a:srgbClr val="1F2A24"/>
                </a:solidFill>
                <a:latin typeface="Calibri"/>
              </a:rPr>
              <a:t>•  Relances automatiques J+3 et J+10 des comptes gratuits (Pro 149 € / Premium 19 €), code promo hebdomadaire −20 % × 3 mois appliqué automatiquement au paiement</a:t>
            </a:r>
          </a:p>
          <a:p>
            <a:pPr>
              <a:spcAft>
                <a:spcPts val="500"/>
              </a:spcAft>
            </a:pPr>
            <a:r>
              <a:rPr sz="1150">
                <a:solidFill>
                  <a:srgbClr val="1F2A24"/>
                </a:solidFill>
                <a:latin typeface="Calibri"/>
              </a:rPr>
              <a:t>•  Suivi de conversion par semaine : envois → abonnements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Croissance</a:t>
            </a:r>
          </a:p>
          <a:p>
            <a:pPr>
              <a:spcAft>
                <a:spcPts val="500"/>
              </a:spcAft>
            </a:pPr>
            <a:r>
              <a:rPr sz="1150">
                <a:solidFill>
                  <a:srgbClr val="1F2A24"/>
                </a:solidFill>
                <a:latin typeface="Calibri"/>
              </a:rPr>
              <a:t>•  Essai gratuit 7 jours, codes promo Stripe, paiement mensuel ou annuel</a:t>
            </a:r>
          </a:p>
          <a:p>
            <a:pPr>
              <a:spcAft>
                <a:spcPts val="500"/>
              </a:spcAft>
            </a:pPr>
            <a:r>
              <a:rPr sz="1150">
                <a:solidFill>
                  <a:srgbClr val="1F2A24"/>
                </a:solidFill>
                <a:latin typeface="Calibri"/>
              </a:rPr>
              <a:t>•  Parrainage et affiliation avec récompenses, page « Passez Pro » pour les particuliers</a:t>
            </a:r>
          </a:p>
          <a:p>
            <a:pPr>
              <a:spcAft>
                <a:spcPts val="500"/>
              </a:spcAft>
            </a:pPr>
            <a:r>
              <a:rPr sz="1150">
                <a:solidFill>
                  <a:srgbClr val="1F2A24"/>
                </a:solidFill>
                <a:latin typeface="Calibri"/>
              </a:rPr>
              <a:t>•  Marketplace de pros vérifiés (activable), avis clients publics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9. Options, API &amp; Entreprise</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Complétez votre offre à l'unité ou intégrez le moteur ConstruPilot dans vos outils.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Options à l'unité</a:t>
            </a:r>
          </a:p>
          <a:p>
            <a:pPr>
              <a:spcAft>
                <a:spcPts val="500"/>
              </a:spcAft>
            </a:pPr>
            <a:r>
              <a:rPr sz="1150">
                <a:solidFill>
                  <a:srgbClr val="1F2A24"/>
                </a:solidFill>
                <a:latin typeface="Calibri"/>
              </a:rPr>
              <a:t>•  Option Facturation : 5 €/mois (incluse Pro Business)</a:t>
            </a:r>
          </a:p>
          <a:p>
            <a:pPr>
              <a:spcAft>
                <a:spcPts val="500"/>
              </a:spcAft>
            </a:pPr>
            <a:r>
              <a:rPr sz="1150">
                <a:solidFill>
                  <a:srgbClr val="1F2A24"/>
                </a:solidFill>
                <a:latin typeface="Calibri"/>
              </a:rPr>
              <a:t>•  Rendu 3D IA (image) : 5 € · Vidéo 3D : 10 € · Maquette 3D interactive : 5 €</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API commerciale</a:t>
            </a:r>
          </a:p>
          <a:p>
            <a:pPr>
              <a:spcAft>
                <a:spcPts val="500"/>
              </a:spcAft>
            </a:pPr>
            <a:r>
              <a:rPr sz="1150">
                <a:solidFill>
                  <a:srgbClr val="1F2A24"/>
                </a:solidFill>
                <a:latin typeface="Calibri"/>
              </a:rPr>
              <a:t>•  API Starter 99 €/mois : 1 000 appels, Estimation Engine, Material Calculators, Price Intelligence (démo)</a:t>
            </a:r>
          </a:p>
          <a:p>
            <a:pPr>
              <a:spcAft>
                <a:spcPts val="500"/>
              </a:spcAft>
            </a:pPr>
            <a:r>
              <a:rPr sz="1150">
                <a:solidFill>
                  <a:srgbClr val="1F2A24"/>
                </a:solidFill>
                <a:latin typeface="Calibri"/>
              </a:rPr>
              <a:t>•  API Business 299 €/mois : 10 000 appels, AI Renovation Advisor, webhooks, support prioritaire</a:t>
            </a:r>
          </a:p>
          <a:p>
            <a:pPr>
              <a:spcAft>
                <a:spcPts val="500"/>
              </a:spcAft>
            </a:pPr>
            <a:r>
              <a:rPr sz="1150">
                <a:solidFill>
                  <a:srgbClr val="1F2A24"/>
                </a:solidFill>
                <a:latin typeface="Calibri"/>
              </a:rPr>
              <a:t>•  API Scale 999 €/mois : 100 000 appels, SLA 99,9 %, SSO, endpoints dédiés, account manager</a:t>
            </a:r>
          </a:p>
          <a:p>
            <a:pPr>
              <a:spcAft>
                <a:spcPts val="500"/>
              </a:spcAft>
            </a:pPr>
            <a:r>
              <a:rPr sz="1150">
                <a:solidFill>
                  <a:srgbClr val="1F2A24"/>
                </a:solidFill>
                <a:latin typeface="Calibri"/>
              </a:rPr>
              <a:t>•  Espace développeurs : clés API, documentation, portail fournisseur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9. Options, API &amp; Entreprise</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Complétez votre offre à l'unité ou intégrez le moteur ConstruPilot dans vos outils.</a:t>
            </a:r>
          </a:p>
        </p:txBody>
      </p:sp>
      <p:sp>
        <p:nvSpPr>
          <p:cNvPr id="13" name="TextBox 12"/>
          <p:cNvSpPr txBox="1"/>
          <p:nvPr/>
        </p:nvSpPr>
        <p:spPr>
          <a:xfrm>
            <a:off x="457200" y="1920240"/>
            <a:ext cx="11247120" cy="4480560"/>
          </a:xfrm>
          <a:prstGeom prst="rect">
            <a:avLst/>
          </a:prstGeom>
          <a:noFill/>
        </p:spPr>
        <p:txBody>
          <a:bodyPr wrap="square" lIns="45720" rIns="45720">
            <a:normAutofit/>
          </a:bodyPr>
          <a:lstStyle/>
          <a:p>
            <a:pPr>
              <a:spcBef>
                <a:spcPts val="900"/>
              </a:spcBef>
              <a:spcAft>
                <a:spcPts val="100"/>
              </a:spcAft>
            </a:pPr>
            <a:r>
              <a:rPr sz="1500" b="1">
                <a:solidFill>
                  <a:srgbClr val="24352D"/>
                </a:solidFill>
                <a:latin typeface="Calibri"/>
              </a:rPr>
              <a:t>Enterprise &amp; sécurité</a:t>
            </a:r>
          </a:p>
          <a:p>
            <a:pPr>
              <a:spcAft>
                <a:spcPts val="600"/>
              </a:spcAft>
            </a:pPr>
            <a:r>
              <a:rPr sz="1250">
                <a:solidFill>
                  <a:srgbClr val="1F2A24"/>
                </a:solidFill>
                <a:latin typeface="Calibri"/>
              </a:rPr>
              <a:t>•  Offre Enterprise sur devis (volumes, SSO, marque blanche en préparation)</a:t>
            </a:r>
          </a:p>
          <a:p>
            <a:pPr>
              <a:spcAft>
                <a:spcPts val="600"/>
              </a:spcAft>
            </a:pPr>
            <a:r>
              <a:rPr sz="1250">
                <a:solidFill>
                  <a:srgbClr val="1F2A24"/>
                </a:solidFill>
                <a:latin typeface="Calibri"/>
              </a:rPr>
              <a:t>•  Sécurité : 2FA e-mail, alerte de connexion admin, appareils connectés, stockage privé des documents KYC, RGPD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10. Administration ConstruPilot</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back-office complet pour piloter la plateforme.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Pilotage</a:t>
            </a:r>
          </a:p>
          <a:p>
            <a:pPr>
              <a:spcAft>
                <a:spcPts val="500"/>
              </a:spcAft>
            </a:pPr>
            <a:r>
              <a:rPr sz="1150">
                <a:solidFill>
                  <a:srgbClr val="1F2A24"/>
                </a:solidFill>
                <a:latin typeface="Calibri"/>
              </a:rPr>
              <a:t>•  Utilisateurs, abonnements et revenus, synchronisation des plans Stripe, désactivation 2FA</a:t>
            </a:r>
          </a:p>
          <a:p>
            <a:pPr>
              <a:spcAft>
                <a:spcPts val="500"/>
              </a:spcAft>
            </a:pPr>
            <a:r>
              <a:rPr sz="1150">
                <a:solidFill>
                  <a:srgbClr val="1F2A24"/>
                </a:solidFill>
                <a:latin typeface="Calibri"/>
              </a:rPr>
              <a:t>•  Validation KYC des pros (K-bis, décennale, SIRET) : approuver / refuser avec motif</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400" b="1">
                <a:solidFill>
                  <a:srgbClr val="24352D"/>
                </a:solidFill>
                <a:latin typeface="Calibri"/>
              </a:rPr>
              <a:t>Données &amp; contenu</a:t>
            </a:r>
          </a:p>
          <a:p>
            <a:pPr>
              <a:spcAft>
                <a:spcPts val="500"/>
              </a:spcAft>
            </a:pPr>
            <a:r>
              <a:rPr sz="1150">
                <a:solidFill>
                  <a:srgbClr val="1F2A24"/>
                </a:solidFill>
                <a:latin typeface="Calibri"/>
              </a:rPr>
              <a:t>•  Bibliothèque partagée : import Excel (fusion des manquants, actualisation des prix), export Excel, FR / PT</a:t>
            </a:r>
          </a:p>
          <a:p>
            <a:pPr>
              <a:spcAft>
                <a:spcPts val="500"/>
              </a:spcAft>
            </a:pPr>
            <a:r>
              <a:rPr sz="1150">
                <a:solidFill>
                  <a:srgbClr val="1F2A24"/>
                </a:solidFill>
                <a:latin typeface="Calibri"/>
              </a:rPr>
              <a:t>•  Configuration maçonnerie (ratios, blocs, prix), import SITADEL (CSV géocodé), SEO / Blog (synchro, webhook, suppression)</a:t>
            </a:r>
          </a:p>
          <a:p>
            <a:pPr>
              <a:spcAft>
                <a:spcPts val="500"/>
              </a:spcAft>
            </a:pPr>
            <a:r>
              <a:rPr sz="1150">
                <a:solidFill>
                  <a:srgbClr val="1F2A24"/>
                </a:solidFill>
                <a:latin typeface="Calibri"/>
              </a:rPr>
              <a:t>•  Campagnes e-mail : aperçus, envoi J+3 / J+10, statistiques de conversion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SYNTHÈSE</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Comparatif des offres</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graphicFrame>
        <p:nvGraphicFramePr>
          <p:cNvPr id="8" name="Table 7"/>
          <p:cNvGraphicFramePr>
            <a:graphicFrameLocks noGrp="1"/>
          </p:cNvGraphicFramePr>
          <p:nvPr/>
        </p:nvGraphicFramePr>
        <p:xfrm>
          <a:off x="457200" y="1234440"/>
          <a:ext cx="11247120" cy="4764024"/>
        </p:xfrm>
        <a:graphic>
          <a:graphicData uri="http://schemas.openxmlformats.org/drawingml/2006/table">
            <a:tbl>
              <a:tblPr firstRow="1" bandRow="1">
                <a:tableStyleId>{5C22544A-7EE6-4342-B048-85BDC9FD1C3A}</a:tableStyleId>
              </a:tblPr>
              <a:tblGrid>
                <a:gridCol w="4663440"/>
                <a:gridCol w="1645920"/>
                <a:gridCol w="1645920"/>
                <a:gridCol w="1645920"/>
                <a:gridCol w="1645920"/>
              </a:tblGrid>
              <a:tr h="320040">
                <a:tc>
                  <a:txBody>
                    <a:bodyPr/>
                    <a:lstStyle/>
                    <a:p>
                      <a:pPr algn="l">
                        <a:defRPr sz="1000" b="1">
                          <a:solidFill>
                            <a:srgbClr val="FFFFFF"/>
                          </a:solidFill>
                          <a:latin typeface="Calibri"/>
                        </a:defRPr>
                      </a:pPr>
                      <a:r>
                        <a:t>Fonction</a:t>
                      </a:r>
                    </a:p>
                  </a:txBody>
                  <a:tcPr>
                    <a:solidFill>
                      <a:srgbClr val="04120A"/>
                    </a:solidFill>
                  </a:tcPr>
                </a:tc>
                <a:tc>
                  <a:txBody>
                    <a:bodyPr/>
                    <a:lstStyle/>
                    <a:p>
                      <a:pPr algn="ctr">
                        <a:defRPr sz="1000" b="1">
                          <a:solidFill>
                            <a:srgbClr val="FFFFFF"/>
                          </a:solidFill>
                          <a:latin typeface="Calibri"/>
                        </a:defRPr>
                      </a:pPr>
                      <a:r>
                        <a:t>Particuliers</a:t>
                      </a:r>
                    </a:p>
                  </a:txBody>
                  <a:tcPr>
                    <a:solidFill>
                      <a:srgbClr val="04120A"/>
                    </a:solidFill>
                  </a:tcPr>
                </a:tc>
                <a:tc>
                  <a:txBody>
                    <a:bodyPr/>
                    <a:lstStyle/>
                    <a:p>
                      <a:pPr algn="ctr">
                        <a:defRPr sz="1000" b="1">
                          <a:solidFill>
                            <a:srgbClr val="FFFFFF"/>
                          </a:solidFill>
                          <a:latin typeface="Calibri"/>
                        </a:defRPr>
                      </a:pPr>
                      <a:r>
                        <a:t>Premium</a:t>
                      </a:r>
                    </a:p>
                  </a:txBody>
                  <a:tcPr>
                    <a:solidFill>
                      <a:srgbClr val="04120A"/>
                    </a:solidFill>
                  </a:tcPr>
                </a:tc>
                <a:tc>
                  <a:txBody>
                    <a:bodyPr/>
                    <a:lstStyle/>
                    <a:p>
                      <a:pPr algn="ctr">
                        <a:defRPr sz="1000" b="1">
                          <a:solidFill>
                            <a:srgbClr val="FFFFFF"/>
                          </a:solidFill>
                          <a:latin typeface="Calibri"/>
                        </a:defRPr>
                      </a:pPr>
                      <a:r>
                        <a:t>Pro</a:t>
                      </a:r>
                    </a:p>
                  </a:txBody>
                  <a:tcPr>
                    <a:solidFill>
                      <a:srgbClr val="04120A"/>
                    </a:solidFill>
                  </a:tcPr>
                </a:tc>
                <a:tc>
                  <a:txBody>
                    <a:bodyPr/>
                    <a:lstStyle/>
                    <a:p>
                      <a:pPr algn="ctr">
                        <a:defRPr sz="1000" b="1">
                          <a:solidFill>
                            <a:srgbClr val="FFFFFF"/>
                          </a:solidFill>
                          <a:latin typeface="Calibri"/>
                        </a:defRPr>
                      </a:pPr>
                      <a:r>
                        <a:t>Pro Business</a:t>
                      </a:r>
                    </a:p>
                  </a:txBody>
                  <a:tcPr>
                    <a:solidFill>
                      <a:srgbClr val="04120A"/>
                    </a:solidFill>
                  </a:tcPr>
                </a:tc>
              </a:tr>
              <a:tr h="246888">
                <a:tc>
                  <a:txBody>
                    <a:bodyPr/>
                    <a:lstStyle/>
                    <a:p>
                      <a:pPr algn="l">
                        <a:defRPr sz="850">
                          <a:solidFill>
                            <a:srgbClr val="1F2A24"/>
                          </a:solidFill>
                          <a:latin typeface="Calibri"/>
                        </a:defRPr>
                      </a:pPr>
                      <a:r>
                        <a:t>Estimateur 3 gammes + calculateurs</a:t>
                      </a:r>
                    </a:p>
                  </a:txBody>
                  <a:tcPr marT="20000" marB="20000">
                    <a:solidFill>
                      <a:srgbClr val="FFFFFF"/>
                    </a:solidFill>
                  </a:tcPr>
                </a:tc>
                <a:tc>
                  <a:txBody>
                    <a:bodyPr/>
                    <a:lstStyle/>
                    <a:p>
                      <a:pPr algn="ctr">
                        <a:defRPr sz="850">
                          <a:solidFill>
                            <a:srgbClr val="1F2A24"/>
                          </a:solidFill>
                          <a:latin typeface="Calibri"/>
                        </a:defRPr>
                      </a:pPr>
                      <a:r>
                        <a:t>✓ (3/mois)</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r>
              <a:tr h="246888">
                <a:tc>
                  <a:txBody>
                    <a:bodyPr/>
                    <a:lstStyle/>
                    <a:p>
                      <a:pPr algn="l">
                        <a:defRPr sz="850">
                          <a:solidFill>
                            <a:srgbClr val="1F2A24"/>
                          </a:solidFill>
                          <a:latin typeface="Calibri"/>
                        </a:defRPr>
                      </a:pPr>
                      <a:r>
                        <a:t>Smart Project, photo IA, Coach IA</a:t>
                      </a:r>
                    </a:p>
                  </a:txBody>
                  <a:tcPr marT="20000" marB="20000">
                    <a:solidFill>
                      <a:srgbClr val="EAF3EE"/>
                    </a:solidFill>
                  </a:tcPr>
                </a:tc>
                <a:tc>
                  <a:txBody>
                    <a:bodyPr/>
                    <a:lstStyle/>
                    <a:p>
                      <a:pPr algn="ctr">
                        <a:defRPr sz="850">
                          <a:solidFill>
                            <a:srgbClr val="1F2A24"/>
                          </a:solidFill>
                          <a:latin typeface="Calibri"/>
                        </a:defRPr>
                      </a:pPr>
                      <a:r>
                        <a:t>Limité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Scanner / analyse de devis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Historique &amp; alertes prix, suivi dépenses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Rendu 3D / vidéo / maquette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Inclus</a:t>
                      </a:r>
                    </a:p>
                  </a:txBody>
                  <a:tcPr marT="20000" marB="20000">
                    <a:solidFill>
                      <a:srgbClr val="FFFFFF"/>
                    </a:solidFill>
                  </a:tcPr>
                </a:tc>
              </a:tr>
              <a:tr h="246888">
                <a:tc>
                  <a:txBody>
                    <a:bodyPr/>
                    <a:lstStyle/>
                    <a:p>
                      <a:pPr algn="l">
                        <a:defRPr sz="850">
                          <a:solidFill>
                            <a:srgbClr val="1F2A24"/>
                          </a:solidFill>
                          <a:latin typeface="Calibri"/>
                        </a:defRPr>
                      </a:pPr>
                      <a:r>
                        <a:t>Éditeur de devis + bibliothèque 322 ouvrages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Marges par lot, PDF interne, alerte marge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Devis depuis plan / CCTP / voix / photo</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Signature en ligne + acompte Stripe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Factures, situations, Factur-X</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Option 5 €</a:t>
                      </a:r>
                    </a:p>
                  </a:txBody>
                  <a:tcPr marT="20000" marB="20000">
                    <a:solidFill>
                      <a:srgbClr val="EAF3EE"/>
                    </a:solidFill>
                  </a:tcPr>
                </a:tc>
                <a:tc>
                  <a:txBody>
                    <a:bodyPr/>
                    <a:lstStyle/>
                    <a:p>
                      <a:pPr algn="ctr">
                        <a:defRPr sz="850">
                          <a:solidFill>
                            <a:srgbClr val="1F2A24"/>
                          </a:solidFill>
                          <a:latin typeface="Calibri"/>
                        </a:defRPr>
                      </a:pPr>
                      <a:r>
                        <a:t>Inclus</a:t>
                      </a:r>
                    </a:p>
                  </a:txBody>
                  <a:tcPr marT="20000" marB="20000">
                    <a:solidFill>
                      <a:srgbClr val="EAF3EE"/>
                    </a:solidFill>
                  </a:tcPr>
                </a:tc>
              </a:tr>
              <a:tr h="246888">
                <a:tc>
                  <a:txBody>
                    <a:bodyPr/>
                    <a:lstStyle/>
                    <a:p>
                      <a:pPr algn="l">
                        <a:defRPr sz="850">
                          <a:solidFill>
                            <a:srgbClr val="1F2A24"/>
                          </a:solidFill>
                          <a:latin typeface="Calibri"/>
                        </a:defRPr>
                      </a:pPr>
                      <a:r>
                        <a:t>Plans DWG/DXF/PDF, métré béton, étude PC</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Approvisionnement (acier, toiture, VRD)</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Radar Chantiers + courrier postal</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CRM clients, leads, avis, Pro vérifié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Équipe (5 utilisateurs), rôles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1 utilisateur</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RH, pointage, suivi chantier coûts réels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Gantt, reporting, automatisations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Blog, newsletter, FR / PT, PWA</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914400"/>
          </a:xfrm>
          <a:prstGeom prst="rect">
            <a:avLst/>
          </a:prstGeom>
          <a:noFill/>
        </p:spPr>
        <p:txBody>
          <a:bodyPr wrap="square" anchor="t" lIns="45720" rIns="45720" tIns="18288" bIns="18288">
            <a:spAutoFit/>
          </a:bodyPr>
          <a:lstStyle/>
          <a:p>
            <a:pPr algn="l"/>
            <a:r>
              <a:rPr sz="4000" b="1" i="0">
                <a:solidFill>
                  <a:srgbClr val="FFFFFF"/>
                </a:solidFill>
                <a:latin typeface="Calibri"/>
              </a:rPr>
              <a:t>Estimez. Comparez. Construisez.</a:t>
            </a:r>
          </a:p>
        </p:txBody>
      </p:sp>
      <p:sp>
        <p:nvSpPr>
          <p:cNvPr id="4" name="TextBox 3"/>
          <p:cNvSpPr txBox="1"/>
          <p:nvPr/>
        </p:nvSpPr>
        <p:spPr>
          <a:xfrm>
            <a:off x="548640" y="2560320"/>
            <a:ext cx="10972800" cy="548640"/>
          </a:xfrm>
          <a:prstGeom prst="rect">
            <a:avLst/>
          </a:prstGeom>
          <a:noFill/>
        </p:spPr>
        <p:txBody>
          <a:bodyPr wrap="square" anchor="t" lIns="45720" rIns="45720" tIns="18288" bIns="18288">
            <a:spAutoFit/>
          </a:bodyPr>
          <a:lstStyle/>
          <a:p>
            <a:pPr algn="l"/>
            <a:r>
              <a:rPr sz="2000" b="0" i="0">
                <a:solidFill>
                  <a:srgbClr val="A3E635"/>
                </a:solidFill>
                <a:latin typeface="Calibri"/>
              </a:rPr>
              <a:t>Passez à ConstruPilot dès aujourd'hui</a:t>
            </a:r>
          </a:p>
        </p:txBody>
      </p:sp>
      <p:sp>
        <p:nvSpPr>
          <p:cNvPr id="5" name="TextBox 4"/>
          <p:cNvSpPr txBox="1"/>
          <p:nvPr/>
        </p:nvSpPr>
        <p:spPr>
          <a:xfrm>
            <a:off x="548640" y="3383280"/>
            <a:ext cx="10972800" cy="2286000"/>
          </a:xfrm>
          <a:prstGeom prst="rect">
            <a:avLst/>
          </a:prstGeom>
          <a:noFill/>
        </p:spPr>
        <p:txBody>
          <a:bodyPr wrap="square" lIns="45720" rIns="45720">
            <a:normAutofit/>
          </a:bodyPr>
          <a:lstStyle/>
          <a:p>
            <a:pPr>
              <a:spcAft>
                <a:spcPts val="800"/>
              </a:spcAft>
            </a:pPr>
            <a:r>
              <a:rPr sz="1400">
                <a:solidFill>
                  <a:srgbClr val="EAF3EE"/>
                </a:solidFill>
                <a:latin typeface="Calibri"/>
              </a:rPr>
              <a:t>•  Site : construpilot.fr — Portugal : construpilot.pt</a:t>
            </a:r>
          </a:p>
          <a:p>
            <a:pPr>
              <a:spcAft>
                <a:spcPts val="800"/>
              </a:spcAft>
            </a:pPr>
            <a:r>
              <a:rPr sz="1400">
                <a:solidFill>
                  <a:srgbClr val="EAF3EE"/>
                </a:solidFill>
                <a:latin typeface="Calibri"/>
              </a:rPr>
              <a:t>•  Essai gratuit 7 jours sur toutes les offres payantes, sans carte pour l'offre Particuliers</a:t>
            </a:r>
          </a:p>
          <a:p>
            <a:pPr>
              <a:spcAft>
                <a:spcPts val="800"/>
              </a:spcAft>
            </a:pPr>
            <a:r>
              <a:rPr sz="1400">
                <a:solidFill>
                  <a:srgbClr val="EAF3EE"/>
                </a:solidFill>
                <a:latin typeface="Calibri"/>
              </a:rPr>
              <a:t>•  Tarifs HT pour les offres Pro · TTC pour les particuliers · résiliable à tout moment</a:t>
            </a:r>
          </a:p>
        </p:txBody>
      </p:sp>
      <p:sp>
        <p:nvSpPr>
          <p:cNvPr id="6" name="TextBox 5"/>
          <p:cNvSpPr txBox="1"/>
          <p:nvPr/>
        </p:nvSpPr>
        <p:spPr>
          <a:xfrm>
            <a:off x="548640" y="6217920"/>
            <a:ext cx="7315200" cy="365760"/>
          </a:xfrm>
          <a:prstGeom prst="rect">
            <a:avLst/>
          </a:prstGeom>
          <a:noFill/>
        </p:spPr>
        <p:txBody>
          <a:bodyPr wrap="square" anchor="t" lIns="45720" rIns="45720" tIns="18288" bIns="18288">
            <a:spAutoFit/>
          </a:bodyPr>
          <a:lstStyle/>
          <a:p>
            <a:pPr algn="l"/>
            <a:r>
              <a:rPr sz="1200" b="0" i="0">
                <a:solidFill>
                  <a:srgbClr val="8BA396"/>
                </a:solidFill>
                <a:latin typeface="Calibri"/>
              </a:rPr>
              <a:t>construpilot.fr · construpilot.pt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